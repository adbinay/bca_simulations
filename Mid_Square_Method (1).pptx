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286000" cy="22860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PSEUDO-RANDOM NUMBER GENERATION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Mid-Square Method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approach to generating pseudorandom sequences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Von Neumann (1949)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274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Modeling  |  Computational Mathematics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Random Number Generation?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RNG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sourced from physical phenomena (noise, radioactive decay). Unpredictable but slow.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43000"/>
            <a:ext cx="265176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Pseudo-RNG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algorithms that produce sequences appearing random. Fast and reproducible.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1430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143000"/>
            <a:ext cx="265176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simulations, cryptography, gaming, statistics, and Monte Carlo methods.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ORIGIN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von Neumann, 1949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02920" cy="50292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12648" y="1764792"/>
            <a:ext cx="0" cy="658368"/>
          </a:xfrm>
          <a:prstGeom prst="line">
            <a:avLst/>
          </a:prstGeom>
          <a:noFill/>
          <a:ln w="19050">
            <a:solidFill>
              <a:srgbClr val="00C2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97280" y="118872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needed fast random numbers for ENIAC — the world's first general-purpose computer — to support nuclear weapons calculations.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502920" cy="50292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" y="2999232"/>
            <a:ext cx="0" cy="658368"/>
          </a:xfrm>
          <a:prstGeom prst="line">
            <a:avLst/>
          </a:prstGeom>
          <a:noFill/>
          <a:ln w="19050">
            <a:solidFill>
              <a:srgbClr val="00C2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97280" y="24231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the Mid-Square Method at a conference. He quipped: "Anyone who considers arithmetical methods of producing random digits is in a state of sin."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502920" cy="50292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36576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became historically significant as one of the first PRNGs, paving the way for modern algorithms like LCG and Mersenne Twister.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Mid-Square Method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Seed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n-digit number (seed value X₀). This is your starting point.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234440"/>
            <a:ext cx="548640" cy="5486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356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X² to get a 2n-digit number. Pad with leading zeros if necessary.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54680"/>
            <a:ext cx="548640" cy="5486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Middle Digits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n middle digits of X² as the next random number Xₙ₊₁.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154680"/>
            <a:ext cx="548640" cy="5486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extracted number as the new seed. Repeat steps 2–3 to generate more numbers.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= 5731  (4-digit numbers)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486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078992"/>
            <a:ext cx="11887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789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 (Seed)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078992"/>
            <a:ext cx="1645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0789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078992"/>
            <a:ext cx="19202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0789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(8 digits)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078992"/>
            <a:ext cx="173736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078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4 digits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517904"/>
            <a:ext cx="548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1790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1517904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5179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5731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03120" y="151790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1517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32844361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49040" y="1517904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5179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32844361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1517904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5179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8443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1938528"/>
            <a:ext cx="54864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385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1938528"/>
            <a:ext cx="118872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19385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8443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103120" y="1938528"/>
            <a:ext cx="164592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19385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71284249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49040" y="1938528"/>
            <a:ext cx="192024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9385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71284249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0" y="1938528"/>
            <a:ext cx="173736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938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2842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2359152"/>
            <a:ext cx="548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3591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4400" y="2359152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23591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2842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103120" y="235915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23591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8077164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749040" y="2359152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23591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08077164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69280" y="2359152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23591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0771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65760" y="2779776"/>
            <a:ext cx="54864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7797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14400" y="2779776"/>
            <a:ext cx="118872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27797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0771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103120" y="2779776"/>
            <a:ext cx="164592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2779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594441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749040" y="2779776"/>
            <a:ext cx="192024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2779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00594441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669280" y="2779776"/>
            <a:ext cx="1737360" cy="420624"/>
          </a:xfrm>
          <a:prstGeom prst="rect">
            <a:avLst/>
          </a:prstGeom>
          <a:solidFill>
            <a:srgbClr val="E8F4F8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0" y="27797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5944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65760" y="3200400"/>
            <a:ext cx="548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2004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914400" y="3200400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2004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5944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2103120" y="320040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03120" y="3200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35331136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749040" y="3200400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0" y="32004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35331136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669280" y="3200400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0" y="3200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3311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40080" y="34564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Xₙ₊₁ = middle n digits of Xₙ²</a:t>
            </a:r>
            <a:pPr indent="0" marL="0">
              <a:buNone/>
            </a:pPr>
            <a:r>
              <a:rPr lang="en-US" sz="13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Normalized: </a:t>
            </a:r>
            <a:pPr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Rₙ = Xₙ / 10ⁿ   (gives values in [0, 1))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40080" y="400507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middle-digit result becomes the seed for the next iteration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EXTRACTION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digits to remove?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0" y="1325880"/>
            <a:ext cx="749808" cy="749808"/>
          </a:xfrm>
          <a:prstGeom prst="rect">
            <a:avLst/>
          </a:prstGeom>
          <a:solidFill>
            <a:srgbClr val="1B3A5C"/>
          </a:solidFill>
          <a:ln w="6350">
            <a:solidFill>
              <a:srgbClr val="00C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901952" y="1325880"/>
            <a:ext cx="749808" cy="749808"/>
          </a:xfrm>
          <a:prstGeom prst="rect">
            <a:avLst/>
          </a:prstGeom>
          <a:solidFill>
            <a:srgbClr val="1B3A5C"/>
          </a:solidFill>
          <a:ln w="6350">
            <a:solidFill>
              <a:srgbClr val="00C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06624" y="1325880"/>
            <a:ext cx="749808" cy="749808"/>
          </a:xfrm>
          <a:prstGeom prst="rect">
            <a:avLst/>
          </a:prstGeom>
          <a:solidFill>
            <a:srgbClr val="00C2E0"/>
          </a:solidFill>
          <a:ln w="25400">
            <a:solidFill>
              <a:srgbClr val="00C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11296" y="1325880"/>
            <a:ext cx="749808" cy="749808"/>
          </a:xfrm>
          <a:prstGeom prst="rect">
            <a:avLst/>
          </a:prstGeom>
          <a:solidFill>
            <a:srgbClr val="00C2E0"/>
          </a:solidFill>
          <a:ln w="25400">
            <a:solidFill>
              <a:srgbClr val="00C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15968" y="1325880"/>
            <a:ext cx="749808" cy="749808"/>
          </a:xfrm>
          <a:prstGeom prst="rect">
            <a:avLst/>
          </a:prstGeom>
          <a:solidFill>
            <a:srgbClr val="00C2E0"/>
          </a:solidFill>
          <a:ln w="25400">
            <a:solidFill>
              <a:srgbClr val="00C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120640" y="1325880"/>
            <a:ext cx="749808" cy="749808"/>
          </a:xfrm>
          <a:prstGeom prst="rect">
            <a:avLst/>
          </a:prstGeom>
          <a:solidFill>
            <a:srgbClr val="00C2E0"/>
          </a:solidFill>
          <a:ln w="25400">
            <a:solidFill>
              <a:srgbClr val="00C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925312" y="1325880"/>
            <a:ext cx="749808" cy="749808"/>
          </a:xfrm>
          <a:prstGeom prst="rect">
            <a:avLst/>
          </a:prstGeom>
          <a:solidFill>
            <a:srgbClr val="1B3A5C"/>
          </a:solidFill>
          <a:ln w="6350">
            <a:solidFill>
              <a:srgbClr val="00C2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729984" y="1325880"/>
            <a:ext cx="749808" cy="749808"/>
          </a:xfrm>
          <a:prstGeom prst="rect">
            <a:avLst/>
          </a:prstGeom>
          <a:solidFill>
            <a:srgbClr val="1B3A5C"/>
          </a:solidFill>
          <a:ln w="6350">
            <a:solidFill>
              <a:srgbClr val="00C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51560" y="21671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60904" y="216712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(middle 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79592" y="21671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5731² = 32844361   →   middle 4 digits = 8443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841248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53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2953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Length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953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Removed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2953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8412480" cy="39319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9184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seed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29184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digits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29184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digits from each 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29184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666744"/>
            <a:ext cx="8412480" cy="3931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68503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3-digit seed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0" y="368503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digits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68503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digit from each end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368503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059936"/>
            <a:ext cx="8412480" cy="39319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7822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n-digit seed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0320" y="407822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 digits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407822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 digits from each end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407822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&amp; 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690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6908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698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✔  Advantages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 simple — easy to understand and implement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lightweight (just multiply &amp; slice)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earliest and most historically significant PRNGs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730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— same seed gives same sequence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40690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51560"/>
            <a:ext cx="4069080" cy="38404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0698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✘  Limitations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361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short period — sequence repeats quickly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6771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Degenerates to zero if middle digits become 0000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99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traps: some values loop back to themselves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730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cryptography or serious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Mid-Square vs Modern PRNG Algorithms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8288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078992"/>
            <a:ext cx="18288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Mid-Square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078992"/>
            <a:ext cx="23774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078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Congruential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078992"/>
            <a:ext cx="23774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078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Mersenne Twister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90472"/>
            <a:ext cx="182880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90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94560" y="1490472"/>
            <a:ext cx="182880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490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3360" y="1490472"/>
            <a:ext cx="237744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490472"/>
            <a:ext cx="237744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1965960"/>
            <a:ext cx="182880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65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94560" y="1965960"/>
            <a:ext cx="182880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965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short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23360" y="1965960"/>
            <a:ext cx="237744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965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2³²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1965960"/>
            <a:ext cx="237744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965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2¹⁹⁹³⁷ − 1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2441448"/>
            <a:ext cx="182880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194560" y="2441448"/>
            <a:ext cx="182880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simple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23360" y="2441448"/>
            <a:ext cx="237744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441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2441448"/>
            <a:ext cx="237744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4414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2916936"/>
            <a:ext cx="182880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9169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194560" y="2916936"/>
            <a:ext cx="182880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29169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023360" y="2916936"/>
            <a:ext cx="237744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29169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0" y="2916936"/>
            <a:ext cx="2377440" cy="475488"/>
          </a:xfrm>
          <a:prstGeom prst="rect">
            <a:avLst/>
          </a:prstGeom>
          <a:solidFill>
            <a:srgbClr val="1B3A5C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29169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65760" y="3392424"/>
            <a:ext cx="182880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92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194560" y="3392424"/>
            <a:ext cx="182880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3392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only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023360" y="3392424"/>
            <a:ext cx="237744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0" y="33924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simulations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0" y="3392424"/>
            <a:ext cx="2377440" cy="475488"/>
          </a:xfrm>
          <a:prstGeom prst="rect">
            <a:avLst/>
          </a:prstGeom>
          <a:solidFill>
            <a:srgbClr val="1020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3924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today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Despite its limitations, the Mid-Square Method remains the foundation of computational random number theory.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Random Numbers Used?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6916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Gaming &amp; Graphics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generation, loot drops, NPC behavior, terrain generation.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64008" cy="16916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methods, queuing systems, system modeling.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64008" cy="16916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generation, nonces, session tokens (modern PRNGs required).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64008" cy="16916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sampling, bootstrapping, hypothesis testing.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64008" cy="16916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83280" y="3703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069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initialization, dropout regularization, data shuffling.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17520"/>
            <a:ext cx="64008" cy="16916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09360" y="3703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Research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069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simulations, computational biology, chemical modeling.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Mid-Square was invented by Von Neumann in 1949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the seed → extract middle n digits → repeat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by dividing by 10ⁿ to get values in [0,1)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period &amp; degeneration are key weaknesses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3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modern PRNG research (LCG, MT)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274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Mid-Square Random Number Generation  |  Based on Von Neumann (1949)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Number Generation: Mid-Square Method</dc:title>
  <dc:subject>PptxGenJS Presentation</dc:subject>
  <dc:creator>PptxGenJS</dc:creator>
  <cp:lastModifiedBy>PptxGenJS</cp:lastModifiedBy>
  <cp:revision>1</cp:revision>
  <dcterms:created xsi:type="dcterms:W3CDTF">2026-05-24T13:05:38Z</dcterms:created>
  <dcterms:modified xsi:type="dcterms:W3CDTF">2026-05-24T13:05:38Z</dcterms:modified>
</cp:coreProperties>
</file>