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VI: Software Process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Modeling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6th Semester | 9 Hours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VI • BCA 6th Semester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VI -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9 Hours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Software Development as a Process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Model, Incremental Models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Modeling the Software Development Process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EPM, HKM, AQM, Integrating models, Developer interaction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Multi Agent-based Simulation Model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environment, implementation, decision making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System Dynamics Simulator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prerequisites, feedback, levels, flows, auxiliary variables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Simulate Software Processes?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projects often face delays, cost overruns, and failures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management cannot predict complex interactions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helps us MODEL the process BEFORE executing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experiment with 'what-if' scenarios without real cost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better planning, resource allocation, and risk management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Simulation = Virtual Lab for Software Projects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Software Development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Process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Software Development as a Process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a Software Process?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process is a structured set of activities required to develop a software system. It defines HOW software is produced — from requirements to delivery.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= People + Tools + Methods + Activities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modeled and simulated like any industrial process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Produce quality software on time and within budget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process models suit different project types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 Software as a Process?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understand dependencies between tasks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bottlenecks before they occur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prediction of project outcomes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testing process improvements virtually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better team coordination and communication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simulation — you must have a model before simulating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Waterfall Model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Waterfall Model — 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and most traditional software process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Winston Royce (1970)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sequential model — each phase completes before next begins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'waterfall' because progress flows downward like a waterfall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specific inputs and outputs (deliverables)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 — Phases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Requirements Analysis — Gather and document all user needs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System Design — Design the architecture and system components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Implementation — Write the actual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Testing &amp; Integration — Find and fix defects, integrate modules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Deployment — Release the software to users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Maintenance — Fix bugs and update features after release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must be fully completed before the next starts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 — Advantages vs Disadvantages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to understand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are clearly defined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documentation at each stage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small, stable projects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manage due to rigid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Disadvantages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flexible — hard to go back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 product only at end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handling of changing requirements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for complex projects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happens late — bugs found late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 — When to Use?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very clear and fixed from the beginning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well understood — no unknowns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Short-duration projects with stable scope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where documentation is very important (e.g., government, defense)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experienced with the technology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Payroll systems, Tax software, Simple utility apps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 in Simulation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simulation, waterfall is modeled as a sequential queue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a 'server' — it processes work and passes it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Work-in-progress (WIP) can accumulate between phases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phase = slowest server = delays entire project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loop: defects found in testing flow BACK to earlier phases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reveals rework costs that are hidden in simple models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Models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Model — 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the Incremental Model?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incremental model builds software in small, usable pieces called increments. Each increment adds new functionality on top of the previous one.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increment is often a core product with basic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increments add more functionality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uses the product early and gives feedback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increment goes through: Requirements → Design → Code → Test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Model — Advantages vs Disadvantages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delivered earlier — customers use it sooner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test and debug smaller pieces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risky — problems identified early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can evolve with each increment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accommodate changing needs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Disadvantages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good planning of increments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may degrade over time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if requirements are unclear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increments can be complex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may be higher than waterfall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vs Incremental — Key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final delivery at project end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requirements upfront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— issues found late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stable requirements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adaptability to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deliveries throughout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can evolve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— issues caught early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evolving requirements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adaptability to change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Modeling the Software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Overview — Process Models for Simulation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simulate, we need mathematical/conceptual models of the process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models used in software process simulation: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Performance Model (EPM) — tracks effort vs productivity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Knowledge Model (HKM) — models team learning and knowledge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 Quality Model (AQM) — models defects in deliverables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Interaction Model — models team communication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are integrated to form a complete simulation system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Performance Model (EPM)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Performance Model (EPM)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EPM?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models the relationship between effort invested by developers and the actual performance/productivity achieved in the software process.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= Time × People (person-hours / person-days)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= Amount of work completed per unit effort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is NOT constant — it varies with fatigue, motivation, experience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captures how effort translates to actual progress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— Key Concepts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Effort vs Actual Effort — projects almost always underestimate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ramp-up: performance increases as team learns the project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effect: performance decreases with overwork/overtime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impact: short-term gain but long-term loss in productivity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Brooks' Law: 'Adding manpower to a late project makes it later'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helps simulate how effort allocation affects project timeline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EPM answers: If we add more people/hours, what happens?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— Factors Affecting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Size: Larger teams have more coordination overhead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Level: Experienced developers are more productive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Complexity: Complex tasks yield less output per hour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Rework: Fixing defects consumes effort but produces no new features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More team members = more communication channels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Environment: Better tools improve productivity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Performance = f(Effort, Experience, Complexity, Rework)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Model (HKM)</a:t>
            </a:r>
            <a:endParaRPr lang="en-US"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Knowledge Model (HKM)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HKM?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HKM models the knowledge, skills, and learning of software developers. It tracks how knowledge grows and decays over the course of a project.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must LEARN the domain before they can be productive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accumulates through experience and 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can be lost when team members leave the project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HKM captures the 'learning curve' effect in software projects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HKM — Types of Knowledge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Knowledge: Understanding of the problem area (e.g., banking, health)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Knowledge: Programming skills, tools, frameworks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Knowledge: Understanding of this specific project's code and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Knowledge: How to follow the team's development process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types grow over time and affect developer performance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members have low knowledge → low productivity initially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HKM — Learning &amp; Forgetting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Curve: Productivity increases as experience grows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Learning: There is a maximum knowledge level — growth slows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Curve: Knowledge decays when not used (Ebbinghaus effect)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Transfer: Senior members can train junior members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Effect: When a developer leaves, their knowledge is lost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simulation: HKM outputs 'effective productivity' fed into EPM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 Quality Model (AQM)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 Quality Model (AQM)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AQM?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AQM models the quality of software artefacts (documents, code, designs). It tracks how defects are introduced, detected, and removed throughout the process.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= all outputs: requirements docs, design docs, code, test cases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are introduced during development activities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are detected during reviews, testing, and user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defects propagate to later phases — become more expensive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AQM — Defect Lifecycle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Injection: Defect is introduced during development (coding, design)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Propagation: Defect moves forward if not caught in current phase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Defect is found during review or testing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Removal: Defect is fixed (this consumes effort!)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Escape: Defect not found in testing — reaches customer (very costly!)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Rule: Defect found in testing costs 10x more than in requirements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Rule: Defect found in production costs 100x more than at start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Early detection = Massive cost savings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AQM — Quality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Density: Number of defects per lines of code (defects/KLOC)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Efficiency (DDE): % of defects found before release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Fraction: % of total effort spent fixing defects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Containment: % of defects caught in the phase they were injected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AQM target: DDE &gt; 95% (less than 5% defects escape to customers)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simulation: AQM feeds rework effort back into EPM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the Models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EPM + HKM + AQM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captures the full software process — they work together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HKM → EPM: Developer knowledge level determines effective effort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→ AQM: Effort level and schedule pressure affect defect injection 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AQM → EPM: Rework (defect fixing) consumes effort and slows progress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→ Project Schedule: Combined effects determine completion 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creates a feedback system — changes in one affect all others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Integration is what makes simulation realistic and powerful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Feedback Loops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Loop (Vicious Cycle): Pressure → More errors → More rework → More pressure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Loop (Correction): More testing → Fewer escapes → Lower rework later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Brooks' Law Loop: Add people → Knowledge transfer needed → Slower → Add more people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vs Speed Trade-off: Rushing reduces quality → More rework → Actually slower!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reveals these hidden loops that managers miss in real projects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Interaction Model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Interaction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the Developer Interaction Model?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captures how software developers communicate and coordinate with each other, and how interaction patterns affect project performance.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is highly collaborative — people must communicate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has both BENEFITS (knowledge sharing) and COSTS (time spent)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communication balance is key to high-performing teams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uses network theory to represent team interactions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Interaction — Communication Channels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people, number of channels = N × (N-1) / 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5 people → 10 channels; 10 people → 45 channels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channels are equally important or active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channels: meetings, emails, code reviews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channels: quick chats, pair programming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overhead grows faster than team size (quadratic growth)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Interaction — Types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Coordination: Who is doing what? Avoiding duplicate work.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Transfer: Experienced members teaching newcomers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Solving: Collaborative debugging and design discussions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Reporting: Keeping everyone informed of progress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Making: Group decisions on architecture and design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simulation: Interaction model determines time lost to coordination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Multi Agent-Based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Model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Multi Agent-Based Simulation (MABS)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MABS?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Agent-Based Simulation models a software project as a collection of autonomous agents (representing developers, managers, tools) who interact and make decisions independently.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developer = one agent with their own rules, knowledge, and goals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interact with each other and their environment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behavior: Complex project outcomes arise from simple agent rules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realistic than equation-based models for human-intensive processes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MABS — Why Use Agents?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treat teams as uniform — all developers identical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Each developer has unique skills, personality, and productivity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model individual differences — more realistic!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interactions capture team dynamics that equations cannot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model turnover, sick leave, training, and role changes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MABS excels at modeling complex social and organizational dynamics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and Their Environment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Environment —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exists within an environment that it perceives and acts upon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 software simulation includes: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tasks and their dependencies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codebase and documentation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 and infrastructure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communication channels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and deadlines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PERCEIVE the environment and RESPOND to it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Environment — Key Properties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Environment: The total context in which agents operate — tasks, code, tools, schedules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Characters: The attributes that define each agent — skills, experience, personality, role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Autonomy: Each agent makes its own decisions without central control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Intelligence: Agents can learn, adapt, and make goal-directed decisions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— 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Environment: Fixed tasks and requirements (stable projects)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Environment: Tasks change during the project (evolving requirements)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Resources: Code repository, servers, meeting rooms (can cause contention)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Environment: What each agent knows about the overall project state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 Global View: Agents have limited local knowledge — not omniscient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state changes as agents complete tasks, introduce bugs, etc.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— Agent Attributes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Level: Programming ability (1-10 scale) — affects task completion speed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Knowledge: Understanding of the application domain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Years of relevant experience — affects decision quality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Personality: Risk tolerance, communication style, work ethic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Developer, Tester, Architect, Manager — determines responsibilities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Level: Current mental state — affects error rate and productivity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— Self-Directed Agents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= Agents act on their own without being explicitly told what to 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internal goals (finish my task, meet my deadline)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choose WHICH task to work on based on priority rules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decide WHEN to seek help from colleagues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respond to unexpected events (bugs found, requirements change)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controller — emergent project behavior arises from autonomous agents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traditional models where a 'planner' controls everything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— Agent Decision Making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Intelligence (Reactive): If task available → work on it. If blocked → ask for help.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Intelligence: Agent improves performance based on past experience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 Intelligence: Agent plans ahead to achieve project goals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Intelligence: Agent considers team dynamics in decisions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Rationality: Agents make 'good enough' decisions — not perfect!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humans are bounded — agents model this imperfect decision making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MABS</a:t>
            </a:r>
            <a:endParaRPr lang="en-US" sz="4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MABS Implementation — Agents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implemented as an object/entity with: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variables: current task, energy, knowledge level, role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function: reads relevant parts of the environment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function: chooses next action based on state and goals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function: executes chosen action (code, review, communicate)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time step: Perceive → Decide → Act → Update environment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repeats hundreds/thousands of times to simulate full project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MABS Implementation — Decision Making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IF task_priority = HIGH AND skill_match = GOOD THEN assign_task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Utility-Based: Calculate score for each possible action; choose highest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 Model (Belief-Desire-Intention): Most realistic for human agents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Belief: What the agent believes about the project state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Desire: What the agent wants to achieve (goals)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Intention: What the agent has committed to doing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 runs all agents through time steps until project ends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MABS — Typical Simulation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Initialize agents with roles, skills, and starting knowledge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Initialize environment: load project tasks, dependencies, schedule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Assign initial tasks to agents based on skills and priority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time step: each agent perceives, decides, and acts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Update environment: task progress, defects introduced, knowledge gained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Handle interactions: agents communicate, help each other, attend meetings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Collect metrics: effort, defects, schedule progress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Repeat until project complete or simulation end time reached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System Dynamics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4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System Dynamics Simulator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System Dynamics?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Dynamics (SD) is a method for understanding and simulating complex systems with feedback loops, time delays, and non-linear behavior. Developed by Jay Forrester (MIT) in 1950s.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AGGREGATE behavior of the project — not individual agents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stocks (levels), flows, and feedback loops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represented as differential equations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how the system evolves over continuous time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Dynamics vs MABS —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Dynamics: Top-down, aggregate view — 'How does the project evolve?'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MABS: Bottom-up, individual view — 'What does each developer do?'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is better for: Strategic analysis, resource policies, schedule prediction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MABS is better for: Team dynamics, individual behavior, social interactions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is simpler to build; MABS is more realistic for human behavior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be combined in hybrid simulation models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Prerequisites</a:t>
            </a:r>
            <a:endParaRPr lang="en-US" sz="4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Dynamics — Model Prerequisites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an SD model, you must define: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Boundary: What is IN the model and what is OUTSIDE?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Horizon: How long will the simulation run? (weeks/months/years)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Level: Individual? Team? Department? Company?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Mode: Historical data showing the problem behavior</a:t>
            </a:r>
            <a:endParaRPr lang="en-US" sz="1500" dirty="0"/>
          </a:p>
          <a:p>
            <a:pPr lvl="1" marL="762000" indent="-3810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Variables: What quantities will we track? (effort, defects, schedule)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clear prerequisites, the model will be incorrect or misleading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— Data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project data: effort, duration, team size, defect rates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 knowledge: How does this software process actually work?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data: How do variables affect each other?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conditions: Starting values for all stocks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values: Rates, coefficients, time constants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data: Data to check if model matches reality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models need good data — 'Garbage in, garbage out'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 System Dynamics</a:t>
            </a:r>
            <a:endParaRPr lang="en-US" sz="4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a Feedback Loop?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feedback loop occurs when a change in a variable propagates through the system and eventually returns to affect that same variable.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(Reinforcing) Loop: Amplifies change — things get better or worse faster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(Balancing) Loop: Resists change — system seeks equilibrium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complex behaviors arise from combinations of feedback loops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delays make feedback loops harder to manage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— Examples in Software Projects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Reinforcing Loop (Negative): High pressure → More overtime → More fatigue → More errors → More rework → Higher pressure!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Reinforcing Loop (Positive): More testing → Fewer defects → Higher quality → Customer satisfaction → More investment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Loop: Schedule slippage → Add resources → Reduce slippage → Normal state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Delay: Manager notices problem late → response comes too late → overcorrection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these loops is KEY to managing software projects effectively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and Flows</a:t>
            </a:r>
            <a:endParaRPr lang="en-US" sz="4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(Stocks) in System Dynamics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a Level (Stock)?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Level or Stock is an accumulation — the 'amount' of something in the system at any point in time. It represents the CURRENT STATE of the system.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 software projects: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Undiscovered Defects (accumulate as code is written)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Developer Knowledge (accumulates through learning)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Completed Tasks (accumulates as work is done)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Fatigue Level (accumulates with overwork, reduces with rest)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change SLOWLY — they have inertia. You cannot instantly change them.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in System Dynamics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is a Flow?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 is the RATE at which a stock changes over time. Flows either fill (inflow) or drain (outflow) a stock.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in software projects: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Defect Injection Rate (inflow to Undiscovered Defects stock)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Defect Detection Rate (outflow from Undiscovered Defects stock)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Learning Rate (inflow to Developer Knowledge stock)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 Decay Rate (outflow from Knowledge stock)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are controlled by feedback loops and auxiliary variables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and Flows — The Bathtub Analogy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bathtub (stock) with a tap (inflow) and a drain (outflow)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 = Stock (Undiscovered defects)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flow rate = Inflow (Defect injection rate)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flow rate = Outflow (Defect detection rate)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tap &gt; drain: Water level rises (defects accumulate)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drain &gt; tap: Water level falls (defects are being removed faster)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differential equation: dStock/dt = Inflow - Outflow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This is the FUNDAMENTAL equation of System Dynamics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Stocks in Software SD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Undiscovered Defects: Bugs written but not yet found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Completed Tasks: Work packages finished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Tasks in Progress: Work currently being done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Developer Knowledge: Accumulated expertise of the team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Team Fatigue: Accumulated tiredness from overwork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Remaining Work: Tasks still to be completed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stock changes based on flows controlled by the project dynamics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Variables</a:t>
            </a:r>
            <a:endParaRPr lang="en-US" sz="4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Variables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are Auxiliary Variables?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variables are intermediate variables that help calculate flows. They are NOT stocks (don't accumulate) — they represent the CURRENT value of some calculation.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connect stocks and flows through formulas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Productivity = f(Knowledge, Fatigue, Task Complexity)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Defect Rate = f(Productivity, Schedule Pressure, Code Complexity)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Effectiveness = f(Communication, Skill, Team Size)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make complex relationships explicit and visible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Variables — Examples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Pressure = Remaining Work / Remaining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Productivity = Nominal Productivity × Fatigue Factor × Experience Factor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Injection Rate = Tasks Completed × Defects per Task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Load = Team Size × (Team Size - 1) / 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Team Size = Nominal Team Size × (1 - Coordination Overhead)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formulas encode expert knowledge about how software projects work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in System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Modeling</a:t>
            </a:r>
            <a:endParaRPr lang="en-US" sz="4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in Building SD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Boundary Problem: What to include? Including too much = complex; too little = inaccurate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Estimation: Finding accurate values for rates and coefficients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Challenge: Hard to prove the model is 'correct'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Non-linearity: Real relationships are curved, not straight lines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Delays: Delays are hard to estimate and have huge impact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Scarcity: Many organizations don't collect good historical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Behavior: Hard to model irrational human decisions with equations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 — Model Validation Issues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Validity: Does the model make sense to domain experts?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Validity: Are the feedback loops and relationships correct?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Validity: Does the model produce realistic project trajectories?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Fit: Does it match historical project data?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Sensitivity: Does it respond correctly to policy changes?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Problem: Managers may not trust simulation results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Validate early, validate often, involve domain experts throughout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SD Model — Key Components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Stocks (Levels): What accumulates? (Defects, Knowledge, Completed Work)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Flows: What rates change the stocks? (Injection, Detection, Learning)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Feedback Loops: How do variables affect each other?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Auxiliary Variables: Intermediate calculations linking stocks and flows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Parameters: Numerical constants (defect rate, learning coefficient)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Time Delays: How long before cause produces effect?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Boundary: What is in scope?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define a COMPLETE runnable simulation model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Dynamics — Software Project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1: Undiscovered Defects (UD)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Inflow: Defect Injection Rate = Tasks Completed × Error 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Outflow: Defect Detection Rate = UD × Review Effectiveness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2: Developer Knowledge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Inflow: Learning Rate = Tasks Completed × Learning Efficiency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Outflow: Knowledge Decay = Knowledge × Decay 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High UD → High Rework → Less time for new development → More pressure → Higher Error Rate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VI — Summary &amp;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6.1 Software Development as a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process = structured activities to develop software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Waterfall: Linear, sequential, phases must be fully completed before proceeding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Waterfall: Good for stable requirements; poor for changing requirements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Incremental: Builds software in small pieces; delivers value early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Incremental: Better risk management; flexible to requirement changes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can be simulated to predict project outcomes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6.2 Modeling the Software Development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EPM: Models effort vs productivity — captures fatigue, overtime effects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HKM: Models developer knowledge — learning curves, knowledge decay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AQM: Models defect injection and removal — quality throughout the lifecycle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Interaction Model: Models communication overhead and knowledge transfer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All four models interact — outputs of one feed into others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Rushing causes more errors → more rework → actually slower!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6.3 Multi Agent-Based Simulation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MABS models each developer as an autonomous agent with unique attributes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The project context agents perceive and act upon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Characters: Skills, experience, role, personality of each agent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Autonomy: Agents make their own decisions — no central controller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Intelligence: Agents learn, adapt, and pursue goals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Making: Rule-based, utility-based, or BDI approaches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behavior: Complex project dynamics from simple agent rules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6.4 System Dynamics Simulator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models aggregate project behavior using stocks, flows, and feedback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(Levels): Accumulations — defects, knowledge, completed 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Flows: Rates of change — injection rate, detection rate, learning 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Loops that amplify or dampen project behavior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Variables: Intermediate calculations linking stocks and flows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Difficulties: Parameter estimation, validation, boundary definition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Feedback loops explain why software projects spiral out of control!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Focus Points 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Waterfall phases (6 phases) and their characteristics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Waterfall vs Incremental — key differences (likely comparison question)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EPM, HKM, AQM — define each and what they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How the 4 models integrate (feedback between them)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Agent properties: Environment, Characters, Autonomy, Intelligence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Stocks vs Flows vs Auxiliary Variables — with examples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Feedback loops — positive vs negative — with software project examples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Difficulties in System Dynamics modeling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VI Complete! 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Process Simulation Modeling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Covered: 6.1 • 6.2 • 6.3 • 6.4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6th Semester | 9 Hours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luck in your exams! 📚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VI: Software Process Simulation Modeling</dc:title>
  <dc:subject>PptxGenJS Presentation</dc:subject>
  <dc:creator>BCA 6th Semester</dc:creator>
  <cp:lastModifiedBy>BCA 6th Semester</cp:lastModifiedBy>
  <cp:revision>1</cp:revision>
  <dcterms:created xsi:type="dcterms:W3CDTF">2026-06-28T06:32:09Z</dcterms:created>
  <dcterms:modified xsi:type="dcterms:W3CDTF">2026-06-28T06:32:09Z</dcterms:modified>
</cp:coreProperties>
</file>