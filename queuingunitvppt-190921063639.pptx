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59"/>
  </p:notesMasterIdLst>
  <p:sldIdLst>
    <p:sldId id="256" r:id="rId2"/>
    <p:sldId id="257" r:id="rId3"/>
    <p:sldId id="279" r:id="rId4"/>
    <p:sldId id="280" r:id="rId5"/>
    <p:sldId id="270" r:id="rId6"/>
    <p:sldId id="263" r:id="rId7"/>
    <p:sldId id="267" r:id="rId8"/>
    <p:sldId id="265" r:id="rId9"/>
    <p:sldId id="266" r:id="rId10"/>
    <p:sldId id="258" r:id="rId11"/>
    <p:sldId id="269" r:id="rId12"/>
    <p:sldId id="268" r:id="rId13"/>
    <p:sldId id="272" r:id="rId14"/>
    <p:sldId id="261" r:id="rId15"/>
    <p:sldId id="291" r:id="rId16"/>
    <p:sldId id="281" r:id="rId17"/>
    <p:sldId id="293" r:id="rId18"/>
    <p:sldId id="298" r:id="rId19"/>
    <p:sldId id="282" r:id="rId20"/>
    <p:sldId id="299" r:id="rId21"/>
    <p:sldId id="284" r:id="rId22"/>
    <p:sldId id="285" r:id="rId23"/>
    <p:sldId id="300" r:id="rId24"/>
    <p:sldId id="301" r:id="rId25"/>
    <p:sldId id="302" r:id="rId26"/>
    <p:sldId id="303" r:id="rId27"/>
    <p:sldId id="290" r:id="rId28"/>
    <p:sldId id="304" r:id="rId29"/>
    <p:sldId id="292" r:id="rId30"/>
    <p:sldId id="305" r:id="rId31"/>
    <p:sldId id="294" r:id="rId32"/>
    <p:sldId id="295" r:id="rId33"/>
    <p:sldId id="306" r:id="rId34"/>
    <p:sldId id="307" r:id="rId35"/>
    <p:sldId id="308" r:id="rId36"/>
    <p:sldId id="259" r:id="rId37"/>
    <p:sldId id="260" r:id="rId38"/>
    <p:sldId id="309" r:id="rId39"/>
    <p:sldId id="262" r:id="rId40"/>
    <p:sldId id="310" r:id="rId41"/>
    <p:sldId id="264" r:id="rId42"/>
    <p:sldId id="311" r:id="rId43"/>
    <p:sldId id="312" r:id="rId44"/>
    <p:sldId id="313" r:id="rId45"/>
    <p:sldId id="314" r:id="rId46"/>
    <p:sldId id="315" r:id="rId47"/>
    <p:sldId id="316" r:id="rId48"/>
    <p:sldId id="271" r:id="rId49"/>
    <p:sldId id="317" r:id="rId50"/>
    <p:sldId id="273" r:id="rId51"/>
    <p:sldId id="274" r:id="rId52"/>
    <p:sldId id="275" r:id="rId53"/>
    <p:sldId id="276" r:id="rId54"/>
    <p:sldId id="318" r:id="rId55"/>
    <p:sldId id="278" r:id="rId56"/>
    <p:sldId id="319" r:id="rId57"/>
    <p:sldId id="277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68DD2-890D-4492-87EE-1E2CC6AC7D0C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40A68-CE4A-441E-8BC0-990F8975FA9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940A68-CE4A-441E-8BC0-990F8975FA9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940A68-CE4A-441E-8BC0-990F8975FA9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8670-AE46-4376-A73C-3AC1996B248E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E226-081D-462D-B154-3008247C17A6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368B-B9E8-4781-8387-2CD3218AF6E8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A0DB-BFC1-448B-A37E-E3C227EDC0A4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93F1-3710-4E01-9BD8-8F323A575F7D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F858-D17D-44A9-B842-E80BBD268423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781B-1114-46CB-9F16-2730DA7F7B24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B6CB-D8A7-47BC-A8A2-D7CBB49FEF49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5F5D-7087-4E8F-8736-77B0D0DC1B09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1601-8442-4F7C-992A-A18250A340CA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C726F-2EBE-45ED-9344-EC19D48B7310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97464" y="2012576"/>
            <a:ext cx="3409950" cy="614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83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3802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7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5530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83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7195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C971065-0B90-4DA5-BCA0-FD436000EDAD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1E47751-E51B-47CF-891C-9C4A7676E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</p:sldLayoutIdLst>
  <p:transition spd="med">
    <p:split orient="vert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-groups.dcs.st-and.ac.uk/~history/Mathematicians/Erlang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tionary.org/wiki/queu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1.jp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399" y="381001"/>
            <a:ext cx="6781801" cy="1523999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3"/>
                </a:solidFill>
              </a:rPr>
              <a:t>Queueing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362200"/>
            <a:ext cx="7620000" cy="3124200"/>
          </a:xfrm>
        </p:spPr>
        <p:txBody>
          <a:bodyPr>
            <a:noAutofit/>
          </a:bodyPr>
          <a:lstStyle/>
          <a:p>
            <a:pPr lvl="1" algn="l"/>
            <a:r>
              <a:rPr lang="en-US" sz="3000" b="1" dirty="0"/>
              <a:t>		      </a:t>
            </a:r>
            <a:r>
              <a:rPr lang="en-US" sz="3000" b="1" u="sng" dirty="0"/>
              <a:t>Unit V</a:t>
            </a:r>
          </a:p>
          <a:p>
            <a:r>
              <a:rPr lang="en-US" sz="4000" b="1" dirty="0">
                <a:solidFill>
                  <a:schemeClr val="tx1"/>
                </a:solidFill>
                <a:latin typeface="Berlin Sans FB Demi" pitchFamily="34" charset="0"/>
              </a:rPr>
              <a:t>Queuing System , performance </a:t>
            </a:r>
          </a:p>
          <a:p>
            <a:r>
              <a:rPr lang="en-US" sz="4000" b="1" dirty="0">
                <a:solidFill>
                  <a:schemeClr val="tx1"/>
                </a:solidFill>
                <a:latin typeface="Berlin Sans FB Demi" pitchFamily="34" charset="0"/>
              </a:rPr>
              <a:t>				&amp;</a:t>
            </a:r>
          </a:p>
          <a:p>
            <a:r>
              <a:rPr lang="en-US" sz="4000" b="1" dirty="0">
                <a:solidFill>
                  <a:schemeClr val="tx1"/>
                </a:solidFill>
                <a:latin typeface="Berlin Sans FB Demi" pitchFamily="34" charset="0"/>
              </a:rPr>
              <a:t>				Markov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18519"/>
            <a:ext cx="7315670" cy="829282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4419600" cy="4724399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first queueing theory problem was considered by </a:t>
            </a:r>
            <a:r>
              <a:rPr lang="en-US" sz="2800" dirty="0" err="1">
                <a:hlinkClick r:id="rId2"/>
              </a:rPr>
              <a:t>Erlang</a:t>
            </a:r>
            <a:r>
              <a:rPr lang="en-US" sz="2800" dirty="0"/>
              <a:t> in 1908 who looked at how large a telephone exchange needed to be in order to keep to a reasonable value the number of telephone calls not connected because the exchange was busy (lost calls). </a:t>
            </a:r>
          </a:p>
        </p:txBody>
      </p:sp>
      <p:pic>
        <p:nvPicPr>
          <p:cNvPr id="4" name="Picture 2" descr="C:\Users\admin\Desktop\downloa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066800"/>
            <a:ext cx="3657600" cy="46482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Queueing theory</a:t>
            </a:r>
            <a:r>
              <a:rPr lang="en-US" dirty="0"/>
              <a:t> is the mathematical study of waiting lines, or </a:t>
            </a:r>
            <a:r>
              <a:rPr lang="en-US" u="sng" dirty="0">
                <a:hlinkClick r:id="rId3" tooltip="wikt:queue"/>
              </a:rPr>
              <a:t>queues</a:t>
            </a:r>
            <a:r>
              <a:rPr lang="en-US" u="sng" dirty="0"/>
              <a:t>.</a:t>
            </a:r>
            <a:br>
              <a:rPr lang="en-US" u="sng" dirty="0"/>
            </a:br>
            <a:endParaRPr lang="en-US" dirty="0"/>
          </a:p>
        </p:txBody>
      </p:sp>
      <p:pic>
        <p:nvPicPr>
          <p:cNvPr id="4" name="Content Placeholder 3" descr="C:\Users\admin\Desktop\download (1)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1905000"/>
            <a:ext cx="7467600" cy="42672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elements of queuing </a:t>
            </a:r>
            <a:br>
              <a:rPr lang="en-US" b="1" dirty="0"/>
            </a:br>
            <a:r>
              <a:rPr lang="en-US" b="1" dirty="0"/>
              <a:t>                                      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• </a:t>
            </a:r>
            <a:r>
              <a:rPr lang="en-US" sz="2800" dirty="0"/>
              <a:t>Customer</a:t>
            </a:r>
          </a:p>
          <a:p>
            <a:pPr>
              <a:buNone/>
            </a:pPr>
            <a:r>
              <a:rPr lang="en-US" sz="2800" dirty="0"/>
              <a:t>  refers to anything that arrives at a facility and requires service, e.g., people, machines, trucks, emails. </a:t>
            </a:r>
          </a:p>
          <a:p>
            <a:pPr>
              <a:buNone/>
            </a:pPr>
            <a:r>
              <a:rPr lang="en-US" sz="2800" dirty="0"/>
              <a:t>• Server</a:t>
            </a:r>
          </a:p>
          <a:p>
            <a:pPr>
              <a:buNone/>
            </a:pPr>
            <a:r>
              <a:rPr lang="en-US" sz="2800" dirty="0"/>
              <a:t>   refers to any resource that provides the requested service, </a:t>
            </a:r>
            <a:r>
              <a:rPr lang="en-US" sz="2800" dirty="0" err="1"/>
              <a:t>eg</a:t>
            </a:r>
            <a:r>
              <a:rPr lang="en-US" sz="2800" dirty="0"/>
              <a:t>. repairpersons, retrieval machines, runways at airport.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admin\Desktop\queuing-theory-5-638 (1)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04800"/>
            <a:ext cx="8077200" cy="6273554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6303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CHARACTERISTIC OF   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              QUEUING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438400"/>
            <a:ext cx="5715000" cy="34290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Input or arrival-pattern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Output or service-pattern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Queue Discipline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System Capacity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 Service channels.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8458668" cy="1596177"/>
          </a:xfrm>
        </p:spPr>
        <p:txBody>
          <a:bodyPr>
            <a:normAutofit/>
          </a:bodyPr>
          <a:lstStyle/>
          <a:p>
            <a:r>
              <a:rPr lang="en-US" sz="3600" b="1" dirty="0"/>
              <a:t>CHARACTERISTIC OF QUEUING</a:t>
            </a:r>
            <a:br>
              <a:rPr lang="en-US" sz="3600" b="1" dirty="0"/>
            </a:br>
            <a:r>
              <a:rPr lang="en-US" sz="3600" b="1" dirty="0"/>
              <a:t>                        SYSTEM</a:t>
            </a:r>
          </a:p>
        </p:txBody>
      </p:sp>
      <p:pic>
        <p:nvPicPr>
          <p:cNvPr id="1026" name="Picture 2" descr="C:\Users\admin\Desktop\queuing-theory-5-63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219200" y="1981200"/>
            <a:ext cx="7315199" cy="472917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input(arrival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05000"/>
            <a:ext cx="7391870" cy="3805107"/>
          </a:xfrm>
        </p:spPr>
        <p:txBody>
          <a:bodyPr>
            <a:normAutofit/>
          </a:bodyPr>
          <a:lstStyle/>
          <a:p>
            <a:r>
              <a:rPr lang="en-US" sz="2800" dirty="0"/>
              <a:t>The input describes the way in which customers arrive and join the system.</a:t>
            </a:r>
          </a:p>
          <a:p>
            <a:r>
              <a:rPr lang="en-US" sz="2800" dirty="0"/>
              <a:t>We deal with those queuing system in which the customers arrive in </a:t>
            </a:r>
            <a:r>
              <a:rPr lang="en-US" sz="2800" dirty="0" err="1"/>
              <a:t>poisson</a:t>
            </a:r>
            <a:r>
              <a:rPr lang="en-US" sz="2800" dirty="0"/>
              <a:t> fashion. </a:t>
            </a:r>
          </a:p>
          <a:p>
            <a:r>
              <a:rPr lang="en-US" sz="2800" dirty="0"/>
              <a:t>The mean arrival rate is </a:t>
            </a:r>
          </a:p>
          <a:p>
            <a:r>
              <a:rPr lang="en-US" sz="2800" dirty="0" err="1"/>
              <a:t>Interarrival</a:t>
            </a:r>
            <a:r>
              <a:rPr lang="en-US" sz="2800" dirty="0"/>
              <a:t> time =1/ arrival rate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5029200" y="3810000"/>
          <a:ext cx="47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77480" progId="Equation.3">
                  <p:embed/>
                </p:oleObj>
              </mc:Choice>
              <mc:Fallback>
                <p:oleObj name="Equation" r:id="rId2" imgW="13968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810000"/>
                        <a:ext cx="473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output (Service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752600"/>
            <a:ext cx="7498080" cy="4495800"/>
          </a:xfrm>
        </p:spPr>
        <p:txBody>
          <a:bodyPr>
            <a:normAutofit/>
          </a:bodyPr>
          <a:lstStyle/>
          <a:p>
            <a:r>
              <a:rPr lang="en-US" sz="2800" dirty="0"/>
              <a:t>The time taken by a server to service a customer is known as Service Time.</a:t>
            </a:r>
          </a:p>
          <a:p>
            <a:r>
              <a:rPr lang="en-US" sz="2800" dirty="0"/>
              <a:t>Number of servers and speed of service to be considered.</a:t>
            </a:r>
          </a:p>
          <a:p>
            <a:r>
              <a:rPr lang="en-US" sz="2800" dirty="0"/>
              <a:t>It is represented by </a:t>
            </a:r>
            <a:r>
              <a:rPr lang="el-GR" sz="2800" dirty="0"/>
              <a:t>µ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queue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1828801"/>
            <a:ext cx="7772870" cy="4495800"/>
          </a:xfrm>
        </p:spPr>
        <p:txBody>
          <a:bodyPr>
            <a:normAutofit/>
          </a:bodyPr>
          <a:lstStyle/>
          <a:p>
            <a:r>
              <a:rPr lang="en-US" sz="2800" dirty="0"/>
              <a:t>It is a rule according to which  customers are selected for service when a queue has been formed.</a:t>
            </a:r>
          </a:p>
          <a:p>
            <a:r>
              <a:rPr lang="en-US" sz="2800" dirty="0"/>
              <a:t>The most common disciplines are</a:t>
            </a:r>
          </a:p>
          <a:p>
            <a:pPr marL="514350" indent="-514350">
              <a:buNone/>
            </a:pPr>
            <a:r>
              <a:rPr lang="en-US" sz="2800" dirty="0"/>
              <a:t>		1. FCFS[ First Come First Serve]</a:t>
            </a:r>
          </a:p>
          <a:p>
            <a:pPr marL="514350" indent="-514350">
              <a:buNone/>
            </a:pPr>
            <a:r>
              <a:rPr lang="en-US" sz="2800" dirty="0"/>
              <a:t>		2. FIFO[ First In First Out]</a:t>
            </a:r>
          </a:p>
          <a:p>
            <a:pPr marL="514350" indent="-514350">
              <a:buNone/>
            </a:pPr>
            <a:r>
              <a:rPr lang="en-US" sz="2800" dirty="0"/>
              <a:t>		3. LIFS [ Last Come First Serve]</a:t>
            </a:r>
          </a:p>
          <a:p>
            <a:pPr marL="514350" indent="-514350">
              <a:buNone/>
            </a:pPr>
            <a:r>
              <a:rPr lang="en-US" sz="2800" dirty="0"/>
              <a:t>		4. SIRO[ Service in random Order]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Service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81200"/>
            <a:ext cx="6172200" cy="4267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Maximum number of customers that can be accommodated in the queue.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 • Assumed to be of infinite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Service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sz="2800" dirty="0"/>
              <a:t>Single channel queuing system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 • Multi channel queuing system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• Single channel multi phase system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• Multi channel multi phase system 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 descr="C:\Users\admin\Desktop\Untitled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28600"/>
            <a:ext cx="7772400" cy="62484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1"/>
            <a:ext cx="7773338" cy="1066800"/>
          </a:xfrm>
        </p:spPr>
        <p:txBody>
          <a:bodyPr/>
          <a:lstStyle/>
          <a:p>
            <a:r>
              <a:rPr lang="en-US" b="1" dirty="0"/>
              <a:t>    Customer’s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14400"/>
            <a:ext cx="7391400" cy="563879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400" dirty="0"/>
              <a:t>     </a:t>
            </a:r>
            <a:r>
              <a:rPr lang="en-US" sz="3300" dirty="0"/>
              <a:t>The customers generally behave in the    </a:t>
            </a:r>
          </a:p>
          <a:p>
            <a:pPr>
              <a:buNone/>
            </a:pPr>
            <a:r>
              <a:rPr lang="en-US" sz="3300" dirty="0"/>
              <a:t>     following four ways.</a:t>
            </a:r>
          </a:p>
          <a:p>
            <a:pPr marL="514350" indent="-514350">
              <a:buAutoNum type="arabicPeriod"/>
            </a:pPr>
            <a:r>
              <a:rPr lang="en-US" sz="3300" b="1" dirty="0"/>
              <a:t>Balking</a:t>
            </a:r>
          </a:p>
          <a:p>
            <a:pPr marL="514350" indent="-514350">
              <a:buNone/>
            </a:pPr>
            <a:r>
              <a:rPr lang="en-US" sz="3300" dirty="0"/>
              <a:t>		A customer who leaves the queue because the queue is too long and he has no time to wait or has no sufficient waiting space.</a:t>
            </a:r>
          </a:p>
          <a:p>
            <a:pPr marL="514350" indent="-514350">
              <a:buAutoNum type="arabicPeriod" startAt="2"/>
            </a:pPr>
            <a:r>
              <a:rPr lang="en-US" sz="3300" b="1" dirty="0"/>
              <a:t>Reneging</a:t>
            </a:r>
          </a:p>
          <a:p>
            <a:pPr marL="514350" indent="-514350">
              <a:buNone/>
            </a:pPr>
            <a:r>
              <a:rPr lang="en-US" sz="3300" dirty="0"/>
              <a:t>		A waiting customer leaves the queue due to impatience.</a:t>
            </a:r>
          </a:p>
          <a:p>
            <a:pPr marL="514350" indent="-514350">
              <a:buAutoNum type="arabicPeriod" startAt="3"/>
            </a:pPr>
            <a:r>
              <a:rPr lang="en-US" sz="3300" b="1" dirty="0"/>
              <a:t>Jockeying</a:t>
            </a:r>
          </a:p>
          <a:p>
            <a:pPr marL="514350" indent="-514350">
              <a:buNone/>
            </a:pPr>
            <a:r>
              <a:rPr lang="en-US" sz="3300" dirty="0"/>
              <a:t>		Customers may jockey from one waiting line to another to their reasons.</a:t>
            </a:r>
          </a:p>
          <a:p>
            <a:pPr marL="514350" indent="-514350">
              <a:buAutoNum type="arabicPeriod" startAt="4"/>
            </a:pPr>
            <a:r>
              <a:rPr lang="en-US" sz="3300" b="1" dirty="0"/>
              <a:t>Priority</a:t>
            </a:r>
          </a:p>
          <a:p>
            <a:pPr marL="514350" indent="-514350">
              <a:buNone/>
            </a:pPr>
            <a:r>
              <a:rPr lang="en-US" sz="3300" dirty="0"/>
              <a:t>		Some customers are served before others regardless of their order to arrival.</a:t>
            </a:r>
          </a:p>
          <a:p>
            <a:pPr marL="514350" indent="-514350">
              <a:buFont typeface="+mj-lt"/>
              <a:buAutoNum type="arabicPeriod"/>
            </a:pPr>
            <a:endParaRPr lang="en-US" sz="3300" dirty="0"/>
          </a:p>
          <a:p>
            <a:pPr marL="514350" indent="-514350">
              <a:buFont typeface="+mj-lt"/>
              <a:buAutoNum type="arabicPeriod"/>
            </a:pPr>
            <a:endParaRPr lang="en-US" sz="3400" dirty="0"/>
          </a:p>
          <a:p>
            <a:endParaRPr lang="en-US" sz="2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Applications of Queuing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Telecommunications </a:t>
            </a:r>
          </a:p>
          <a:p>
            <a:pPr>
              <a:buNone/>
            </a:pPr>
            <a:r>
              <a:rPr lang="en-US" dirty="0"/>
              <a:t>• Traffic control </a:t>
            </a:r>
          </a:p>
          <a:p>
            <a:pPr>
              <a:buNone/>
            </a:pPr>
            <a:r>
              <a:rPr lang="en-US" dirty="0"/>
              <a:t>• Determining the sequence of computer operations. </a:t>
            </a:r>
          </a:p>
          <a:p>
            <a:pPr>
              <a:buNone/>
            </a:pPr>
            <a:r>
              <a:rPr lang="en-US" dirty="0"/>
              <a:t>• Predicting computer performance </a:t>
            </a:r>
          </a:p>
          <a:p>
            <a:pPr>
              <a:buNone/>
            </a:pPr>
            <a:r>
              <a:rPr lang="en-US" dirty="0"/>
              <a:t>• Health services (e.g.. control of hospital bed assignments)</a:t>
            </a:r>
          </a:p>
          <a:p>
            <a:pPr>
              <a:buNone/>
            </a:pPr>
            <a:r>
              <a:rPr lang="en-US" dirty="0"/>
              <a:t> • Airport traffic, airline ticket sales </a:t>
            </a:r>
          </a:p>
          <a:p>
            <a:pPr>
              <a:buNone/>
            </a:pPr>
            <a:r>
              <a:rPr lang="en-US" dirty="0"/>
              <a:t>• Layout of manufacturing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14400"/>
            <a:ext cx="7620000" cy="4267200"/>
          </a:xfrm>
        </p:spPr>
        <p:txBody>
          <a:bodyPr>
            <a:normAutofit fontScale="25000" lnSpcReduction="20000"/>
          </a:bodyPr>
          <a:lstStyle/>
          <a:p>
            <a:pPr marL="457200" indent="-457200">
              <a:buNone/>
            </a:pPr>
            <a:r>
              <a:rPr lang="en-US" dirty="0"/>
              <a:t>	</a:t>
            </a:r>
            <a:r>
              <a:rPr lang="en-US" sz="8600" dirty="0"/>
              <a:t>1</a:t>
            </a:r>
            <a:r>
              <a:rPr lang="en-US" sz="9600" dirty="0"/>
              <a:t>. </a:t>
            </a:r>
            <a:r>
              <a:rPr lang="en-US" sz="9600" b="1" dirty="0"/>
              <a:t>Customer</a:t>
            </a:r>
            <a:r>
              <a:rPr lang="en-US" sz="9600" dirty="0"/>
              <a:t>(Arrival) </a:t>
            </a:r>
          </a:p>
          <a:p>
            <a:pPr>
              <a:buNone/>
            </a:pPr>
            <a:r>
              <a:rPr lang="en-US" sz="9600" dirty="0"/>
              <a:t>          The arrival unit that requires some services to performed.</a:t>
            </a:r>
          </a:p>
          <a:p>
            <a:pPr marL="457200" indent="-457200">
              <a:buNone/>
            </a:pPr>
            <a:r>
              <a:rPr lang="en-US" sz="9600" dirty="0"/>
              <a:t>	2. </a:t>
            </a:r>
            <a:r>
              <a:rPr lang="en-US" sz="9600" b="1" dirty="0"/>
              <a:t>Queue</a:t>
            </a:r>
            <a:r>
              <a:rPr lang="en-US" sz="9600" dirty="0"/>
              <a:t>:</a:t>
            </a:r>
          </a:p>
          <a:p>
            <a:pPr>
              <a:buNone/>
            </a:pPr>
            <a:r>
              <a:rPr lang="en-US" sz="9600" dirty="0"/>
              <a:t>          The number of Customer waiting to be served.</a:t>
            </a:r>
          </a:p>
          <a:p>
            <a:pPr>
              <a:buNone/>
            </a:pPr>
            <a:r>
              <a:rPr lang="en-US" sz="9600" dirty="0"/>
              <a:t>	  3. </a:t>
            </a:r>
            <a:r>
              <a:rPr lang="en-US" sz="9600" b="1" dirty="0"/>
              <a:t>Arrival Rate </a:t>
            </a:r>
          </a:p>
          <a:p>
            <a:pPr>
              <a:buNone/>
            </a:pPr>
            <a:r>
              <a:rPr lang="en-US" sz="9600" dirty="0"/>
              <a:t>          The rate which customer arrive to the service station. </a:t>
            </a:r>
          </a:p>
          <a:p>
            <a:pPr>
              <a:buNone/>
            </a:pPr>
            <a:r>
              <a:rPr lang="en-US" sz="9600" dirty="0"/>
              <a:t>	  4. </a:t>
            </a:r>
            <a:r>
              <a:rPr lang="en-US" sz="9600" b="1" dirty="0"/>
              <a:t>Service rate </a:t>
            </a:r>
            <a:r>
              <a:rPr lang="en-US" sz="9600" dirty="0"/>
              <a:t>(µ) </a:t>
            </a:r>
          </a:p>
          <a:p>
            <a:pPr>
              <a:buNone/>
            </a:pPr>
            <a:r>
              <a:rPr lang="en-US" sz="9600" dirty="0"/>
              <a:t> 		The rate at which the service unit can provide service to</a:t>
            </a:r>
          </a:p>
          <a:p>
            <a:pPr>
              <a:buNone/>
            </a:pPr>
            <a:r>
              <a:rPr lang="en-US" sz="9600" dirty="0"/>
              <a:t>         the customer</a:t>
            </a:r>
          </a:p>
          <a:p>
            <a:pPr>
              <a:buNone/>
            </a:pPr>
            <a:r>
              <a:rPr lang="en-US" sz="9600" dirty="0"/>
              <a:t>	   5. </a:t>
            </a:r>
            <a:r>
              <a:rPr lang="en-US" sz="9600" b="1" dirty="0"/>
              <a:t>Utilization Ratio Or Traffic intensity </a:t>
            </a:r>
            <a:r>
              <a:rPr lang="en-US" sz="9600" dirty="0"/>
              <a:t>( λ /µ )</a:t>
            </a:r>
          </a:p>
          <a:p>
            <a:pPr>
              <a:buNone/>
            </a:pPr>
            <a:r>
              <a:rPr lang="en-US" sz="9600" dirty="0"/>
              <a:t>		   λ / µ &gt; 1 Queue is growing without end. </a:t>
            </a:r>
          </a:p>
          <a:p>
            <a:pPr>
              <a:buNone/>
            </a:pPr>
            <a:r>
              <a:rPr lang="en-US" sz="9600" dirty="0"/>
              <a:t>		   λ / µ &lt; 1 Length of Queue is go on   diminishing. </a:t>
            </a:r>
          </a:p>
          <a:p>
            <a:pPr>
              <a:buNone/>
            </a:pPr>
            <a:r>
              <a:rPr lang="en-US" sz="9600" dirty="0"/>
              <a:t>		    λ /µ = 1 Queue length remain constant.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8230068" cy="159617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Transient &amp; Steady State of the</a:t>
            </a:r>
            <a:br>
              <a:rPr lang="en-US" b="1" dirty="0"/>
            </a:br>
            <a:r>
              <a:rPr lang="en-US" b="1" dirty="0"/>
              <a:t>                                   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367093"/>
            <a:ext cx="7010400" cy="3043107"/>
          </a:xfrm>
        </p:spPr>
        <p:txBody>
          <a:bodyPr/>
          <a:lstStyle/>
          <a:p>
            <a:pPr>
              <a:buNone/>
            </a:pPr>
            <a:r>
              <a:rPr lang="en-US" dirty="0"/>
              <a:t>• </a:t>
            </a:r>
            <a:r>
              <a:rPr lang="en-US" sz="2800" dirty="0"/>
              <a:t>When the operating characteristics are dependent on time, it is said to be a transient state. </a:t>
            </a:r>
          </a:p>
          <a:p>
            <a:pPr>
              <a:buNone/>
            </a:pPr>
            <a:r>
              <a:rPr lang="en-US" sz="2800" dirty="0"/>
              <a:t>• When the operating characteristics are independent of time, it is said to be a steady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-3952"/>
            <a:ext cx="6615953" cy="1501089"/>
          </a:xfrm>
          <a:prstGeom prst="rect">
            <a:avLst/>
          </a:prstGeom>
        </p:spPr>
        <p:txBody>
          <a:bodyPr vert="horz" wrap="square" lIns="0" tIns="175932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66" dirty="0"/>
              <a:t>Kendall</a:t>
            </a:r>
            <a:r>
              <a:rPr spc="-79" dirty="0"/>
              <a:t> </a:t>
            </a:r>
            <a:r>
              <a:rPr dirty="0"/>
              <a:t>Notation</a:t>
            </a:r>
            <a:r>
              <a:rPr spc="-79" dirty="0"/>
              <a:t> </a:t>
            </a:r>
            <a:r>
              <a:rPr spc="221" dirty="0"/>
              <a:t>1/2/3(/4/5/6)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5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1750803"/>
            <a:ext cx="5757022" cy="3420616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81318" indent="-470112">
              <a:spcBef>
                <a:spcPts val="750"/>
              </a:spcBef>
              <a:buClr>
                <a:srgbClr val="CC9A00"/>
              </a:buClr>
              <a:buSzPct val="65000"/>
              <a:buFont typeface="Wingdings"/>
              <a:buChar char=""/>
              <a:tabLst>
                <a:tab pos="481318" algn="l"/>
              </a:tabLst>
            </a:pPr>
            <a:r>
              <a:rPr sz="2647" dirty="0">
                <a:latin typeface="Arial MT"/>
                <a:cs typeface="Arial MT"/>
              </a:rPr>
              <a:t>Six</a:t>
            </a:r>
            <a:r>
              <a:rPr sz="2647" spc="-31" dirty="0">
                <a:latin typeface="Arial MT"/>
                <a:cs typeface="Arial MT"/>
              </a:rPr>
              <a:t> </a:t>
            </a:r>
            <a:r>
              <a:rPr sz="2647" dirty="0">
                <a:latin typeface="Arial MT"/>
                <a:cs typeface="Arial MT"/>
              </a:rPr>
              <a:t>parameters</a:t>
            </a:r>
            <a:r>
              <a:rPr sz="2647" spc="-31" dirty="0">
                <a:latin typeface="Arial MT"/>
                <a:cs typeface="Arial MT"/>
              </a:rPr>
              <a:t> </a:t>
            </a:r>
            <a:r>
              <a:rPr sz="2647" dirty="0">
                <a:latin typeface="Arial MT"/>
                <a:cs typeface="Arial MT"/>
              </a:rPr>
              <a:t>in</a:t>
            </a:r>
            <a:r>
              <a:rPr sz="2647" spc="-26" dirty="0">
                <a:latin typeface="Arial MT"/>
                <a:cs typeface="Arial MT"/>
              </a:rPr>
              <a:t> </a:t>
            </a:r>
            <a:r>
              <a:rPr sz="2647" spc="-9" dirty="0">
                <a:latin typeface="Arial MT"/>
                <a:cs typeface="Arial MT"/>
              </a:rPr>
              <a:t>shorthand</a:t>
            </a:r>
            <a:endParaRPr sz="2647">
              <a:latin typeface="Arial MT"/>
              <a:cs typeface="Arial MT"/>
            </a:endParaRPr>
          </a:p>
          <a:p>
            <a:pPr marL="1153707" lvl="1" indent="-531187">
              <a:spcBef>
                <a:spcPts val="49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1153707" algn="l"/>
              </a:tabLst>
            </a:pPr>
            <a:r>
              <a:rPr sz="1941" dirty="0">
                <a:latin typeface="Arial MT"/>
                <a:cs typeface="Arial MT"/>
              </a:rPr>
              <a:t>First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three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typically</a:t>
            </a:r>
            <a:r>
              <a:rPr sz="1941" spc="-44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used,</a:t>
            </a:r>
            <a:r>
              <a:rPr sz="1941" spc="-26" dirty="0">
                <a:latin typeface="Arial MT"/>
                <a:cs typeface="Arial MT"/>
              </a:rPr>
              <a:t> </a:t>
            </a:r>
            <a:r>
              <a:rPr sz="1941" dirty="0">
                <a:latin typeface="Arial MT"/>
                <a:cs typeface="Arial MT"/>
              </a:rPr>
              <a:t>unless</a:t>
            </a:r>
            <a:r>
              <a:rPr sz="1941" spc="-40" dirty="0">
                <a:latin typeface="Arial MT"/>
                <a:cs typeface="Arial MT"/>
              </a:rPr>
              <a:t> </a:t>
            </a:r>
            <a:r>
              <a:rPr sz="1941" spc="-9" dirty="0">
                <a:latin typeface="Arial MT"/>
                <a:cs typeface="Arial MT"/>
              </a:rPr>
              <a:t>specified</a:t>
            </a:r>
            <a:endParaRPr sz="1941">
              <a:latin typeface="Arial MT"/>
              <a:cs typeface="Arial MT"/>
            </a:endParaRPr>
          </a:p>
          <a:p>
            <a:pPr marL="817513" indent="-502611">
              <a:spcBef>
                <a:spcPts val="538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Arrival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Distribution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47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Service</a:t>
            </a:r>
            <a:r>
              <a:rPr sz="2294" spc="-79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Distribution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52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Number</a:t>
            </a:r>
            <a:r>
              <a:rPr sz="2294" spc="-49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servers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52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Total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Capacity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(infinite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if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not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specified)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52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Population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Size</a:t>
            </a:r>
            <a:r>
              <a:rPr sz="2294" spc="-66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(infinite)</a:t>
            </a:r>
            <a:endParaRPr sz="2294">
              <a:latin typeface="Arial MT"/>
              <a:cs typeface="Arial MT"/>
            </a:endParaRPr>
          </a:p>
          <a:p>
            <a:pPr marL="817513" indent="-502611">
              <a:spcBef>
                <a:spcPts val="552"/>
              </a:spcBef>
              <a:buClr>
                <a:srgbClr val="3B822F"/>
              </a:buClr>
              <a:buSzPct val="59615"/>
              <a:buAutoNum type="arabicPeriod"/>
              <a:tabLst>
                <a:tab pos="817513" algn="l"/>
              </a:tabLst>
            </a:pPr>
            <a:r>
              <a:rPr sz="2294" dirty="0">
                <a:latin typeface="Arial MT"/>
                <a:cs typeface="Arial MT"/>
              </a:rPr>
              <a:t>Service</a:t>
            </a:r>
            <a:r>
              <a:rPr sz="2294" spc="-12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Discipline</a:t>
            </a:r>
            <a:r>
              <a:rPr sz="2294" spc="-119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(FCFS/FIFO)</a:t>
            </a:r>
            <a:endParaRPr sz="2294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18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647003"/>
            <a:ext cx="7041776" cy="526725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z="3353" spc="-53" dirty="0"/>
              <a:t>Kendall</a:t>
            </a:r>
            <a:r>
              <a:rPr sz="3353" spc="-101" dirty="0"/>
              <a:t> </a:t>
            </a:r>
            <a:r>
              <a:rPr sz="3353" spc="-84" dirty="0"/>
              <a:t>Classification</a:t>
            </a:r>
            <a:r>
              <a:rPr sz="3353" spc="-101" dirty="0"/>
              <a:t> </a:t>
            </a:r>
            <a:r>
              <a:rPr sz="3353" dirty="0"/>
              <a:t>of</a:t>
            </a:r>
            <a:r>
              <a:rPr sz="3353" spc="-101" dirty="0"/>
              <a:t> </a:t>
            </a:r>
            <a:r>
              <a:rPr sz="3353" spc="-26" dirty="0"/>
              <a:t>Queuing</a:t>
            </a:r>
            <a:r>
              <a:rPr sz="3353" spc="-97" dirty="0"/>
              <a:t> </a:t>
            </a:r>
            <a:r>
              <a:rPr sz="3353" spc="-66" dirty="0"/>
              <a:t>Systems</a:t>
            </a:r>
            <a:endParaRPr sz="3353"/>
          </a:p>
        </p:txBody>
      </p:sp>
      <p:sp>
        <p:nvSpPr>
          <p:cNvPr id="3" name="object 3"/>
          <p:cNvSpPr txBox="1"/>
          <p:nvPr/>
        </p:nvSpPr>
        <p:spPr>
          <a:xfrm>
            <a:off x="1010770" y="2001146"/>
            <a:ext cx="7032251" cy="2896381"/>
          </a:xfrm>
          <a:prstGeom prst="rect">
            <a:avLst/>
          </a:prstGeom>
        </p:spPr>
        <p:txBody>
          <a:bodyPr vert="horz" wrap="square" lIns="0" tIns="56590" rIns="0" bIns="0" rtlCol="0">
            <a:spAutoFit/>
          </a:bodyPr>
          <a:lstStyle/>
          <a:p>
            <a:pPr marL="313221" marR="389425" indent="-302575">
              <a:lnSpc>
                <a:spcPct val="80000"/>
              </a:lnSpc>
              <a:spcBef>
                <a:spcPts val="446"/>
              </a:spcBef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5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Kendall</a:t>
            </a:r>
            <a:r>
              <a:rPr sz="1500" b="1" spc="-3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classification</a:t>
            </a:r>
            <a:r>
              <a:rPr sz="1500" b="1" spc="-22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of</a:t>
            </a:r>
            <a:r>
              <a:rPr sz="1500" b="1" spc="-4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queuing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systems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(1953)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exists</a:t>
            </a:r>
            <a:r>
              <a:rPr sz="1500" b="1" spc="-3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several modifications.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  <a:tab pos="5631256" algn="l"/>
              </a:tabLst>
            </a:pP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57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most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comprehensive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classification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uses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6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symbols: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9" dirty="0">
                <a:latin typeface="Arial"/>
                <a:cs typeface="Arial"/>
              </a:rPr>
              <a:t>A/B/s/q/c/p</a:t>
            </a:r>
            <a:endParaRPr sz="1500">
              <a:latin typeface="Arial"/>
              <a:cs typeface="Arial"/>
            </a:endParaRPr>
          </a:p>
          <a:p>
            <a:pPr>
              <a:spcBef>
                <a:spcPts val="75"/>
              </a:spcBef>
              <a:buClr>
                <a:srgbClr val="CC9A00"/>
              </a:buClr>
              <a:buFont typeface="Wingdings"/>
              <a:buChar char=""/>
            </a:pPr>
            <a:endParaRPr sz="1500">
              <a:latin typeface="Arial"/>
              <a:cs typeface="Arial"/>
            </a:endParaRPr>
          </a:p>
          <a:p>
            <a:pPr marL="11206"/>
            <a:r>
              <a:rPr sz="1500" b="1" spc="-9" dirty="0">
                <a:latin typeface="Arial"/>
                <a:cs typeface="Arial"/>
              </a:rPr>
              <a:t>where: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i="1" dirty="0">
                <a:latin typeface="Arial"/>
                <a:cs typeface="Arial"/>
              </a:rPr>
              <a:t>A</a:t>
            </a:r>
            <a:r>
              <a:rPr sz="1500" b="1" i="1" spc="3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arrival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pattern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(distribution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of</a:t>
            </a:r>
            <a:r>
              <a:rPr sz="1500" b="1" i="1" spc="-44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intervals</a:t>
            </a:r>
            <a:r>
              <a:rPr sz="1500" b="1" i="1" spc="-18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between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arrivals).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i="1" dirty="0">
                <a:latin typeface="Arial"/>
                <a:cs typeface="Arial"/>
              </a:rPr>
              <a:t>B</a:t>
            </a:r>
            <a:r>
              <a:rPr sz="1500" b="1" i="1" spc="-44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service</a:t>
            </a:r>
            <a:r>
              <a:rPr sz="1500" b="1" i="1" spc="-9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pattern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(distribution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of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service</a:t>
            </a:r>
            <a:r>
              <a:rPr sz="1500" b="1" i="1" spc="-13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duration).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i="1" dirty="0">
                <a:latin typeface="Arial"/>
                <a:cs typeface="Arial"/>
              </a:rPr>
              <a:t>s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number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of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servers.</a:t>
            </a:r>
            <a:endParaRPr sz="1500">
              <a:latin typeface="Arial"/>
              <a:cs typeface="Arial"/>
            </a:endParaRPr>
          </a:p>
          <a:p>
            <a:pPr marL="313781" marR="512136" indent="-302575">
              <a:lnSpc>
                <a:spcPct val="80000"/>
              </a:lnSpc>
              <a:spcBef>
                <a:spcPts val="361"/>
              </a:spcBef>
              <a:buClr>
                <a:srgbClr val="CC9A00"/>
              </a:buClr>
              <a:buSzPct val="64705"/>
              <a:buFont typeface="Wingdings"/>
              <a:buChar char=""/>
              <a:tabLst>
                <a:tab pos="313781" algn="l"/>
              </a:tabLst>
            </a:pPr>
            <a:r>
              <a:rPr sz="1500" b="1" i="1" dirty="0">
                <a:latin typeface="Arial"/>
                <a:cs typeface="Arial"/>
              </a:rPr>
              <a:t>q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queuing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discipline</a:t>
            </a:r>
            <a:r>
              <a:rPr sz="1500" b="1" i="1" spc="-18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(FIFO,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LIFO,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...).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Omitted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for</a:t>
            </a:r>
            <a:r>
              <a:rPr sz="1500" b="1" i="1" spc="-31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FIFO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or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if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spc="-22" dirty="0">
                <a:latin typeface="Arial"/>
                <a:cs typeface="Arial"/>
              </a:rPr>
              <a:t>not </a:t>
            </a:r>
            <a:r>
              <a:rPr sz="1500" b="1" i="1" spc="-9" dirty="0">
                <a:latin typeface="Arial"/>
                <a:cs typeface="Arial"/>
              </a:rPr>
              <a:t>specified.</a:t>
            </a:r>
            <a:endParaRPr sz="1500">
              <a:latin typeface="Arial"/>
              <a:cs typeface="Arial"/>
            </a:endParaRPr>
          </a:p>
          <a:p>
            <a:pPr marL="313221" indent="-302015">
              <a:buClr>
                <a:srgbClr val="CC9A00"/>
              </a:buClr>
              <a:buSzPct val="64705"/>
              <a:buFont typeface="Wingdings"/>
              <a:buChar char=""/>
              <a:tabLst>
                <a:tab pos="313221" algn="l"/>
              </a:tabLst>
            </a:pPr>
            <a:r>
              <a:rPr sz="1500" b="1" i="1" dirty="0">
                <a:latin typeface="Arial"/>
                <a:cs typeface="Arial"/>
              </a:rPr>
              <a:t>c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system</a:t>
            </a:r>
            <a:r>
              <a:rPr sz="1500" b="1" i="1" spc="-18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capacity.</a:t>
            </a:r>
            <a:r>
              <a:rPr sz="1500" b="1" i="1" spc="-18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Omitted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for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unlimited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spc="-9" dirty="0">
                <a:latin typeface="Arial"/>
                <a:cs typeface="Arial"/>
              </a:rPr>
              <a:t>queues.</a:t>
            </a:r>
            <a:endParaRPr sz="1500">
              <a:latin typeface="Arial"/>
              <a:cs typeface="Arial"/>
            </a:endParaRPr>
          </a:p>
          <a:p>
            <a:pPr marL="313781" marR="4483" indent="-302575">
              <a:lnSpc>
                <a:spcPct val="80000"/>
              </a:lnSpc>
              <a:spcBef>
                <a:spcPts val="357"/>
              </a:spcBef>
              <a:buClr>
                <a:srgbClr val="CC9A00"/>
              </a:buClr>
              <a:buSzPct val="64705"/>
              <a:buFont typeface="Wingdings"/>
              <a:buChar char=""/>
              <a:tabLst>
                <a:tab pos="313781" algn="l"/>
              </a:tabLst>
            </a:pPr>
            <a:r>
              <a:rPr sz="1500" b="1" i="1" dirty="0">
                <a:latin typeface="Arial"/>
                <a:cs typeface="Arial"/>
              </a:rPr>
              <a:t>p</a:t>
            </a:r>
            <a:r>
              <a:rPr sz="1500" b="1" i="1" spc="-49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is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the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population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size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(number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of</a:t>
            </a:r>
            <a:r>
              <a:rPr sz="1500" b="1" i="1" spc="-40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possible</a:t>
            </a:r>
            <a:r>
              <a:rPr sz="1500" b="1" i="1" spc="-22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customers).</a:t>
            </a:r>
            <a:r>
              <a:rPr sz="1500" b="1" i="1" spc="-26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Omitted</a:t>
            </a:r>
            <a:r>
              <a:rPr sz="1500" b="1" i="1" spc="-3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for</a:t>
            </a:r>
            <a:r>
              <a:rPr sz="1500" b="1" i="1" spc="-44" dirty="0">
                <a:latin typeface="Arial"/>
                <a:cs typeface="Arial"/>
              </a:rPr>
              <a:t> </a:t>
            </a:r>
            <a:r>
              <a:rPr sz="1500" b="1" i="1" spc="-18" dirty="0">
                <a:latin typeface="Arial"/>
                <a:cs typeface="Arial"/>
              </a:rPr>
              <a:t>open </a:t>
            </a:r>
            <a:r>
              <a:rPr sz="1500" b="1" i="1" spc="-9" dirty="0">
                <a:latin typeface="Arial"/>
                <a:cs typeface="Arial"/>
              </a:rPr>
              <a:t>systems.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19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647003"/>
            <a:ext cx="7041776" cy="526725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z="3353" spc="-53" dirty="0"/>
              <a:t>Kendall</a:t>
            </a:r>
            <a:r>
              <a:rPr sz="3353" spc="-101" dirty="0"/>
              <a:t> </a:t>
            </a:r>
            <a:r>
              <a:rPr sz="3353" spc="-84" dirty="0"/>
              <a:t>Classification</a:t>
            </a:r>
            <a:r>
              <a:rPr sz="3353" spc="-101" dirty="0"/>
              <a:t> </a:t>
            </a:r>
            <a:r>
              <a:rPr sz="3353" dirty="0"/>
              <a:t>of</a:t>
            </a:r>
            <a:r>
              <a:rPr sz="3353" spc="-101" dirty="0"/>
              <a:t> </a:t>
            </a:r>
            <a:r>
              <a:rPr sz="3353" spc="-26" dirty="0"/>
              <a:t>Queuing</a:t>
            </a:r>
            <a:r>
              <a:rPr sz="3353" spc="-97" dirty="0"/>
              <a:t> </a:t>
            </a:r>
            <a:r>
              <a:rPr sz="3353" spc="-66" dirty="0"/>
              <a:t>Systems</a:t>
            </a:r>
            <a:endParaRPr sz="3353"/>
          </a:p>
        </p:txBody>
      </p:sp>
      <p:sp>
        <p:nvSpPr>
          <p:cNvPr id="3" name="object 3"/>
          <p:cNvSpPr txBox="1"/>
          <p:nvPr/>
        </p:nvSpPr>
        <p:spPr>
          <a:xfrm>
            <a:off x="1010770" y="2091914"/>
            <a:ext cx="6924115" cy="2918213"/>
          </a:xfrm>
          <a:prstGeom prst="rect">
            <a:avLst/>
          </a:prstGeom>
        </p:spPr>
        <p:txBody>
          <a:bodyPr vert="horz" wrap="square" lIns="0" tIns="39221" rIns="0" bIns="0" rtlCol="0">
            <a:spAutoFit/>
          </a:bodyPr>
          <a:lstStyle/>
          <a:p>
            <a:pPr marL="11206">
              <a:spcBef>
                <a:spcPts val="309"/>
              </a:spcBef>
            </a:pPr>
            <a:r>
              <a:rPr sz="1853" dirty="0">
                <a:latin typeface="Arial MT"/>
                <a:cs typeface="Arial MT"/>
              </a:rPr>
              <a:t>These</a:t>
            </a:r>
            <a:r>
              <a:rPr sz="1853" spc="-40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symbols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are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used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for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arrival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service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patterns:</a:t>
            </a:r>
            <a:endParaRPr sz="1853">
              <a:latin typeface="Arial MT"/>
              <a:cs typeface="Arial MT"/>
            </a:endParaRPr>
          </a:p>
          <a:p>
            <a:pPr marL="313221" marR="310980" indent="-302575">
              <a:lnSpc>
                <a:spcPts val="2003"/>
              </a:lnSpc>
              <a:spcBef>
                <a:spcPts val="472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221" algn="l"/>
              </a:tabLst>
            </a:pPr>
            <a:r>
              <a:rPr sz="1853" b="1" i="1" dirty="0">
                <a:latin typeface="Arial"/>
                <a:cs typeface="Arial"/>
              </a:rPr>
              <a:t>M</a:t>
            </a:r>
            <a:r>
              <a:rPr sz="1853" b="1" i="1" spc="-22" dirty="0">
                <a:latin typeface="Arial"/>
                <a:cs typeface="Arial"/>
              </a:rPr>
              <a:t>  </a:t>
            </a:r>
            <a:r>
              <a:rPr sz="1853" b="1" i="1" dirty="0">
                <a:latin typeface="Arial"/>
                <a:cs typeface="Arial"/>
              </a:rPr>
              <a:t>is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the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Poisson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(</a:t>
            </a:r>
            <a:r>
              <a:rPr sz="1853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1853" b="1" i="1" dirty="0">
                <a:latin typeface="Arial"/>
                <a:cs typeface="Arial"/>
              </a:rPr>
              <a:t>arkovian)</a:t>
            </a:r>
            <a:r>
              <a:rPr sz="1853" b="1" i="1" spc="-35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process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with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exponential </a:t>
            </a:r>
            <a:r>
              <a:rPr sz="1853" b="1" i="1" dirty="0">
                <a:latin typeface="Arial"/>
                <a:cs typeface="Arial"/>
              </a:rPr>
              <a:t>distribution</a:t>
            </a:r>
            <a:r>
              <a:rPr sz="1853" b="1" i="1" spc="-31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of</a:t>
            </a:r>
            <a:r>
              <a:rPr sz="1853" b="1" i="1" spc="-40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intervals</a:t>
            </a:r>
            <a:r>
              <a:rPr sz="1853" b="1" i="1" spc="-53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or</a:t>
            </a:r>
            <a:r>
              <a:rPr sz="1853" b="1" i="1" spc="-4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service</a:t>
            </a:r>
            <a:r>
              <a:rPr sz="1853" b="1" i="1" spc="-44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duration</a:t>
            </a:r>
            <a:r>
              <a:rPr sz="1853" b="1" i="1" spc="-44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respectively.</a:t>
            </a:r>
            <a:endParaRPr sz="1853">
              <a:latin typeface="Arial"/>
              <a:cs typeface="Arial"/>
            </a:endParaRPr>
          </a:p>
          <a:p>
            <a:pPr marL="313221" marR="830960" indent="-302575">
              <a:lnSpc>
                <a:spcPts val="2003"/>
              </a:lnSpc>
              <a:spcBef>
                <a:spcPts val="441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221" algn="l"/>
              </a:tabLst>
            </a:pPr>
            <a:r>
              <a:rPr sz="1853" b="1" i="1" dirty="0">
                <a:latin typeface="Arial"/>
                <a:cs typeface="Arial"/>
              </a:rPr>
              <a:t>Em</a:t>
            </a:r>
            <a:r>
              <a:rPr sz="1853" b="1" i="1" spc="-22" dirty="0">
                <a:latin typeface="Arial"/>
                <a:cs typeface="Arial"/>
              </a:rPr>
              <a:t>  </a:t>
            </a:r>
            <a:r>
              <a:rPr sz="1853" b="1" i="1" dirty="0">
                <a:latin typeface="Arial"/>
                <a:cs typeface="Arial"/>
              </a:rPr>
              <a:t>is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the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1853" b="1" i="1" dirty="0">
                <a:latin typeface="Arial"/>
                <a:cs typeface="Arial"/>
              </a:rPr>
              <a:t>rlang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distribution of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intervals</a:t>
            </a:r>
            <a:r>
              <a:rPr sz="1853" b="1" i="1" spc="-40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or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service duration.</a:t>
            </a:r>
            <a:endParaRPr sz="1853">
              <a:latin typeface="Arial"/>
              <a:cs typeface="Arial"/>
            </a:endParaRPr>
          </a:p>
          <a:p>
            <a:pPr marL="313781" marR="532308" indent="-302575">
              <a:lnSpc>
                <a:spcPts val="2003"/>
              </a:lnSpc>
              <a:spcBef>
                <a:spcPts val="441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781" algn="l"/>
              </a:tabLst>
            </a:pPr>
            <a:r>
              <a:rPr sz="1853" b="1" i="1" dirty="0">
                <a:latin typeface="Arial"/>
                <a:cs typeface="Arial"/>
              </a:rPr>
              <a:t>D</a:t>
            </a:r>
            <a:r>
              <a:rPr sz="1853" b="1" i="1" spc="-18" dirty="0">
                <a:latin typeface="Arial"/>
                <a:cs typeface="Arial"/>
              </a:rPr>
              <a:t>  </a:t>
            </a:r>
            <a:r>
              <a:rPr sz="1853" b="1" i="1" dirty="0">
                <a:latin typeface="Arial"/>
                <a:cs typeface="Arial"/>
              </a:rPr>
              <a:t>is</a:t>
            </a:r>
            <a:r>
              <a:rPr sz="1853" b="1" i="1" spc="-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the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symbol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for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853" b="1" i="1" dirty="0">
                <a:latin typeface="Arial"/>
                <a:cs typeface="Arial"/>
              </a:rPr>
              <a:t>eterministic</a:t>
            </a:r>
            <a:r>
              <a:rPr sz="1853" b="1" i="1" spc="-26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(known) arrivals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spc="-22" dirty="0">
                <a:latin typeface="Arial"/>
                <a:cs typeface="Arial"/>
              </a:rPr>
              <a:t>and </a:t>
            </a:r>
            <a:r>
              <a:rPr sz="1853" b="1" i="1" dirty="0">
                <a:latin typeface="Arial"/>
                <a:cs typeface="Arial"/>
              </a:rPr>
              <a:t>constant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service</a:t>
            </a:r>
            <a:r>
              <a:rPr sz="1853" b="1" i="1" spc="-4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duration.</a:t>
            </a:r>
            <a:endParaRPr sz="1853">
              <a:latin typeface="Arial"/>
              <a:cs typeface="Arial"/>
            </a:endParaRPr>
          </a:p>
          <a:p>
            <a:pPr marL="313221" indent="-302015">
              <a:spcBef>
                <a:spcPts val="190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221" algn="l"/>
              </a:tabLst>
            </a:pPr>
            <a:r>
              <a:rPr sz="1853" b="1" i="1" dirty="0">
                <a:latin typeface="Arial"/>
                <a:cs typeface="Arial"/>
              </a:rPr>
              <a:t>G  is</a:t>
            </a:r>
            <a:r>
              <a:rPr sz="1853" b="1" i="1" spc="-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a</a:t>
            </a:r>
            <a:r>
              <a:rPr sz="1853" b="1" i="1" spc="-4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general</a:t>
            </a:r>
            <a:r>
              <a:rPr sz="1853" b="1" i="1" spc="-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(any)</a:t>
            </a:r>
            <a:r>
              <a:rPr sz="1853" b="1" i="1" spc="-13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distribution.</a:t>
            </a:r>
            <a:endParaRPr sz="1853">
              <a:latin typeface="Arial"/>
              <a:cs typeface="Arial"/>
            </a:endParaRPr>
          </a:p>
          <a:p>
            <a:pPr marL="313781" marR="4483" indent="-302575">
              <a:lnSpc>
                <a:spcPts val="2003"/>
              </a:lnSpc>
              <a:spcBef>
                <a:spcPts val="476"/>
              </a:spcBef>
              <a:buClr>
                <a:srgbClr val="CC9A00"/>
              </a:buClr>
              <a:buSzPct val="64285"/>
              <a:buFont typeface="Wingdings"/>
              <a:buChar char=""/>
              <a:tabLst>
                <a:tab pos="313781" algn="l"/>
              </a:tabLst>
            </a:pPr>
            <a:r>
              <a:rPr sz="1853" b="1" i="1" dirty="0">
                <a:latin typeface="Arial"/>
                <a:cs typeface="Arial"/>
              </a:rPr>
              <a:t>GI</a:t>
            </a:r>
            <a:r>
              <a:rPr sz="1853" b="1" i="1" spc="459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is</a:t>
            </a:r>
            <a:r>
              <a:rPr sz="1853" b="1" i="1" spc="-40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a</a:t>
            </a:r>
            <a:r>
              <a:rPr sz="1853" b="1" i="1" spc="-35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general</a:t>
            </a:r>
            <a:r>
              <a:rPr sz="1853" b="1" i="1" spc="-44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(any)</a:t>
            </a:r>
            <a:r>
              <a:rPr sz="1853" b="1" i="1" spc="-44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distribution</a:t>
            </a:r>
            <a:r>
              <a:rPr sz="1853" b="1" i="1" spc="-18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with</a:t>
            </a:r>
            <a:r>
              <a:rPr sz="1853" b="1" i="1" spc="-22" dirty="0">
                <a:latin typeface="Arial"/>
                <a:cs typeface="Arial"/>
              </a:rPr>
              <a:t> </a:t>
            </a:r>
            <a:r>
              <a:rPr sz="1853" b="1" i="1" dirty="0">
                <a:latin typeface="Arial"/>
                <a:cs typeface="Arial"/>
              </a:rPr>
              <a:t>independent</a:t>
            </a:r>
            <a:r>
              <a:rPr sz="1853" b="1" i="1" spc="-26" dirty="0">
                <a:latin typeface="Arial"/>
                <a:cs typeface="Arial"/>
              </a:rPr>
              <a:t> </a:t>
            </a:r>
            <a:r>
              <a:rPr sz="1853" b="1" i="1" spc="-9" dirty="0">
                <a:latin typeface="Arial"/>
                <a:cs typeface="Arial"/>
              </a:rPr>
              <a:t>random values.</a:t>
            </a:r>
            <a:endParaRPr sz="1853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20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647003"/>
            <a:ext cx="7041776" cy="526725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z="3353" spc="-53" dirty="0"/>
              <a:t>Kendall</a:t>
            </a:r>
            <a:r>
              <a:rPr sz="3353" spc="-101" dirty="0"/>
              <a:t> </a:t>
            </a:r>
            <a:r>
              <a:rPr sz="3353" spc="-84" dirty="0"/>
              <a:t>Classification</a:t>
            </a:r>
            <a:r>
              <a:rPr sz="3353" spc="-101" dirty="0"/>
              <a:t> </a:t>
            </a:r>
            <a:r>
              <a:rPr sz="3353" dirty="0"/>
              <a:t>of</a:t>
            </a:r>
            <a:r>
              <a:rPr sz="3353" spc="-101" dirty="0"/>
              <a:t> </a:t>
            </a:r>
            <a:r>
              <a:rPr sz="3353" spc="-26" dirty="0"/>
              <a:t>Queuing</a:t>
            </a:r>
            <a:r>
              <a:rPr sz="3353" spc="-97" dirty="0"/>
              <a:t> </a:t>
            </a:r>
            <a:r>
              <a:rPr sz="3353" spc="-66" dirty="0"/>
              <a:t>Systems</a:t>
            </a:r>
            <a:endParaRPr sz="3353"/>
          </a:p>
        </p:txBody>
      </p:sp>
      <p:sp>
        <p:nvSpPr>
          <p:cNvPr id="3" name="object 3"/>
          <p:cNvSpPr/>
          <p:nvPr/>
        </p:nvSpPr>
        <p:spPr>
          <a:xfrm>
            <a:off x="537883" y="2994659"/>
            <a:ext cx="8068235" cy="2593041"/>
          </a:xfrm>
          <a:custGeom>
            <a:avLst/>
            <a:gdLst/>
            <a:ahLst/>
            <a:cxnLst/>
            <a:rect l="l" t="t" r="r" b="b"/>
            <a:pathLst>
              <a:path w="9144000" h="2938779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8340"/>
                </a:lnTo>
                <a:lnTo>
                  <a:pt x="0" y="1959102"/>
                </a:lnTo>
                <a:lnTo>
                  <a:pt x="0" y="2938272"/>
                </a:lnTo>
                <a:lnTo>
                  <a:pt x="9144000" y="2938272"/>
                </a:lnTo>
                <a:lnTo>
                  <a:pt x="9144000" y="1959102"/>
                </a:lnTo>
                <a:lnTo>
                  <a:pt x="9144000" y="1958340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1766495"/>
            <a:ext cx="6812616" cy="313667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294" spc="-9" dirty="0">
                <a:latin typeface="Arial MT"/>
                <a:cs typeface="Arial MT"/>
              </a:rPr>
              <a:t>Examples:</a:t>
            </a:r>
            <a:endParaRPr sz="2294">
              <a:latin typeface="Arial MT"/>
              <a:cs typeface="Arial MT"/>
            </a:endParaRPr>
          </a:p>
          <a:p>
            <a:pPr marL="313781" marR="4483" indent="-302575">
              <a:lnSpc>
                <a:spcPct val="80000"/>
              </a:lnSpc>
              <a:spcBef>
                <a:spcPts val="552"/>
              </a:spcBef>
              <a:buClr>
                <a:srgbClr val="CC9A00"/>
              </a:buClr>
              <a:buSzPct val="65384"/>
              <a:buFont typeface="Wingdings"/>
              <a:buChar char=""/>
              <a:tabLst>
                <a:tab pos="313781" algn="l"/>
              </a:tabLst>
            </a:pPr>
            <a:r>
              <a:rPr sz="2294" b="1" dirty="0">
                <a:latin typeface="Arial"/>
                <a:cs typeface="Arial"/>
              </a:rPr>
              <a:t>D/M/1</a:t>
            </a:r>
            <a:r>
              <a:rPr sz="2294" b="1" spc="-66" dirty="0">
                <a:latin typeface="Arial"/>
                <a:cs typeface="Arial"/>
              </a:rPr>
              <a:t> </a:t>
            </a:r>
            <a:r>
              <a:rPr sz="2294" dirty="0">
                <a:latin typeface="Arial MT"/>
                <a:cs typeface="Arial MT"/>
              </a:rPr>
              <a:t>=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Deterministic</a:t>
            </a:r>
            <a:r>
              <a:rPr sz="2294" spc="-62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(known)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input,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one </a:t>
            </a:r>
            <a:r>
              <a:rPr sz="2294" dirty="0">
                <a:latin typeface="Arial MT"/>
                <a:cs typeface="Arial MT"/>
              </a:rPr>
              <a:t>exponential</a:t>
            </a:r>
            <a:r>
              <a:rPr sz="2294" spc="-7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server,</a:t>
            </a:r>
            <a:r>
              <a:rPr sz="2294" spc="-7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one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unlimited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FIFO</a:t>
            </a:r>
            <a:r>
              <a:rPr sz="2294" spc="-75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or </a:t>
            </a:r>
            <a:r>
              <a:rPr sz="2294" dirty="0">
                <a:latin typeface="Arial MT"/>
                <a:cs typeface="Arial MT"/>
              </a:rPr>
              <a:t>unspecified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queue,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unlimited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</a:t>
            </a:r>
            <a:r>
              <a:rPr sz="2294" spc="-88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population.</a:t>
            </a:r>
            <a:endParaRPr sz="2294">
              <a:latin typeface="Arial MT"/>
              <a:cs typeface="Arial MT"/>
            </a:endParaRPr>
          </a:p>
          <a:p>
            <a:pPr marL="313781" marR="191631" indent="-302575">
              <a:lnSpc>
                <a:spcPct val="80000"/>
              </a:lnSpc>
              <a:spcBef>
                <a:spcPts val="552"/>
              </a:spcBef>
              <a:buClr>
                <a:srgbClr val="CC9A00"/>
              </a:buClr>
              <a:buSzPct val="65384"/>
              <a:buFont typeface="Wingdings"/>
              <a:buChar char=""/>
              <a:tabLst>
                <a:tab pos="313781" algn="l"/>
              </a:tabLst>
            </a:pPr>
            <a:r>
              <a:rPr sz="2294" b="1" dirty="0">
                <a:latin typeface="Arial"/>
                <a:cs typeface="Arial"/>
              </a:rPr>
              <a:t>M/G/3/20</a:t>
            </a:r>
            <a:r>
              <a:rPr sz="2294" b="1" spc="-44" dirty="0">
                <a:latin typeface="Arial"/>
                <a:cs typeface="Arial"/>
              </a:rPr>
              <a:t> </a:t>
            </a:r>
            <a:r>
              <a:rPr sz="2294" dirty="0">
                <a:latin typeface="Arial MT"/>
                <a:cs typeface="Arial MT"/>
              </a:rPr>
              <a:t>=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Poisson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input,</a:t>
            </a:r>
            <a:r>
              <a:rPr sz="2294" spc="-49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three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servers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with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any </a:t>
            </a:r>
            <a:r>
              <a:rPr sz="2294" dirty="0">
                <a:latin typeface="Arial MT"/>
                <a:cs typeface="Arial MT"/>
              </a:rPr>
              <a:t>distribution,</a:t>
            </a:r>
            <a:r>
              <a:rPr sz="2294" spc="-7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maximum</a:t>
            </a:r>
            <a:r>
              <a:rPr sz="2294" spc="-8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number</a:t>
            </a:r>
            <a:r>
              <a:rPr sz="2294" spc="-7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7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customers</a:t>
            </a:r>
            <a:r>
              <a:rPr sz="2294" spc="-79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20, </a:t>
            </a:r>
            <a:r>
              <a:rPr sz="2294" dirty="0">
                <a:latin typeface="Arial MT"/>
                <a:cs typeface="Arial MT"/>
              </a:rPr>
              <a:t>unlimited</a:t>
            </a:r>
            <a:r>
              <a:rPr sz="2294" spc="-88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</a:t>
            </a:r>
            <a:r>
              <a:rPr sz="2294" spc="-88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population.</a:t>
            </a:r>
            <a:endParaRPr sz="2294">
              <a:latin typeface="Arial MT"/>
              <a:cs typeface="Arial MT"/>
            </a:endParaRPr>
          </a:p>
          <a:p>
            <a:pPr marL="313781" marR="365892" indent="-302575">
              <a:lnSpc>
                <a:spcPct val="80000"/>
              </a:lnSpc>
              <a:spcBef>
                <a:spcPts val="552"/>
              </a:spcBef>
              <a:buClr>
                <a:srgbClr val="CC9A00"/>
              </a:buClr>
              <a:buSzPct val="65384"/>
              <a:buFont typeface="Wingdings"/>
              <a:buChar char=""/>
              <a:tabLst>
                <a:tab pos="313781" algn="l"/>
              </a:tabLst>
            </a:pPr>
            <a:r>
              <a:rPr sz="2294" b="1" spc="-9" dirty="0">
                <a:latin typeface="Arial"/>
                <a:cs typeface="Arial"/>
              </a:rPr>
              <a:t>D/M/1/LIFO/10/50</a:t>
            </a:r>
            <a:r>
              <a:rPr sz="2294" b="1" spc="-49" dirty="0">
                <a:latin typeface="Arial"/>
                <a:cs typeface="Arial"/>
              </a:rPr>
              <a:t> </a:t>
            </a:r>
            <a:r>
              <a:rPr sz="2294" dirty="0">
                <a:latin typeface="Arial MT"/>
                <a:cs typeface="Arial MT"/>
              </a:rPr>
              <a:t>=</a:t>
            </a:r>
            <a:r>
              <a:rPr sz="2294" spc="-6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Deterministic</a:t>
            </a:r>
            <a:r>
              <a:rPr sz="2294" spc="-62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arrivals,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one </a:t>
            </a:r>
            <a:r>
              <a:rPr sz="2294" dirty="0">
                <a:latin typeface="Arial MT"/>
                <a:cs typeface="Arial MT"/>
              </a:rPr>
              <a:t>exponential</a:t>
            </a:r>
            <a:r>
              <a:rPr sz="2294" spc="-3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server,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queue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is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stack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the </a:t>
            </a:r>
            <a:r>
              <a:rPr sz="2294" dirty="0">
                <a:latin typeface="Arial MT"/>
                <a:cs typeface="Arial MT"/>
              </a:rPr>
              <a:t>maximum</a:t>
            </a:r>
            <a:r>
              <a:rPr sz="2294" spc="-6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size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9,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total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number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9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customers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50.</a:t>
            </a:r>
            <a:endParaRPr sz="2294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21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-83724"/>
            <a:ext cx="6615953" cy="1660634"/>
          </a:xfrm>
          <a:prstGeom prst="rect">
            <a:avLst/>
          </a:prstGeom>
        </p:spPr>
        <p:txBody>
          <a:bodyPr vert="horz" wrap="square" lIns="0" tIns="333934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93" dirty="0"/>
              <a:t>Simulation </a:t>
            </a:r>
            <a:r>
              <a:rPr dirty="0"/>
              <a:t>of</a:t>
            </a:r>
            <a:r>
              <a:rPr spc="-101" dirty="0"/>
              <a:t> </a:t>
            </a:r>
            <a:r>
              <a:rPr spc="-40" dirty="0"/>
              <a:t>Queuing</a:t>
            </a:r>
            <a:r>
              <a:rPr spc="-97" dirty="0"/>
              <a:t> </a:t>
            </a:r>
            <a:r>
              <a:rPr spc="-84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9144000" y="979169"/>
                </a:moveTo>
                <a:lnTo>
                  <a:pt x="9144000" y="0"/>
                </a:lnTo>
                <a:lnTo>
                  <a:pt x="0" y="0"/>
                </a:lnTo>
                <a:lnTo>
                  <a:pt x="0" y="979170"/>
                </a:lnTo>
                <a:lnTo>
                  <a:pt x="9144000" y="979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2994659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83" y="4722607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1010770" y="1557428"/>
            <a:ext cx="6976221" cy="3722961"/>
          </a:xfrm>
          <a:prstGeom prst="rect">
            <a:avLst/>
          </a:prstGeom>
        </p:spPr>
        <p:txBody>
          <a:bodyPr vert="horz" wrap="square" lIns="0" tIns="87966" rIns="0" bIns="0" rtlCol="0">
            <a:spAutoFit/>
          </a:bodyPr>
          <a:lstStyle/>
          <a:p>
            <a:pPr marL="11206">
              <a:spcBef>
                <a:spcPts val="693"/>
              </a:spcBef>
            </a:pPr>
            <a:r>
              <a:rPr sz="2471" b="1" dirty="0">
                <a:latin typeface="Arial"/>
                <a:cs typeface="Arial"/>
              </a:rPr>
              <a:t>Measures</a:t>
            </a:r>
            <a:r>
              <a:rPr sz="2471" b="1" spc="-75" dirty="0">
                <a:latin typeface="Arial"/>
                <a:cs typeface="Arial"/>
              </a:rPr>
              <a:t> </a:t>
            </a:r>
            <a:r>
              <a:rPr sz="2471" b="1" dirty="0">
                <a:latin typeface="Arial"/>
                <a:cs typeface="Arial"/>
              </a:rPr>
              <a:t>of</a:t>
            </a:r>
            <a:r>
              <a:rPr sz="2471" b="1" spc="-71" dirty="0">
                <a:latin typeface="Arial"/>
                <a:cs typeface="Arial"/>
              </a:rPr>
              <a:t> </a:t>
            </a:r>
            <a:r>
              <a:rPr sz="2471" b="1" dirty="0">
                <a:latin typeface="Arial"/>
                <a:cs typeface="Arial"/>
              </a:rPr>
              <a:t>system</a:t>
            </a:r>
            <a:r>
              <a:rPr sz="2471" b="1" spc="-75" dirty="0">
                <a:latin typeface="Arial"/>
                <a:cs typeface="Arial"/>
              </a:rPr>
              <a:t> </a:t>
            </a:r>
            <a:r>
              <a:rPr sz="2471" b="1" spc="-9" dirty="0">
                <a:latin typeface="Arial"/>
                <a:cs typeface="Arial"/>
              </a:rPr>
              <a:t>performance</a:t>
            </a:r>
            <a:endParaRPr sz="2471">
              <a:latin typeface="Arial"/>
              <a:cs typeface="Arial"/>
            </a:endParaRPr>
          </a:p>
          <a:p>
            <a:pPr marL="313781" marR="4483" indent="-302575" algn="just">
              <a:spcBef>
                <a:spcPts val="516"/>
              </a:spcBef>
              <a:buClr>
                <a:srgbClr val="CC9A00"/>
              </a:buClr>
              <a:buSzPct val="64583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performance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queuing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evaluated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terms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number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response</a:t>
            </a:r>
            <a:r>
              <a:rPr sz="2118" spc="49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parameters,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however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following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four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generally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employed.</a:t>
            </a:r>
            <a:endParaRPr sz="2118">
              <a:latin typeface="Arial MT"/>
              <a:cs typeface="Arial MT"/>
            </a:endParaRPr>
          </a:p>
          <a:p>
            <a:pPr marL="465069" marR="298653" indent="-453862">
              <a:spcBef>
                <a:spcPts val="507"/>
              </a:spcBef>
              <a:buClr>
                <a:srgbClr val="CC9A00"/>
              </a:buClr>
              <a:buSzPct val="64583"/>
              <a:buAutoNum type="arabicPeriod"/>
              <a:tabLst>
                <a:tab pos="465069" algn="l"/>
              </a:tabLst>
            </a:pP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number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customers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or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the </a:t>
            </a:r>
            <a:r>
              <a:rPr sz="2118" spc="-9" dirty="0">
                <a:latin typeface="Arial MT"/>
                <a:cs typeface="Arial MT"/>
              </a:rPr>
              <a:t>system</a:t>
            </a:r>
            <a:endParaRPr sz="2118">
              <a:latin typeface="Arial MT"/>
              <a:cs typeface="Arial MT"/>
            </a:endParaRPr>
          </a:p>
          <a:p>
            <a:pPr marL="465069" marR="75644" indent="-453862">
              <a:spcBef>
                <a:spcPts val="507"/>
              </a:spcBef>
              <a:buClr>
                <a:srgbClr val="CC9A00"/>
              </a:buClr>
              <a:buSzPct val="64583"/>
              <a:buAutoNum type="arabicPeriod"/>
              <a:tabLst>
                <a:tab pos="465069" algn="l"/>
              </a:tabLst>
            </a:pP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waiting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customers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or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system</a:t>
            </a:r>
            <a:endParaRPr sz="2118">
              <a:latin typeface="Arial MT"/>
              <a:cs typeface="Arial MT"/>
            </a:endParaRPr>
          </a:p>
          <a:p>
            <a:pPr marL="464509" indent="-453302">
              <a:spcBef>
                <a:spcPts val="512"/>
              </a:spcBef>
              <a:buClr>
                <a:srgbClr val="CC9A00"/>
              </a:buClr>
              <a:buSzPct val="64583"/>
              <a:buAutoNum type="arabicPeriod"/>
              <a:tabLst>
                <a:tab pos="464509" algn="l"/>
              </a:tabLst>
            </a:pP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utilization</a:t>
            </a:r>
            <a:endParaRPr sz="2118">
              <a:latin typeface="Arial MT"/>
              <a:cs typeface="Arial MT"/>
            </a:endParaRPr>
          </a:p>
          <a:p>
            <a:pPr marL="464509" indent="-453302">
              <a:spcBef>
                <a:spcPts val="507"/>
              </a:spcBef>
              <a:buClr>
                <a:srgbClr val="CC9A00"/>
              </a:buClr>
              <a:buSzPct val="64583"/>
              <a:buAutoNum type="arabicPeriod"/>
              <a:tabLst>
                <a:tab pos="464509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cost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waiting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&amp;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idle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time</a:t>
            </a:r>
            <a:endParaRPr sz="2118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4497592" y="6115029"/>
            <a:ext cx="149038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213"/>
              </a:lnSpc>
            </a:pPr>
            <a:r>
              <a:rPr sz="1059" spc="-22" dirty="0">
                <a:latin typeface="Times New Roman"/>
                <a:cs typeface="Times New Roman"/>
              </a:rPr>
              <a:t>30</a:t>
            </a:r>
            <a:endParaRPr sz="1059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266522"/>
            <a:ext cx="5755341" cy="1334755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3" dirty="0"/>
              <a:t>Simulation</a:t>
            </a:r>
            <a:r>
              <a:rPr spc="-101" dirty="0"/>
              <a:t> </a:t>
            </a:r>
            <a:r>
              <a:rPr dirty="0"/>
              <a:t>of</a:t>
            </a:r>
            <a:r>
              <a:rPr spc="-101" dirty="0"/>
              <a:t> </a:t>
            </a:r>
            <a:r>
              <a:rPr spc="-31" dirty="0"/>
              <a:t>Queuing</a:t>
            </a:r>
            <a:r>
              <a:rPr spc="-97" dirty="0"/>
              <a:t> </a:t>
            </a:r>
            <a:r>
              <a:rPr spc="-93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3858633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1366446"/>
            <a:ext cx="7103969" cy="409704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dirty="0">
                <a:latin typeface="Arial"/>
                <a:cs typeface="Arial"/>
              </a:rPr>
              <a:t>Measures</a:t>
            </a:r>
            <a:r>
              <a:rPr sz="2118" b="1" spc="-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-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system</a:t>
            </a:r>
            <a:r>
              <a:rPr sz="2118" b="1" spc="-62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performance</a:t>
            </a:r>
            <a:endParaRPr sz="2118">
              <a:latin typeface="Arial"/>
              <a:cs typeface="Arial"/>
            </a:endParaRPr>
          </a:p>
          <a:p>
            <a:pPr>
              <a:spcBef>
                <a:spcPts val="1412"/>
              </a:spcBef>
            </a:pPr>
            <a:endParaRPr sz="2118">
              <a:latin typeface="Arial"/>
              <a:cs typeface="Arial"/>
            </a:endParaRPr>
          </a:p>
          <a:p>
            <a:pPr marL="313221" marR="4483" indent="-302575">
              <a:buClr>
                <a:srgbClr val="CC9A00"/>
              </a:buClr>
              <a:buSzPct val="65384"/>
              <a:buFont typeface="Wingdings"/>
              <a:buChar char=""/>
              <a:tabLst>
                <a:tab pos="313221" algn="l"/>
              </a:tabLst>
            </a:pP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knowledge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average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number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customers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in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queue</a:t>
            </a:r>
            <a:r>
              <a:rPr sz="2294" spc="-3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or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in</a:t>
            </a:r>
            <a:r>
              <a:rPr sz="2294" spc="-3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system</a:t>
            </a:r>
            <a:r>
              <a:rPr sz="2294" spc="-3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helps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to</a:t>
            </a:r>
            <a:r>
              <a:rPr sz="2294" spc="-35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determine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the </a:t>
            </a:r>
            <a:r>
              <a:rPr sz="2294" dirty="0">
                <a:latin typeface="Arial MT"/>
                <a:cs typeface="Arial MT"/>
              </a:rPr>
              <a:t>space</a:t>
            </a:r>
            <a:r>
              <a:rPr sz="2294" spc="-6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requirements</a:t>
            </a:r>
            <a:r>
              <a:rPr sz="2294" spc="-49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waiting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entities.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Also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too </a:t>
            </a:r>
            <a:r>
              <a:rPr sz="2294" dirty="0">
                <a:latin typeface="Arial MT"/>
                <a:cs typeface="Arial MT"/>
              </a:rPr>
              <a:t>long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waiting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line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may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discourage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prospectus </a:t>
            </a:r>
            <a:r>
              <a:rPr sz="2294" dirty="0">
                <a:latin typeface="Arial MT"/>
                <a:cs typeface="Arial MT"/>
              </a:rPr>
              <a:t>customers,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while</a:t>
            </a:r>
            <a:r>
              <a:rPr sz="2294" spc="-57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no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queue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may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suggest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that</a:t>
            </a:r>
            <a:r>
              <a:rPr sz="2294" spc="-53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service </a:t>
            </a:r>
            <a:r>
              <a:rPr sz="2294" dirty="0">
                <a:latin typeface="Arial MT"/>
                <a:cs typeface="Arial MT"/>
              </a:rPr>
              <a:t>offered</a:t>
            </a:r>
            <a:r>
              <a:rPr sz="2294" spc="-3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is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not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good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quality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to</a:t>
            </a:r>
            <a:r>
              <a:rPr sz="2294" spc="-3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attract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customers.</a:t>
            </a:r>
            <a:endParaRPr sz="2294">
              <a:latin typeface="Arial MT"/>
              <a:cs typeface="Arial MT"/>
            </a:endParaRPr>
          </a:p>
          <a:p>
            <a:pPr marL="313781" marR="34740" indent="-302575">
              <a:spcBef>
                <a:spcPts val="552"/>
              </a:spcBef>
              <a:buClr>
                <a:srgbClr val="CC9A00"/>
              </a:buClr>
              <a:buSzPct val="65384"/>
              <a:buFont typeface="Wingdings"/>
              <a:buChar char=""/>
              <a:tabLst>
                <a:tab pos="313781" algn="l"/>
              </a:tabLst>
            </a:pP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knowledge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average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waiting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time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in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queue </a:t>
            </a:r>
            <a:r>
              <a:rPr sz="2294" dirty="0">
                <a:latin typeface="Arial MT"/>
                <a:cs typeface="Arial MT"/>
              </a:rPr>
              <a:t>is</a:t>
            </a:r>
            <a:r>
              <a:rPr sz="2294" spc="-62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necessary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for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determining</a:t>
            </a:r>
            <a:r>
              <a:rPr sz="2294" spc="-31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40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cost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of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dirty="0">
                <a:latin typeface="Arial MT"/>
                <a:cs typeface="Arial MT"/>
              </a:rPr>
              <a:t>waiting</a:t>
            </a:r>
            <a:r>
              <a:rPr sz="2294" spc="-44" dirty="0">
                <a:latin typeface="Arial MT"/>
                <a:cs typeface="Arial MT"/>
              </a:rPr>
              <a:t> </a:t>
            </a:r>
            <a:r>
              <a:rPr sz="2294" spc="-22" dirty="0">
                <a:latin typeface="Arial MT"/>
                <a:cs typeface="Arial MT"/>
              </a:rPr>
              <a:t>in </a:t>
            </a:r>
            <a:r>
              <a:rPr sz="2294" dirty="0">
                <a:latin typeface="Arial MT"/>
                <a:cs typeface="Arial MT"/>
              </a:rPr>
              <a:t>the</a:t>
            </a:r>
            <a:r>
              <a:rPr sz="2294" spc="-26" dirty="0">
                <a:latin typeface="Arial MT"/>
                <a:cs typeface="Arial MT"/>
              </a:rPr>
              <a:t> </a:t>
            </a:r>
            <a:r>
              <a:rPr sz="2294" spc="-9" dirty="0">
                <a:latin typeface="Arial MT"/>
                <a:cs typeface="Arial MT"/>
              </a:rPr>
              <a:t>queue.</a:t>
            </a:r>
            <a:endParaRPr sz="2294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23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-3952"/>
            <a:ext cx="6615953" cy="1501089"/>
          </a:xfrm>
          <a:prstGeom prst="rect">
            <a:avLst/>
          </a:prstGeom>
        </p:spPr>
        <p:txBody>
          <a:bodyPr vert="horz" wrap="square" lIns="0" tIns="175932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93" dirty="0"/>
              <a:t>Simulation</a:t>
            </a:r>
            <a:r>
              <a:rPr spc="-101" dirty="0"/>
              <a:t> </a:t>
            </a:r>
            <a:r>
              <a:rPr dirty="0"/>
              <a:t>of</a:t>
            </a:r>
            <a:r>
              <a:rPr spc="-101" dirty="0"/>
              <a:t> </a:t>
            </a:r>
            <a:r>
              <a:rPr spc="-31" dirty="0"/>
              <a:t>Queuing</a:t>
            </a:r>
            <a:r>
              <a:rPr spc="-97" dirty="0"/>
              <a:t> </a:t>
            </a:r>
            <a:r>
              <a:rPr spc="-93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6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3858632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1010770" y="1760443"/>
            <a:ext cx="7095565" cy="382171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471" b="1" dirty="0">
                <a:latin typeface="Arial"/>
                <a:cs typeface="Arial"/>
              </a:rPr>
              <a:t>System</a:t>
            </a:r>
            <a:r>
              <a:rPr sz="2471" b="1" spc="-84" dirty="0">
                <a:latin typeface="Arial"/>
                <a:cs typeface="Arial"/>
              </a:rPr>
              <a:t> </a:t>
            </a:r>
            <a:r>
              <a:rPr sz="2471" b="1" spc="-9" dirty="0">
                <a:latin typeface="Arial"/>
                <a:cs typeface="Arial"/>
              </a:rPr>
              <a:t>Utilization</a:t>
            </a:r>
            <a:endParaRPr sz="2471">
              <a:latin typeface="Arial"/>
              <a:cs typeface="Arial"/>
            </a:endParaRPr>
          </a:p>
          <a:p>
            <a:pPr marL="313781" marR="4483" indent="-302575">
              <a:lnSpc>
                <a:spcPct val="80000"/>
              </a:lnSpc>
              <a:spcBef>
                <a:spcPts val="516"/>
              </a:spcBef>
              <a:buClr>
                <a:srgbClr val="CC9A00"/>
              </a:buClr>
              <a:buSzPct val="64583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Utilization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percentage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capacity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utilized </a:t>
            </a:r>
            <a:r>
              <a:rPr sz="2118" dirty="0">
                <a:latin typeface="Arial MT"/>
                <a:cs typeface="Arial MT"/>
              </a:rPr>
              <a:t>reflects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extent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which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facility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busy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rather</a:t>
            </a:r>
            <a:r>
              <a:rPr sz="2118" spc="52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than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idle.</a:t>
            </a:r>
            <a:endParaRPr sz="2118">
              <a:latin typeface="Arial MT"/>
              <a:cs typeface="Arial MT"/>
            </a:endParaRPr>
          </a:p>
          <a:p>
            <a:pPr marL="313781" marR="80687" indent="-302575">
              <a:lnSpc>
                <a:spcPct val="80000"/>
              </a:lnSpc>
              <a:spcBef>
                <a:spcPts val="512"/>
              </a:spcBef>
              <a:buClr>
                <a:srgbClr val="CC9A00"/>
              </a:buClr>
              <a:buSzPct val="64583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utilization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factor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(s)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ratio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arrival </a:t>
            </a:r>
            <a:r>
              <a:rPr sz="2118" dirty="0">
                <a:latin typeface="Arial MT"/>
                <a:cs typeface="Arial MT"/>
              </a:rPr>
              <a:t>rate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(</a:t>
            </a:r>
            <a:r>
              <a:rPr sz="2118" dirty="0">
                <a:latin typeface="Microsoft Sans Serif"/>
                <a:cs typeface="Microsoft Sans Serif"/>
              </a:rPr>
              <a:t>λ</a:t>
            </a:r>
            <a:r>
              <a:rPr sz="2118" dirty="0">
                <a:latin typeface="Arial MT"/>
                <a:cs typeface="Arial MT"/>
              </a:rPr>
              <a:t>)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service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rate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(µ).</a:t>
            </a:r>
            <a:endParaRPr sz="2118">
              <a:latin typeface="Arial MT"/>
              <a:cs typeface="Arial MT"/>
            </a:endParaRPr>
          </a:p>
          <a:p>
            <a:pPr marL="233095" marR="1775666"/>
            <a:r>
              <a:rPr sz="2118" dirty="0">
                <a:latin typeface="Arial MT"/>
                <a:cs typeface="Arial MT"/>
              </a:rPr>
              <a:t>S=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Microsoft Sans Serif"/>
                <a:cs typeface="Microsoft Sans Serif"/>
              </a:rPr>
              <a:t>λ</a:t>
            </a:r>
            <a:r>
              <a:rPr sz="2118" dirty="0">
                <a:latin typeface="Arial MT"/>
                <a:cs typeface="Arial MT"/>
              </a:rPr>
              <a:t>/µ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case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single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server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model </a:t>
            </a:r>
            <a:r>
              <a:rPr sz="2118" dirty="0">
                <a:latin typeface="Arial MT"/>
                <a:cs typeface="Arial MT"/>
              </a:rPr>
              <a:t>S=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Microsoft Sans Serif"/>
                <a:cs typeface="Microsoft Sans Serif"/>
              </a:rPr>
              <a:t>λ</a:t>
            </a:r>
            <a:r>
              <a:rPr sz="2118" dirty="0">
                <a:latin typeface="Arial MT"/>
                <a:cs typeface="Arial MT"/>
              </a:rPr>
              <a:t>/µn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case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“n”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server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model</a:t>
            </a:r>
            <a:endParaRPr sz="2118">
              <a:latin typeface="Arial MT"/>
              <a:cs typeface="Arial MT"/>
            </a:endParaRPr>
          </a:p>
          <a:p>
            <a:pPr marL="313221" marR="92453" indent="-302575">
              <a:lnSpc>
                <a:spcPts val="2030"/>
              </a:lnSpc>
              <a:spcBef>
                <a:spcPts val="494"/>
              </a:spcBef>
              <a:buClr>
                <a:srgbClr val="CC9A00"/>
              </a:buClr>
              <a:buSzPct val="64583"/>
              <a:buFont typeface="Wingdings"/>
              <a:buChar char=""/>
              <a:tabLst>
                <a:tab pos="31322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utilization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increased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by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increasing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arrival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rate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which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amounts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increasing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average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length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well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average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waiting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time,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as </a:t>
            </a:r>
            <a:r>
              <a:rPr sz="2118" dirty="0">
                <a:latin typeface="Arial MT"/>
                <a:cs typeface="Arial MT"/>
              </a:rPr>
              <a:t>shown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fig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1.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Under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normal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circumstances</a:t>
            </a:r>
            <a:r>
              <a:rPr sz="2118" spc="485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100%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utilization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not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realistic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goal.</a:t>
            </a:r>
            <a:endParaRPr sz="2118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24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26908"/>
            <a:ext cx="6615953" cy="839370"/>
          </a:xfrm>
          <a:prstGeom prst="rect">
            <a:avLst/>
          </a:prstGeom>
        </p:spPr>
        <p:txBody>
          <a:bodyPr vert="horz" wrap="square" lIns="0" tIns="175932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115" dirty="0"/>
              <a:t>System</a:t>
            </a:r>
            <a:r>
              <a:rPr spc="-106" dirty="0"/>
              <a:t> </a:t>
            </a:r>
            <a:r>
              <a:rPr spc="-71" dirty="0"/>
              <a:t>Utilization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41294" y="1210235"/>
            <a:ext cx="7261412" cy="4706471"/>
            <a:chOff x="914400" y="1371600"/>
            <a:chExt cx="8229600" cy="5334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371600"/>
              <a:ext cx="8153400" cy="49606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4400" y="6620255"/>
              <a:ext cx="8229600" cy="19050"/>
            </a:xfrm>
            <a:custGeom>
              <a:avLst/>
              <a:gdLst/>
              <a:ahLst/>
              <a:cxnLst/>
              <a:rect l="l" t="t" r="r" b="b"/>
              <a:pathLst>
                <a:path w="8229600" h="19050">
                  <a:moveTo>
                    <a:pt x="8229600" y="190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229600" y="1905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6332220"/>
              <a:ext cx="8153400" cy="3733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983071" y="6092414"/>
            <a:ext cx="14903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22" dirty="0">
                <a:latin typeface="Times New Roman"/>
                <a:cs typeface="Times New Roman"/>
              </a:rPr>
              <a:t>33</a:t>
            </a:r>
            <a:endParaRPr sz="105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9124" y="6074931"/>
            <a:ext cx="470647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Arial MT"/>
                <a:cs typeface="Arial MT"/>
              </a:rPr>
              <a:t>Fig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44" dirty="0">
                <a:latin typeface="Arial MT"/>
                <a:cs typeface="Arial MT"/>
              </a:rPr>
              <a:t>1</a:t>
            </a:r>
            <a:endParaRPr sz="158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26908"/>
            <a:ext cx="6615953" cy="839370"/>
          </a:xfrm>
          <a:prstGeom prst="rect">
            <a:avLst/>
          </a:prstGeom>
        </p:spPr>
        <p:txBody>
          <a:bodyPr vert="horz" wrap="square" lIns="0" tIns="175932" rIns="0" bIns="0" rtlCol="0" anchor="ctr">
            <a:spAutoFit/>
          </a:bodyPr>
          <a:lstStyle/>
          <a:p>
            <a:pPr marL="213483">
              <a:spcBef>
                <a:spcPts val="88"/>
              </a:spcBef>
            </a:pPr>
            <a:r>
              <a:rPr spc="-35" dirty="0"/>
              <a:t>Time</a:t>
            </a:r>
            <a:r>
              <a:rPr spc="-168" dirty="0"/>
              <a:t> </a:t>
            </a:r>
            <a:r>
              <a:rPr dirty="0"/>
              <a:t>Oriented</a:t>
            </a:r>
            <a:r>
              <a:rPr spc="-172" dirty="0"/>
              <a:t> </a:t>
            </a:r>
            <a:r>
              <a:rPr spc="-79" dirty="0"/>
              <a:t>Simulation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3858633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273654" y="1837765"/>
            <a:ext cx="6671982" cy="26288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50429" marR="4483" indent="-39783">
              <a:spcBef>
                <a:spcPts val="88"/>
              </a:spcBef>
            </a:pPr>
            <a:r>
              <a:rPr sz="1853" dirty="0">
                <a:latin typeface="Arial MT"/>
                <a:cs typeface="Arial MT"/>
              </a:rPr>
              <a:t>A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factory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has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large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number</a:t>
            </a:r>
            <a:r>
              <a:rPr sz="1853" spc="-40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semiautomatic</a:t>
            </a:r>
            <a:r>
              <a:rPr sz="1853" spc="-40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machines.On</a:t>
            </a:r>
            <a:r>
              <a:rPr sz="1853" spc="-35" dirty="0">
                <a:latin typeface="Arial MT"/>
                <a:cs typeface="Arial MT"/>
              </a:rPr>
              <a:t> </a:t>
            </a:r>
            <a:r>
              <a:rPr sz="1853" spc="-22" dirty="0">
                <a:latin typeface="Arial MT"/>
                <a:cs typeface="Arial MT"/>
              </a:rPr>
              <a:t>50%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working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none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machines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fail.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30%of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spc="-22" dirty="0">
                <a:latin typeface="Arial MT"/>
                <a:cs typeface="Arial MT"/>
              </a:rPr>
              <a:t>the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machines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fails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20%of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two</a:t>
            </a:r>
            <a:r>
              <a:rPr sz="1853" spc="-9" dirty="0">
                <a:latin typeface="Arial MT"/>
                <a:cs typeface="Arial MT"/>
              </a:rPr>
              <a:t> machines </a:t>
            </a:r>
            <a:r>
              <a:rPr sz="1853" dirty="0">
                <a:latin typeface="Arial MT"/>
                <a:cs typeface="Arial MT"/>
              </a:rPr>
              <a:t>fail.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maintenance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staff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average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puts</a:t>
            </a:r>
            <a:r>
              <a:rPr sz="1853" spc="-35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65%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spc="-22" dirty="0">
                <a:latin typeface="Arial MT"/>
                <a:cs typeface="Arial MT"/>
              </a:rPr>
              <a:t>the </a:t>
            </a:r>
            <a:r>
              <a:rPr sz="1853" dirty="0">
                <a:latin typeface="Arial MT"/>
                <a:cs typeface="Arial MT"/>
              </a:rPr>
              <a:t>machines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order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one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day,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30%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in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two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remaining </a:t>
            </a:r>
            <a:r>
              <a:rPr sz="1853" dirty="0">
                <a:latin typeface="Arial MT"/>
                <a:cs typeface="Arial MT"/>
              </a:rPr>
              <a:t>5%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in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three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spc="-18" dirty="0">
                <a:latin typeface="Arial MT"/>
                <a:cs typeface="Arial MT"/>
              </a:rPr>
              <a:t>days.</a:t>
            </a:r>
            <a:endParaRPr sz="1853">
              <a:latin typeface="Arial MT"/>
              <a:cs typeface="Arial MT"/>
            </a:endParaRPr>
          </a:p>
          <a:p>
            <a:pPr marL="50429" marR="577134" indent="-39783" algn="just">
              <a:spcBef>
                <a:spcPts val="441"/>
              </a:spcBef>
            </a:pPr>
            <a:r>
              <a:rPr sz="1853" dirty="0">
                <a:latin typeface="Arial MT"/>
                <a:cs typeface="Arial MT"/>
              </a:rPr>
              <a:t>Simulate</a:t>
            </a:r>
            <a:r>
              <a:rPr sz="1853" spc="-35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system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for</a:t>
            </a:r>
            <a:r>
              <a:rPr sz="1853" spc="-9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30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days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duration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estimate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spc="-22" dirty="0">
                <a:latin typeface="Arial MT"/>
                <a:cs typeface="Arial MT"/>
              </a:rPr>
              <a:t>the </a:t>
            </a:r>
            <a:r>
              <a:rPr sz="1853" dirty="0">
                <a:latin typeface="Arial MT"/>
                <a:cs typeface="Arial MT"/>
              </a:rPr>
              <a:t>average</a:t>
            </a:r>
            <a:r>
              <a:rPr sz="1853" spc="-26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length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queue,</a:t>
            </a:r>
            <a:r>
              <a:rPr sz="1853" spc="-40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average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waiting</a:t>
            </a:r>
            <a:r>
              <a:rPr sz="1853" spc="-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time</a:t>
            </a:r>
            <a:r>
              <a:rPr sz="1853" spc="-4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-31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server </a:t>
            </a:r>
            <a:r>
              <a:rPr sz="1853" dirty="0">
                <a:latin typeface="Arial MT"/>
                <a:cs typeface="Arial MT"/>
              </a:rPr>
              <a:t>loading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that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is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the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fraction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of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time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for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which</a:t>
            </a:r>
            <a:r>
              <a:rPr sz="1853" spc="-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server</a:t>
            </a:r>
            <a:r>
              <a:rPr sz="1853" spc="-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is</a:t>
            </a:r>
            <a:r>
              <a:rPr sz="1853" spc="-4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busy.</a:t>
            </a:r>
            <a:endParaRPr sz="1853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26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48972"/>
            <a:ext cx="6615953" cy="795240"/>
          </a:xfrm>
          <a:prstGeom prst="rect">
            <a:avLst/>
          </a:prstGeom>
        </p:spPr>
        <p:txBody>
          <a:bodyPr vert="horz" wrap="square" lIns="0" tIns="132229" rIns="0" bIns="0" rtlCol="0" anchor="ctr">
            <a:spAutoFit/>
          </a:bodyPr>
          <a:lstStyle/>
          <a:p>
            <a:pPr marL="415199">
              <a:spcBef>
                <a:spcPts val="88"/>
              </a:spcBef>
            </a:pPr>
            <a:r>
              <a:rPr spc="-35" dirty="0"/>
              <a:t>Time</a:t>
            </a:r>
            <a:r>
              <a:rPr spc="-168" dirty="0"/>
              <a:t> </a:t>
            </a:r>
            <a:r>
              <a:rPr dirty="0"/>
              <a:t>Oriented</a:t>
            </a:r>
            <a:r>
              <a:rPr spc="-172" dirty="0"/>
              <a:t> </a:t>
            </a:r>
            <a:r>
              <a:rPr spc="-79"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9702" y="1720372"/>
            <a:ext cx="6577293" cy="4054478"/>
          </a:xfrm>
          <a:prstGeom prst="rect">
            <a:avLst/>
          </a:prstGeom>
        </p:spPr>
        <p:txBody>
          <a:bodyPr vert="horz" wrap="square" lIns="0" tIns="36419" rIns="0" bIns="0" rtlCol="0">
            <a:spAutoFit/>
          </a:bodyPr>
          <a:lstStyle/>
          <a:p>
            <a:pPr marL="246543">
              <a:spcBef>
                <a:spcPts val="287"/>
              </a:spcBef>
            </a:pPr>
            <a:r>
              <a:rPr sz="1677" b="1" spc="-9" dirty="0">
                <a:latin typeface="Arial"/>
                <a:cs typeface="Arial"/>
              </a:rPr>
              <a:t>Solution:</a:t>
            </a:r>
            <a:endParaRPr sz="1677">
              <a:latin typeface="Arial"/>
              <a:cs typeface="Arial"/>
            </a:endParaRPr>
          </a:p>
          <a:p>
            <a:pPr marL="313781" marR="4483" indent="-302575">
              <a:lnSpc>
                <a:spcPts val="1809"/>
              </a:lnSpc>
              <a:spcBef>
                <a:spcPts val="432"/>
              </a:spcBef>
            </a:pP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given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system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single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server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queuing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model.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failure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the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factory</a:t>
            </a:r>
            <a:r>
              <a:rPr sz="1677" spc="-57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generates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arrivals,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while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maintenance </a:t>
            </a:r>
            <a:r>
              <a:rPr sz="1677" dirty="0">
                <a:latin typeface="Arial MT"/>
                <a:cs typeface="Arial MT"/>
              </a:rPr>
              <a:t>staff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service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facility.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There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no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limit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capacity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the </a:t>
            </a:r>
            <a:r>
              <a:rPr sz="1677" dirty="0">
                <a:latin typeface="Arial MT"/>
                <a:cs typeface="Arial MT"/>
              </a:rPr>
              <a:t>system</a:t>
            </a:r>
            <a:r>
              <a:rPr sz="1677" spc="-57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other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words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length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waiting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line.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population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very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large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taken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as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infinite.</a:t>
            </a:r>
            <a:endParaRPr sz="1677">
              <a:latin typeface="Arial MT"/>
              <a:cs typeface="Arial MT"/>
            </a:endParaRPr>
          </a:p>
          <a:p>
            <a:pPr marL="11206" algn="just">
              <a:spcBef>
                <a:spcPts val="180"/>
              </a:spcBef>
            </a:pPr>
            <a:r>
              <a:rPr sz="1677" b="1" dirty="0">
                <a:latin typeface="Arial"/>
                <a:cs typeface="Arial"/>
              </a:rPr>
              <a:t>Arrival </a:t>
            </a:r>
            <a:r>
              <a:rPr sz="1677" b="1" spc="-9" dirty="0">
                <a:latin typeface="Arial"/>
                <a:cs typeface="Arial"/>
              </a:rPr>
              <a:t>pattern:</a:t>
            </a:r>
            <a:endParaRPr sz="1677">
              <a:latin typeface="Arial"/>
              <a:cs typeface="Arial"/>
            </a:endParaRPr>
          </a:p>
          <a:p>
            <a:pPr marL="11206" marR="3862313" indent="-560" algn="just">
              <a:lnSpc>
                <a:spcPct val="110000"/>
              </a:lnSpc>
            </a:pPr>
            <a:r>
              <a:rPr sz="1677" dirty="0">
                <a:latin typeface="Arial MT"/>
                <a:cs typeface="Arial MT"/>
              </a:rPr>
              <a:t>On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50%of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arrival=0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30%of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arrival=1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20%of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arrival=2</a:t>
            </a:r>
            <a:endParaRPr sz="1677">
              <a:latin typeface="Arial MT"/>
              <a:cs typeface="Arial MT"/>
            </a:endParaRPr>
          </a:p>
          <a:p>
            <a:pPr marL="11206" algn="just">
              <a:spcBef>
                <a:spcPts val="202"/>
              </a:spcBef>
            </a:pPr>
            <a:r>
              <a:rPr sz="1677" b="1" dirty="0">
                <a:latin typeface="Arial"/>
                <a:cs typeface="Arial"/>
              </a:rPr>
              <a:t>Expected</a:t>
            </a:r>
            <a:r>
              <a:rPr sz="1677" b="1" spc="-49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arrival</a:t>
            </a:r>
            <a:r>
              <a:rPr sz="1677" b="1" spc="-44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rate</a:t>
            </a:r>
            <a:r>
              <a:rPr sz="1677" spc="-9" dirty="0">
                <a:latin typeface="Arial MT"/>
                <a:cs typeface="Arial MT"/>
              </a:rPr>
              <a:t>=0*.5+1*.3+2*.2=0.7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per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day.</a:t>
            </a:r>
            <a:endParaRPr sz="1677">
              <a:latin typeface="Arial MT"/>
              <a:cs typeface="Arial MT"/>
            </a:endParaRPr>
          </a:p>
          <a:p>
            <a:pPr marL="11206" algn="just">
              <a:spcBef>
                <a:spcPts val="199"/>
              </a:spcBef>
            </a:pPr>
            <a:r>
              <a:rPr sz="1677" b="1" dirty="0">
                <a:latin typeface="Arial"/>
                <a:cs typeface="Arial"/>
              </a:rPr>
              <a:t>Service</a:t>
            </a:r>
            <a:r>
              <a:rPr sz="1677" b="1" spc="-62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pattern:</a:t>
            </a:r>
            <a:endParaRPr sz="1677">
              <a:latin typeface="Arial"/>
              <a:cs typeface="Arial"/>
            </a:endParaRPr>
          </a:p>
          <a:p>
            <a:pPr marL="11206">
              <a:spcBef>
                <a:spcPts val="202"/>
              </a:spcBef>
            </a:pPr>
            <a:r>
              <a:rPr sz="1677" dirty="0">
                <a:latin typeface="Arial MT"/>
                <a:cs typeface="Arial MT"/>
              </a:rPr>
              <a:t>65%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day</a:t>
            </a:r>
            <a:endParaRPr sz="1677">
              <a:latin typeface="Arial MT"/>
              <a:cs typeface="Arial MT"/>
            </a:endParaRPr>
          </a:p>
          <a:p>
            <a:pPr marL="11206">
              <a:spcBef>
                <a:spcPts val="199"/>
              </a:spcBef>
            </a:pPr>
            <a:r>
              <a:rPr sz="1677" dirty="0">
                <a:latin typeface="Arial MT"/>
                <a:cs typeface="Arial MT"/>
              </a:rPr>
              <a:t>30%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days</a:t>
            </a:r>
            <a:endParaRPr sz="1677">
              <a:latin typeface="Arial MT"/>
              <a:cs typeface="Arial MT"/>
            </a:endParaRPr>
          </a:p>
          <a:p>
            <a:pPr marL="11206">
              <a:spcBef>
                <a:spcPts val="202"/>
              </a:spcBef>
            </a:pPr>
            <a:r>
              <a:rPr sz="1677" dirty="0">
                <a:latin typeface="Arial MT"/>
                <a:cs typeface="Arial MT"/>
              </a:rPr>
              <a:t>5%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3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days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1294" y="5841402"/>
            <a:ext cx="7261412" cy="16809"/>
          </a:xfrm>
          <a:custGeom>
            <a:avLst/>
            <a:gdLst/>
            <a:ahLst/>
            <a:cxnLst/>
            <a:rect l="l" t="t" r="r" b="b"/>
            <a:pathLst>
              <a:path w="8229600" h="1905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27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48972"/>
            <a:ext cx="6615953" cy="795240"/>
          </a:xfrm>
          <a:prstGeom prst="rect">
            <a:avLst/>
          </a:prstGeom>
        </p:spPr>
        <p:txBody>
          <a:bodyPr vert="horz" wrap="square" lIns="0" tIns="132229" rIns="0" bIns="0" rtlCol="0" anchor="ctr">
            <a:spAutoFit/>
          </a:bodyPr>
          <a:lstStyle/>
          <a:p>
            <a:pPr marL="415199">
              <a:spcBef>
                <a:spcPts val="88"/>
              </a:spcBef>
            </a:pPr>
            <a:r>
              <a:rPr spc="-35" dirty="0"/>
              <a:t>Time</a:t>
            </a:r>
            <a:r>
              <a:rPr spc="-168" dirty="0"/>
              <a:t> </a:t>
            </a:r>
            <a:r>
              <a:rPr dirty="0"/>
              <a:t>Oriented</a:t>
            </a:r>
            <a:r>
              <a:rPr spc="-172" dirty="0"/>
              <a:t> </a:t>
            </a:r>
            <a:r>
              <a:rPr spc="-79" dirty="0"/>
              <a:t>Simulation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994659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4" name="object 4"/>
          <p:cNvGrpSpPr/>
          <p:nvPr/>
        </p:nvGrpSpPr>
        <p:grpSpPr>
          <a:xfrm>
            <a:off x="537883" y="5586581"/>
            <a:ext cx="8068235" cy="868456"/>
            <a:chOff x="457200" y="6331458"/>
            <a:chExt cx="9144000" cy="984250"/>
          </a:xfrm>
        </p:grpSpPr>
        <p:sp>
          <p:nvSpPr>
            <p:cNvPr id="5" name="object 5"/>
            <p:cNvSpPr/>
            <p:nvPr/>
          </p:nvSpPr>
          <p:spPr>
            <a:xfrm>
              <a:off x="457200" y="6331458"/>
              <a:ext cx="9144000" cy="984250"/>
            </a:xfrm>
            <a:custGeom>
              <a:avLst/>
              <a:gdLst/>
              <a:ahLst/>
              <a:cxnLst/>
              <a:rect l="l" t="t" r="r" b="b"/>
              <a:pathLst>
                <a:path w="9144000" h="984250">
                  <a:moveTo>
                    <a:pt x="9144000" y="98374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83742"/>
                  </a:lnTo>
                  <a:lnTo>
                    <a:pt x="9144000" y="9837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6620256"/>
              <a:ext cx="8229600" cy="19050"/>
            </a:xfrm>
            <a:custGeom>
              <a:avLst/>
              <a:gdLst/>
              <a:ahLst/>
              <a:cxnLst/>
              <a:rect l="l" t="t" r="r" b="b"/>
              <a:pathLst>
                <a:path w="8229600" h="19050">
                  <a:moveTo>
                    <a:pt x="8229600" y="190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229600" y="1905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28</a:t>
            </a:fld>
            <a:endParaRPr spc="-22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0AE66B-E2EE-EF39-6978-D6EA0597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18" y="1107635"/>
            <a:ext cx="7751961" cy="4619627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2476" y="376088"/>
            <a:ext cx="3889001" cy="934645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spc="-26" dirty="0"/>
              <a:t>Time</a:t>
            </a:r>
            <a:r>
              <a:rPr sz="3000" spc="-159" dirty="0"/>
              <a:t> </a:t>
            </a:r>
            <a:r>
              <a:rPr sz="3000" dirty="0"/>
              <a:t>Oriented</a:t>
            </a:r>
            <a:r>
              <a:rPr sz="3000" spc="-154" dirty="0"/>
              <a:t> </a:t>
            </a:r>
            <a:r>
              <a:rPr sz="3000" spc="-71" dirty="0"/>
              <a:t>Simulation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37883" y="2130685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4722607"/>
            <a:ext cx="8068235" cy="1732429"/>
          </a:xfrm>
          <a:custGeom>
            <a:avLst/>
            <a:gdLst/>
            <a:ahLst/>
            <a:cxnLst/>
            <a:rect l="l" t="t" r="r" b="b"/>
            <a:pathLst>
              <a:path w="9144000" h="196342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62912"/>
                </a:lnTo>
                <a:lnTo>
                  <a:pt x="9144000" y="196291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930088" y="1207770"/>
            <a:ext cx="7283824" cy="4660589"/>
          </a:xfrm>
          <a:prstGeom prst="rect">
            <a:avLst/>
          </a:prstGeom>
        </p:spPr>
        <p:txBody>
          <a:bodyPr vert="horz" wrap="square" lIns="0" tIns="40341" rIns="0" bIns="0" rtlCol="0">
            <a:spAutoFit/>
          </a:bodyPr>
          <a:lstStyle/>
          <a:p>
            <a:pPr marL="528946" marR="377098" indent="-303135">
              <a:lnSpc>
                <a:spcPts val="1809"/>
              </a:lnSpc>
              <a:spcBef>
                <a:spcPts val="318"/>
              </a:spcBef>
              <a:buFont typeface="Wingdings"/>
              <a:buChar char=""/>
              <a:tabLst>
                <a:tab pos="528946" algn="l"/>
                <a:tab pos="587220" algn="l"/>
              </a:tabLst>
            </a:pPr>
            <a:r>
              <a:rPr sz="1059" dirty="0">
                <a:solidFill>
                  <a:srgbClr val="CC9A00"/>
                </a:solidFill>
                <a:latin typeface="Times New Roman"/>
                <a:cs typeface="Times New Roman"/>
              </a:rPr>
              <a:t>	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time-</a:t>
            </a:r>
            <a:r>
              <a:rPr sz="1677" dirty="0">
                <a:latin typeface="Arial MT"/>
                <a:cs typeface="Arial MT"/>
              </a:rPr>
              <a:t>oriented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simulation,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timer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advanced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fixed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steps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at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each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step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system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scanned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updated.</a:t>
            </a:r>
            <a:endParaRPr sz="1677">
              <a:latin typeface="Arial MT"/>
              <a:cs typeface="Arial MT"/>
            </a:endParaRPr>
          </a:p>
          <a:p>
            <a:pPr marL="528386" marR="604590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kept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very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small,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so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that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not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many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events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occur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during </a:t>
            </a:r>
            <a:r>
              <a:rPr sz="1677" dirty="0">
                <a:latin typeface="Arial MT"/>
                <a:cs typeface="Arial MT"/>
              </a:rPr>
              <a:t>this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time.</a:t>
            </a:r>
            <a:endParaRPr sz="1677">
              <a:latin typeface="Arial MT"/>
              <a:cs typeface="Arial MT"/>
            </a:endParaRPr>
          </a:p>
          <a:p>
            <a:pPr marL="528386" marR="425286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All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events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occurring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during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this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small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interval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assumed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occur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end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interval.</a:t>
            </a:r>
            <a:endParaRPr sz="1677">
              <a:latin typeface="Arial MT"/>
              <a:cs typeface="Arial MT"/>
            </a:endParaRPr>
          </a:p>
          <a:p>
            <a:pPr marL="528386" marR="396709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At</a:t>
            </a:r>
            <a:r>
              <a:rPr sz="1677" spc="-57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start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simulation,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system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that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maintenance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facility </a:t>
            </a:r>
            <a:r>
              <a:rPr sz="1677" dirty="0">
                <a:latin typeface="Arial MT"/>
                <a:cs typeface="Arial MT"/>
              </a:rPr>
              <a:t>can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assumed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empty,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with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no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waiting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for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repair.</a:t>
            </a:r>
            <a:endParaRPr sz="1677">
              <a:latin typeface="Arial MT"/>
              <a:cs typeface="Arial MT"/>
            </a:endParaRPr>
          </a:p>
          <a:p>
            <a:pPr marL="528386" indent="-302575">
              <a:spcBef>
                <a:spcPts val="176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On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there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no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machine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repair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facility.</a:t>
            </a:r>
            <a:endParaRPr sz="1677">
              <a:latin typeface="Arial MT"/>
              <a:cs typeface="Arial MT"/>
            </a:endParaRPr>
          </a:p>
          <a:p>
            <a:pPr marL="528386" indent="-302575">
              <a:spcBef>
                <a:spcPts val="202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On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there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arrivals,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queue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made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2.</a:t>
            </a:r>
            <a:endParaRPr sz="1677">
              <a:latin typeface="Arial MT"/>
              <a:cs typeface="Arial MT"/>
            </a:endParaRPr>
          </a:p>
          <a:p>
            <a:pPr marL="528946" marR="438734" indent="-302575">
              <a:lnSpc>
                <a:spcPts val="1809"/>
              </a:lnSpc>
              <a:spcBef>
                <a:spcPts val="427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946" algn="l"/>
              </a:tabLst>
            </a:pPr>
            <a:r>
              <a:rPr sz="1677" dirty="0">
                <a:latin typeface="Arial MT"/>
                <a:cs typeface="Arial MT"/>
              </a:rPr>
              <a:t>Since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service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facility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57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idle,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arrival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put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service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queue </a:t>
            </a:r>
            <a:r>
              <a:rPr sz="1677" dirty="0">
                <a:latin typeface="Arial MT"/>
                <a:cs typeface="Arial MT"/>
              </a:rPr>
              <a:t>becomes</a:t>
            </a:r>
            <a:r>
              <a:rPr sz="1677" spc="-88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1.</a:t>
            </a:r>
            <a:endParaRPr sz="1677">
              <a:latin typeface="Arial MT"/>
              <a:cs typeface="Arial MT"/>
            </a:endParaRPr>
          </a:p>
          <a:p>
            <a:pPr marL="528946" marR="519981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946" algn="l"/>
              </a:tabLst>
            </a:pPr>
            <a:r>
              <a:rPr sz="1677" dirty="0">
                <a:latin typeface="Arial MT"/>
                <a:cs typeface="Arial MT"/>
              </a:rPr>
              <a:t>Server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idle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becomes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waiting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customers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also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day.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Timer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advanced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by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day.</a:t>
            </a:r>
            <a:endParaRPr sz="1677">
              <a:latin typeface="Arial MT"/>
              <a:cs typeface="Arial MT"/>
            </a:endParaRPr>
          </a:p>
          <a:p>
            <a:pPr marL="528386" marR="582177" indent="-302575">
              <a:lnSpc>
                <a:spcPts val="1809"/>
              </a:lnSpc>
              <a:spcBef>
                <a:spcPts val="405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service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time,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</a:t>
            </a:r>
            <a:r>
              <a:rPr sz="1677" spc="-4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decreased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by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when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</a:t>
            </a:r>
            <a:r>
              <a:rPr sz="1677" spc="-5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becomes </a:t>
            </a:r>
            <a:r>
              <a:rPr sz="1677" dirty="0">
                <a:latin typeface="Arial MT"/>
                <a:cs typeface="Arial MT"/>
              </a:rPr>
              <a:t>zero</a:t>
            </a:r>
            <a:r>
              <a:rPr sz="1677" spc="-7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facility</a:t>
            </a:r>
            <a:r>
              <a:rPr sz="1677" spc="-7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becomes</a:t>
            </a:r>
            <a:r>
              <a:rPr sz="1677" spc="-6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idle.</a:t>
            </a:r>
            <a:endParaRPr sz="1677">
              <a:latin typeface="Arial MT"/>
              <a:cs typeface="Arial MT"/>
            </a:endParaRPr>
          </a:p>
          <a:p>
            <a:pPr marL="528386" indent="-302015">
              <a:lnSpc>
                <a:spcPts val="1910"/>
              </a:lnSpc>
              <a:spcBef>
                <a:spcPts val="176"/>
              </a:spcBef>
              <a:buClr>
                <a:srgbClr val="CC9A00"/>
              </a:buClr>
              <a:buSzPct val="63157"/>
              <a:buFont typeface="Wingdings"/>
              <a:buChar char=""/>
              <a:tabLst>
                <a:tab pos="528386" algn="l"/>
              </a:tabLst>
            </a:pPr>
            <a:r>
              <a:rPr sz="1677" dirty="0">
                <a:latin typeface="Arial MT"/>
                <a:cs typeface="Arial MT"/>
              </a:rPr>
              <a:t>Arrivals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generated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which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come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out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1,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it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added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40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the</a:t>
            </a:r>
            <a:endParaRPr sz="1677">
              <a:latin typeface="Arial MT"/>
              <a:cs typeface="Arial MT"/>
            </a:endParaRPr>
          </a:p>
          <a:p>
            <a:pPr marL="11206">
              <a:lnSpc>
                <a:spcPts val="1910"/>
              </a:lnSpc>
              <a:tabLst>
                <a:tab pos="528386" algn="l"/>
                <a:tab pos="7272445" algn="l"/>
              </a:tabLst>
            </a:pPr>
            <a:r>
              <a:rPr sz="1677" u="heavy" dirty="0">
                <a:uFill>
                  <a:solidFill>
                    <a:srgbClr val="CC9900"/>
                  </a:solidFill>
                </a:uFill>
                <a:latin typeface="Arial MT"/>
                <a:cs typeface="Arial MT"/>
              </a:rPr>
              <a:t>	</a:t>
            </a:r>
            <a:r>
              <a:rPr sz="1677" u="heavy" spc="-9" dirty="0">
                <a:uFill>
                  <a:solidFill>
                    <a:srgbClr val="CC9900"/>
                  </a:solidFill>
                </a:uFill>
                <a:latin typeface="Arial MT"/>
                <a:cs typeface="Arial MT"/>
              </a:rPr>
              <a:t>queue.</a:t>
            </a:r>
            <a:r>
              <a:rPr sz="1677" u="heavy" dirty="0">
                <a:uFill>
                  <a:solidFill>
                    <a:srgbClr val="CC9900"/>
                  </a:solidFill>
                </a:uFill>
                <a:latin typeface="Arial MT"/>
                <a:cs typeface="Arial MT"/>
              </a:rPr>
              <a:t>	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29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48972"/>
            <a:ext cx="6615953" cy="795240"/>
          </a:xfrm>
          <a:prstGeom prst="rect">
            <a:avLst/>
          </a:prstGeom>
        </p:spPr>
        <p:txBody>
          <a:bodyPr vert="horz" wrap="square" lIns="0" tIns="132229" rIns="0" bIns="0" rtlCol="0" anchor="ctr">
            <a:spAutoFit/>
          </a:bodyPr>
          <a:lstStyle/>
          <a:p>
            <a:pPr marL="415199">
              <a:spcBef>
                <a:spcPts val="88"/>
              </a:spcBef>
            </a:pPr>
            <a:r>
              <a:rPr spc="-35" dirty="0"/>
              <a:t>Time</a:t>
            </a:r>
            <a:r>
              <a:rPr spc="-168" dirty="0"/>
              <a:t> </a:t>
            </a:r>
            <a:r>
              <a:rPr dirty="0"/>
              <a:t>Oriented</a:t>
            </a:r>
            <a:r>
              <a:rPr spc="-172" dirty="0"/>
              <a:t> </a:t>
            </a:r>
            <a:r>
              <a:rPr spc="-79" dirty="0"/>
              <a:t>Simulation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37883" y="5586581"/>
            <a:ext cx="8068235" cy="868456"/>
            <a:chOff x="457200" y="6331458"/>
            <a:chExt cx="9144000" cy="984250"/>
          </a:xfrm>
        </p:grpSpPr>
        <p:sp>
          <p:nvSpPr>
            <p:cNvPr id="5" name="object 5"/>
            <p:cNvSpPr/>
            <p:nvPr/>
          </p:nvSpPr>
          <p:spPr>
            <a:xfrm>
              <a:off x="457200" y="6331458"/>
              <a:ext cx="9144000" cy="984250"/>
            </a:xfrm>
            <a:custGeom>
              <a:avLst/>
              <a:gdLst/>
              <a:ahLst/>
              <a:cxnLst/>
              <a:rect l="l" t="t" r="r" b="b"/>
              <a:pathLst>
                <a:path w="9144000" h="984250">
                  <a:moveTo>
                    <a:pt x="9144000" y="98374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83742"/>
                  </a:lnTo>
                  <a:lnTo>
                    <a:pt x="9144000" y="9837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6620256"/>
              <a:ext cx="8229600" cy="19050"/>
            </a:xfrm>
            <a:custGeom>
              <a:avLst/>
              <a:gdLst/>
              <a:ahLst/>
              <a:cxnLst/>
              <a:rect l="l" t="t" r="r" b="b"/>
              <a:pathLst>
                <a:path w="8229600" h="19050">
                  <a:moveTo>
                    <a:pt x="8229600" y="190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229600" y="1905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30</a:t>
            </a:fld>
            <a:endParaRPr spc="-22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87DCE9-F0C4-92FA-3C76-89B2C51F7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66" y="1330499"/>
            <a:ext cx="7819314" cy="4256082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7883" y="403412"/>
            <a:ext cx="8068235" cy="5782235"/>
            <a:chOff x="457200" y="457200"/>
            <a:chExt cx="9144000" cy="6553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9144000" cy="58750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6332220"/>
              <a:ext cx="9144000" cy="67818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31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2476" y="222818"/>
            <a:ext cx="5488641" cy="1334755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3" dirty="0"/>
              <a:t>Simulation</a:t>
            </a:r>
            <a:r>
              <a:rPr spc="-53" dirty="0"/>
              <a:t> </a:t>
            </a:r>
            <a:r>
              <a:rPr dirty="0"/>
              <a:t>on</a:t>
            </a:r>
            <a:r>
              <a:rPr spc="-49" dirty="0"/>
              <a:t> </a:t>
            </a:r>
            <a:r>
              <a:rPr spc="-66" dirty="0"/>
              <a:t>queuing</a:t>
            </a:r>
            <a:r>
              <a:rPr spc="-53" dirty="0"/>
              <a:t> </a:t>
            </a:r>
            <a:r>
              <a:rPr spc="-62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5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4" name="object 4"/>
          <p:cNvGrpSpPr/>
          <p:nvPr/>
        </p:nvGrpSpPr>
        <p:grpSpPr>
          <a:xfrm>
            <a:off x="537883" y="4722607"/>
            <a:ext cx="8068235" cy="1732429"/>
            <a:chOff x="457200" y="5352288"/>
            <a:chExt cx="9144000" cy="1963420"/>
          </a:xfrm>
        </p:grpSpPr>
        <p:sp>
          <p:nvSpPr>
            <p:cNvPr id="5" name="object 5"/>
            <p:cNvSpPr/>
            <p:nvPr/>
          </p:nvSpPr>
          <p:spPr>
            <a:xfrm>
              <a:off x="457200" y="5352287"/>
              <a:ext cx="9144000" cy="1963420"/>
            </a:xfrm>
            <a:custGeom>
              <a:avLst/>
              <a:gdLst/>
              <a:ahLst/>
              <a:cxnLst/>
              <a:rect l="l" t="t" r="r" b="b"/>
              <a:pathLst>
                <a:path w="9144000" h="1963420">
                  <a:moveTo>
                    <a:pt x="9144000" y="0"/>
                  </a:moveTo>
                  <a:lnTo>
                    <a:pt x="0" y="0"/>
                  </a:lnTo>
                  <a:lnTo>
                    <a:pt x="0" y="979170"/>
                  </a:lnTo>
                  <a:lnTo>
                    <a:pt x="0" y="979932"/>
                  </a:lnTo>
                  <a:lnTo>
                    <a:pt x="0" y="1962912"/>
                  </a:lnTo>
                  <a:lnTo>
                    <a:pt x="9144000" y="1962912"/>
                  </a:lnTo>
                  <a:lnTo>
                    <a:pt x="9144000" y="979932"/>
                  </a:lnTo>
                  <a:lnTo>
                    <a:pt x="9144000" y="97917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6620255"/>
              <a:ext cx="8229600" cy="19050"/>
            </a:xfrm>
            <a:custGeom>
              <a:avLst/>
              <a:gdLst/>
              <a:ahLst/>
              <a:cxnLst/>
              <a:rect l="l" t="t" r="r" b="b"/>
              <a:pathLst>
                <a:path w="8229600" h="19050">
                  <a:moveTo>
                    <a:pt x="8229600" y="190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229600" y="1905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78858" y="1281225"/>
            <a:ext cx="7022726" cy="4477595"/>
          </a:xfrm>
          <a:prstGeom prst="rect">
            <a:avLst/>
          </a:prstGeom>
        </p:spPr>
        <p:txBody>
          <a:bodyPr vert="horz" wrap="square" lIns="0" tIns="94129" rIns="0" bIns="0" rtlCol="0">
            <a:spAutoFit/>
          </a:bodyPr>
          <a:lstStyle/>
          <a:p>
            <a:pPr marR="298092" algn="ctr">
              <a:spcBef>
                <a:spcPts val="741"/>
              </a:spcBef>
            </a:pPr>
            <a:r>
              <a:rPr sz="2647" b="1" spc="-9" dirty="0">
                <a:latin typeface="Arial"/>
                <a:cs typeface="Arial"/>
              </a:rPr>
              <a:t>Tutorial</a:t>
            </a:r>
            <a:endParaRPr sz="2647">
              <a:latin typeface="Arial"/>
              <a:cs typeface="Arial"/>
            </a:endParaRPr>
          </a:p>
          <a:p>
            <a:pPr marL="11206" marR="4483" indent="25774" algn="just">
              <a:spcBef>
                <a:spcPts val="525"/>
              </a:spcBef>
            </a:pPr>
            <a:r>
              <a:rPr sz="2118" b="1" dirty="0">
                <a:latin typeface="Arial"/>
                <a:cs typeface="Arial"/>
              </a:rPr>
              <a:t>In</a:t>
            </a:r>
            <a:r>
              <a:rPr sz="2118" b="1" spc="17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manufacturing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system</a:t>
            </a:r>
            <a:r>
              <a:rPr sz="2118" b="1" spc="18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parts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are</a:t>
            </a:r>
            <a:r>
              <a:rPr sz="2118" b="1" spc="18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being</a:t>
            </a:r>
            <a:r>
              <a:rPr sz="2118" b="1" spc="17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made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at</a:t>
            </a:r>
            <a:r>
              <a:rPr sz="2118" b="1" spc="180" dirty="0">
                <a:latin typeface="Arial"/>
                <a:cs typeface="Arial"/>
              </a:rPr>
              <a:t> </a:t>
            </a:r>
            <a:r>
              <a:rPr sz="2118" b="1" spc="-44" dirty="0">
                <a:latin typeface="Arial"/>
                <a:cs typeface="Arial"/>
              </a:rPr>
              <a:t>a </a:t>
            </a:r>
            <a:r>
              <a:rPr sz="2118" b="1" dirty="0">
                <a:latin typeface="Arial"/>
                <a:cs typeface="Arial"/>
              </a:rPr>
              <a:t>rate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one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every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6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minutes.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They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are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two</a:t>
            </a:r>
            <a:r>
              <a:rPr sz="2118" b="1" spc="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types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62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and </a:t>
            </a:r>
            <a:r>
              <a:rPr sz="2118" b="1" dirty="0">
                <a:latin typeface="Arial"/>
                <a:cs typeface="Arial"/>
              </a:rPr>
              <a:t>B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and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are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mixed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randomly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with</a:t>
            </a:r>
            <a:r>
              <a:rPr sz="2118" b="1" spc="36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about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10</a:t>
            </a:r>
            <a:r>
              <a:rPr sz="2118" b="1" spc="37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percent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of </a:t>
            </a:r>
            <a:r>
              <a:rPr sz="2118" b="1" dirty="0">
                <a:latin typeface="Arial"/>
                <a:cs typeface="Arial"/>
              </a:rPr>
              <a:t>type</a:t>
            </a:r>
            <a:r>
              <a:rPr sz="2118" b="1" spc="30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B.</a:t>
            </a:r>
            <a:r>
              <a:rPr sz="2118" b="1" spc="30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30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separate</a:t>
            </a:r>
            <a:r>
              <a:rPr sz="2118" b="1" spc="313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inspector</a:t>
            </a:r>
            <a:r>
              <a:rPr sz="2118" b="1" spc="313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is</a:t>
            </a:r>
            <a:r>
              <a:rPr sz="2118" b="1" spc="30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assigned</a:t>
            </a:r>
            <a:r>
              <a:rPr sz="2118" b="1" spc="30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to</a:t>
            </a:r>
            <a:r>
              <a:rPr sz="2118" b="1" spc="304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examine </a:t>
            </a:r>
            <a:r>
              <a:rPr sz="2118" b="1" dirty="0">
                <a:latin typeface="Arial"/>
                <a:cs typeface="Arial"/>
              </a:rPr>
              <a:t>each</a:t>
            </a:r>
            <a:r>
              <a:rPr sz="2118" b="1" spc="37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type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37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parts.</a:t>
            </a:r>
            <a:r>
              <a:rPr sz="2118" b="1" spc="37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inspection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36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takes</a:t>
            </a:r>
            <a:r>
              <a:rPr sz="2118" b="1" spc="371" dirty="0">
                <a:latin typeface="Arial"/>
                <a:cs typeface="Arial"/>
              </a:rPr>
              <a:t> </a:t>
            </a:r>
            <a:r>
              <a:rPr sz="2118" b="1" spc="-44" dirty="0">
                <a:latin typeface="Arial"/>
                <a:cs typeface="Arial"/>
              </a:rPr>
              <a:t>a </a:t>
            </a:r>
            <a:r>
              <a:rPr sz="2118" b="1" dirty="0">
                <a:latin typeface="Arial"/>
                <a:cs typeface="Arial"/>
              </a:rPr>
              <a:t>mean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time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4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minutes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with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standard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deviation</a:t>
            </a:r>
            <a:r>
              <a:rPr sz="2118" b="1" spc="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spc="-44" dirty="0">
                <a:latin typeface="Arial"/>
                <a:cs typeface="Arial"/>
              </a:rPr>
              <a:t>2 </a:t>
            </a:r>
            <a:r>
              <a:rPr sz="2118" b="1" dirty="0">
                <a:latin typeface="Arial"/>
                <a:cs typeface="Arial"/>
              </a:rPr>
              <a:t>minutes</a:t>
            </a:r>
            <a:r>
              <a:rPr sz="2118" b="1" spc="-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, but</a:t>
            </a:r>
            <a:r>
              <a:rPr sz="2118" b="1" spc="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</a:t>
            </a:r>
            <a:r>
              <a:rPr sz="2118" b="1" spc="-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B</a:t>
            </a:r>
            <a:r>
              <a:rPr sz="2118" b="1" spc="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takes a</a:t>
            </a:r>
            <a:r>
              <a:rPr sz="2118" b="1" spc="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mean time 20</a:t>
            </a:r>
            <a:r>
              <a:rPr sz="2118" b="1" spc="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minutes</a:t>
            </a:r>
            <a:r>
              <a:rPr sz="2118" b="1" spc="4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and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standard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deviation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10</a:t>
            </a:r>
            <a:r>
              <a:rPr sz="2118" b="1" spc="40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minutes.</a:t>
            </a:r>
            <a:r>
              <a:rPr sz="2118" b="1" spc="4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Both</a:t>
            </a:r>
            <a:r>
              <a:rPr sz="2118" b="1" spc="397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inspectors </a:t>
            </a:r>
            <a:r>
              <a:rPr sz="2118" b="1" dirty="0">
                <a:latin typeface="Arial"/>
                <a:cs typeface="Arial"/>
              </a:rPr>
              <a:t>reject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about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10%</a:t>
            </a:r>
            <a:r>
              <a:rPr sz="2118" b="1" spc="36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parts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they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inspect.</a:t>
            </a:r>
            <a:r>
              <a:rPr sz="2118" b="1" spc="357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Simulate </a:t>
            </a:r>
            <a:r>
              <a:rPr sz="2118" b="1" dirty="0">
                <a:latin typeface="Arial"/>
                <a:cs typeface="Arial"/>
              </a:rPr>
              <a:t>the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system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for</a:t>
            </a:r>
            <a:r>
              <a:rPr sz="2118" b="1" spc="26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total</a:t>
            </a:r>
            <a:r>
              <a:rPr sz="2118" b="1" spc="26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25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50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type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</a:t>
            </a:r>
            <a:r>
              <a:rPr sz="2118" b="1" spc="260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parts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accepted</a:t>
            </a:r>
            <a:r>
              <a:rPr sz="2118" b="1" spc="256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and </a:t>
            </a:r>
            <a:r>
              <a:rPr sz="2118" b="1" dirty="0">
                <a:latin typeface="Arial"/>
                <a:cs typeface="Arial"/>
              </a:rPr>
              <a:t>determine</a:t>
            </a:r>
            <a:r>
              <a:rPr sz="2118" b="1" spc="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,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idle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time</a:t>
            </a:r>
            <a:r>
              <a:rPr sz="2118" b="1" spc="79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88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inspectors</a:t>
            </a:r>
            <a:r>
              <a:rPr sz="2118" b="1" spc="93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and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average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time</a:t>
            </a:r>
            <a:r>
              <a:rPr sz="2118" b="1" spc="84" dirty="0">
                <a:latin typeface="Arial"/>
                <a:cs typeface="Arial"/>
              </a:rPr>
              <a:t> </a:t>
            </a:r>
            <a:r>
              <a:rPr sz="2118" b="1" spc="-44" dirty="0">
                <a:latin typeface="Arial"/>
                <a:cs typeface="Arial"/>
              </a:rPr>
              <a:t>a </a:t>
            </a:r>
            <a:r>
              <a:rPr sz="2118" b="1" dirty="0">
                <a:latin typeface="Arial"/>
                <a:cs typeface="Arial"/>
              </a:rPr>
              <a:t>part</a:t>
            </a:r>
            <a:r>
              <a:rPr sz="2118" b="1" spc="-35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spends</a:t>
            </a:r>
            <a:r>
              <a:rPr sz="2118" b="1" spc="-26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in</a:t>
            </a:r>
            <a:r>
              <a:rPr sz="2118" b="1" spc="-35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system.</a:t>
            </a:r>
            <a:endParaRPr sz="2118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869680" y="6925793"/>
            <a:ext cx="232409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09220">
              <a:lnSpc>
                <a:spcPts val="1375"/>
              </a:lnSpc>
            </a:pPr>
            <a:fld id="{81D60167-4931-47E6-BA6A-407CBD079E47}" type="slidenum">
              <a:rPr lang="en-US" spc="-50" smtClean="0"/>
              <a:pPr marL="109220">
                <a:lnSpc>
                  <a:spcPts val="1375"/>
                </a:lnSpc>
              </a:pPr>
              <a:t>32</a:t>
            </a:fld>
            <a:endParaRPr spc="-22" dirty="0"/>
          </a:p>
        </p:txBody>
      </p:sp>
    </p:spTree>
  </p:cSld>
  <p:clrMapOvr>
    <a:masterClrMapping/>
  </p:clrMapOvr>
  <p:transition spd="med">
    <p:split orient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Chains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326511"/>
            <a:ext cx="6615953" cy="840162"/>
          </a:xfrm>
          <a:prstGeom prst="rect">
            <a:avLst/>
          </a:prstGeom>
        </p:spPr>
        <p:txBody>
          <a:bodyPr vert="horz" wrap="square" lIns="0" tIns="176717" rIns="0" bIns="0" rtlCol="0" anchor="ctr">
            <a:spAutoFit/>
          </a:bodyPr>
          <a:lstStyle/>
          <a:p>
            <a:pPr marL="145684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9144000" y="979169"/>
                </a:moveTo>
                <a:lnTo>
                  <a:pt x="9144000" y="0"/>
                </a:lnTo>
                <a:lnTo>
                  <a:pt x="0" y="0"/>
                </a:lnTo>
                <a:lnTo>
                  <a:pt x="0" y="979170"/>
                </a:lnTo>
                <a:lnTo>
                  <a:pt x="9144000" y="979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876299" y="1971563"/>
            <a:ext cx="6798049" cy="242101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20732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If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future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independent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the </a:t>
            </a:r>
            <a:r>
              <a:rPr sz="2118" dirty="0">
                <a:latin typeface="Arial MT"/>
                <a:cs typeface="Arial MT"/>
              </a:rPr>
              <a:t>past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only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present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is </a:t>
            </a:r>
            <a:r>
              <a:rPr sz="2118" dirty="0">
                <a:latin typeface="Arial MT"/>
                <a:cs typeface="Arial MT"/>
              </a:rPr>
              <a:t>called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process</a:t>
            </a:r>
            <a:endParaRPr sz="2118">
              <a:latin typeface="Arial MT"/>
              <a:cs typeface="Arial MT"/>
            </a:endParaRPr>
          </a:p>
          <a:p>
            <a:pPr marL="313781" marR="424165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A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discrete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called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Markov chain.</a:t>
            </a:r>
            <a:endParaRPr sz="2118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A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random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with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property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next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only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current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state.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78006" y="692465"/>
            <a:ext cx="3309657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1727946"/>
          </a:xfrm>
          <a:custGeom>
            <a:avLst/>
            <a:gdLst/>
            <a:ahLst/>
            <a:cxnLst/>
            <a:rect l="l" t="t" r="r" b="b"/>
            <a:pathLst>
              <a:path w="9144000" h="1958339">
                <a:moveTo>
                  <a:pt x="9144000" y="0"/>
                </a:moveTo>
                <a:lnTo>
                  <a:pt x="0" y="0"/>
                </a:lnTo>
                <a:lnTo>
                  <a:pt x="0" y="978408"/>
                </a:lnTo>
                <a:lnTo>
                  <a:pt x="0" y="979170"/>
                </a:lnTo>
                <a:lnTo>
                  <a:pt x="0" y="1958340"/>
                </a:lnTo>
                <a:lnTo>
                  <a:pt x="9144000" y="1958340"/>
                </a:lnTo>
                <a:lnTo>
                  <a:pt x="9144000" y="979170"/>
                </a:lnTo>
                <a:lnTo>
                  <a:pt x="9144000" y="97840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3858633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876299" y="1568151"/>
            <a:ext cx="7097246" cy="450479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95815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Since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changes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randomly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generally </a:t>
            </a:r>
            <a:r>
              <a:rPr sz="2118" dirty="0">
                <a:latin typeface="Arial MT"/>
                <a:cs typeface="Arial MT"/>
              </a:rPr>
              <a:t>impossible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predict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exact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the </a:t>
            </a:r>
            <a:r>
              <a:rPr sz="2118" spc="-9" dirty="0">
                <a:latin typeface="Arial MT"/>
                <a:cs typeface="Arial MT"/>
              </a:rPr>
              <a:t>future.</a:t>
            </a:r>
            <a:endParaRPr sz="2118">
              <a:latin typeface="Arial MT"/>
              <a:cs typeface="Arial MT"/>
            </a:endParaRPr>
          </a:p>
          <a:p>
            <a:pPr marL="313781" marR="111504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However,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statistical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properties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system’s</a:t>
            </a:r>
            <a:r>
              <a:rPr sz="2118" spc="-8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future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predicted.</a:t>
            </a:r>
            <a:endParaRPr sz="2118">
              <a:latin typeface="Arial MT"/>
              <a:cs typeface="Arial MT"/>
            </a:endParaRPr>
          </a:p>
          <a:p>
            <a:pPr marL="313781" marR="137840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In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many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applications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these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statistical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properties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that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important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current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only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current state.</a:t>
            </a:r>
            <a:endParaRPr sz="2118">
              <a:latin typeface="Arial MT"/>
              <a:cs typeface="Arial MT"/>
            </a:endParaRPr>
          </a:p>
          <a:p>
            <a:pPr marL="313781" marR="1335812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M/M/m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modeled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using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Markov processes.</a:t>
            </a:r>
            <a:endParaRPr sz="2118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spent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by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job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such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Markov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number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jobs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queue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Markov chain.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70" y="2128220"/>
            <a:ext cx="6470276" cy="1650150"/>
          </a:xfrm>
          <a:prstGeom prst="rect">
            <a:avLst/>
          </a:prstGeom>
        </p:spPr>
        <p:txBody>
          <a:bodyPr vert="horz" wrap="square" lIns="0" tIns="59391" rIns="0" bIns="0" rtlCol="0">
            <a:spAutoFit/>
          </a:bodyPr>
          <a:lstStyle/>
          <a:p>
            <a:pPr marL="313781" marR="4483" indent="-302575">
              <a:lnSpc>
                <a:spcPts val="3053"/>
              </a:lnSpc>
              <a:spcBef>
                <a:spcPts val="46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824" dirty="0">
                <a:latin typeface="Arial MT"/>
                <a:cs typeface="Arial MT"/>
              </a:rPr>
              <a:t>A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simple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example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nonreturning </a:t>
            </a:r>
            <a:r>
              <a:rPr sz="2824" dirty="0">
                <a:latin typeface="Arial MT"/>
                <a:cs typeface="Arial MT"/>
              </a:rPr>
              <a:t>random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walk,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where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walkers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spc="-22" dirty="0">
                <a:latin typeface="Arial MT"/>
                <a:cs typeface="Arial MT"/>
              </a:rPr>
              <a:t>are </a:t>
            </a:r>
            <a:r>
              <a:rPr sz="2824" dirty="0">
                <a:latin typeface="Arial MT"/>
                <a:cs typeface="Arial MT"/>
              </a:rPr>
              <a:t>restricted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not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go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back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location </a:t>
            </a:r>
            <a:r>
              <a:rPr sz="2824" dirty="0">
                <a:latin typeface="Arial MT"/>
                <a:cs typeface="Arial MT"/>
              </a:rPr>
              <a:t>just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previously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visited.</a:t>
            </a:r>
            <a:endParaRPr sz="2824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994659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2171252"/>
            <a:ext cx="6889937" cy="131456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781" marR="4483" indent="-302575">
              <a:spcBef>
                <a:spcPts val="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824" dirty="0">
                <a:latin typeface="Arial MT"/>
                <a:cs typeface="Arial MT"/>
              </a:rPr>
              <a:t>Markov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chains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mathematical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tools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spc="-22" dirty="0">
                <a:latin typeface="Arial MT"/>
                <a:cs typeface="Arial MT"/>
              </a:rPr>
              <a:t>for </a:t>
            </a:r>
            <a:r>
              <a:rPr sz="2824" dirty="0">
                <a:latin typeface="Arial MT"/>
                <a:cs typeface="Arial MT"/>
              </a:rPr>
              <a:t>statistical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modeling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in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modern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applied </a:t>
            </a:r>
            <a:r>
              <a:rPr sz="2824" dirty="0">
                <a:latin typeface="Arial MT"/>
                <a:cs typeface="Arial MT"/>
              </a:rPr>
              <a:t>mathematics,</a:t>
            </a:r>
            <a:r>
              <a:rPr sz="2824" spc="-6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information</a:t>
            </a:r>
            <a:r>
              <a:rPr sz="2824" spc="-53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science</a:t>
            </a:r>
            <a:endParaRPr sz="2824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Why</a:t>
            </a:r>
            <a:r>
              <a:rPr spc="-97" dirty="0"/>
              <a:t> </a:t>
            </a:r>
            <a:r>
              <a:rPr dirty="0"/>
              <a:t>Study</a:t>
            </a:r>
            <a:r>
              <a:rPr spc="-84" dirty="0"/>
              <a:t> </a:t>
            </a:r>
            <a:r>
              <a:rPr dirty="0"/>
              <a:t>Markov</a:t>
            </a:r>
            <a:r>
              <a:rPr spc="-97" dirty="0"/>
              <a:t> </a:t>
            </a:r>
            <a:r>
              <a:rPr spc="-9" dirty="0"/>
              <a:t>Chains?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994659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10770" y="2171252"/>
            <a:ext cx="6948206" cy="131456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781" marR="4483" indent="-302575">
              <a:spcBef>
                <a:spcPts val="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824" dirty="0">
                <a:latin typeface="Arial MT"/>
                <a:cs typeface="Arial MT"/>
              </a:rPr>
              <a:t>Markov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chains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are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used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analyze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trends </a:t>
            </a:r>
            <a:r>
              <a:rPr sz="2824" dirty="0">
                <a:latin typeface="Arial MT"/>
                <a:cs typeface="Arial MT"/>
              </a:rPr>
              <a:t>and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predict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future.</a:t>
            </a:r>
            <a:r>
              <a:rPr sz="2824" spc="-26" dirty="0">
                <a:latin typeface="Arial MT"/>
                <a:cs typeface="Arial MT"/>
              </a:rPr>
              <a:t>  </a:t>
            </a:r>
            <a:r>
              <a:rPr sz="2824" dirty="0">
                <a:latin typeface="Arial MT"/>
                <a:cs typeface="Arial MT"/>
              </a:rPr>
              <a:t>(Weather,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stock </a:t>
            </a:r>
            <a:r>
              <a:rPr sz="2824" dirty="0">
                <a:latin typeface="Arial MT"/>
                <a:cs typeface="Arial MT"/>
              </a:rPr>
              <a:t>market,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genetics,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product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success,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spc="-18" dirty="0">
                <a:latin typeface="Arial MT"/>
                <a:cs typeface="Arial MT"/>
              </a:rPr>
              <a:t>etc.</a:t>
            </a:r>
            <a:endParaRPr sz="2824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1123" y="2240504"/>
            <a:ext cx="7192496" cy="29852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68097" marR="230853">
              <a:spcBef>
                <a:spcPts val="88"/>
              </a:spcBef>
            </a:pPr>
            <a:r>
              <a:rPr sz="2118" dirty="0">
                <a:latin typeface="Arial MT"/>
                <a:cs typeface="Arial MT"/>
              </a:rPr>
              <a:t>As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have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discussed,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view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stochastic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process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sequence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random</a:t>
            </a:r>
            <a:r>
              <a:rPr sz="2118" spc="49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variables</a:t>
            </a:r>
            <a:endParaRPr sz="2118">
              <a:latin typeface="Arial MT"/>
              <a:cs typeface="Arial MT"/>
            </a:endParaRPr>
          </a:p>
          <a:p>
            <a:pPr marL="1512875">
              <a:spcBef>
                <a:spcPts val="741"/>
              </a:spcBef>
            </a:pPr>
            <a:r>
              <a:rPr sz="2118" dirty="0">
                <a:latin typeface="Arial MT"/>
                <a:cs typeface="Arial MT"/>
              </a:rPr>
              <a:t>{X</a:t>
            </a:r>
            <a:r>
              <a:rPr sz="2118" baseline="-20833" dirty="0">
                <a:latin typeface="Arial MT"/>
                <a:cs typeface="Arial MT"/>
              </a:rPr>
              <a:t>1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2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3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4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5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6</a:t>
            </a:r>
            <a:r>
              <a:rPr sz="2118" dirty="0">
                <a:latin typeface="Arial MT"/>
                <a:cs typeface="Arial MT"/>
              </a:rPr>
              <a:t>,X</a:t>
            </a:r>
            <a:r>
              <a:rPr sz="2118" baseline="-20833" dirty="0">
                <a:latin typeface="Arial MT"/>
                <a:cs typeface="Arial MT"/>
              </a:rPr>
              <a:t>7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.}</a:t>
            </a:r>
            <a:endParaRPr sz="2118">
              <a:latin typeface="Arial MT"/>
              <a:cs typeface="Arial MT"/>
            </a:endParaRPr>
          </a:p>
          <a:p>
            <a:pPr marL="504292" marR="237017">
              <a:spcBef>
                <a:spcPts val="1165"/>
              </a:spcBef>
            </a:pPr>
            <a:r>
              <a:rPr sz="2118" dirty="0">
                <a:latin typeface="Arial MT"/>
                <a:cs typeface="Arial MT"/>
              </a:rPr>
              <a:t>Suppose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7</a:t>
            </a:r>
            <a:r>
              <a:rPr sz="2118" spc="212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only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6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6</a:t>
            </a:r>
            <a:r>
              <a:rPr sz="2118" spc="205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only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5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5</a:t>
            </a:r>
            <a:r>
              <a:rPr sz="2118" spc="238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4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so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forth.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general,</a:t>
            </a:r>
            <a:r>
              <a:rPr sz="2118" spc="-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if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for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all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i,j,n,</a:t>
            </a:r>
            <a:endParaRPr sz="2118">
              <a:latin typeface="Arial MT"/>
              <a:cs typeface="Arial MT"/>
            </a:endParaRPr>
          </a:p>
          <a:p>
            <a:pPr marL="33619">
              <a:spcBef>
                <a:spcPts val="1271"/>
              </a:spcBef>
            </a:pPr>
            <a:r>
              <a:rPr sz="2118" dirty="0">
                <a:latin typeface="Arial MT"/>
                <a:cs typeface="Arial MT"/>
              </a:rPr>
              <a:t>P(X</a:t>
            </a:r>
            <a:r>
              <a:rPr sz="2118" baseline="-20833" dirty="0">
                <a:latin typeface="Arial MT"/>
                <a:cs typeface="Arial MT"/>
              </a:rPr>
              <a:t>n+1</a:t>
            </a:r>
            <a:r>
              <a:rPr sz="2118" spc="258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9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j</a:t>
            </a:r>
            <a:r>
              <a:rPr sz="2118" dirty="0">
                <a:latin typeface="Arial MT"/>
                <a:cs typeface="Arial MT"/>
              </a:rPr>
              <a:t>|x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spc="271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9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baseline="-20833" dirty="0">
                <a:latin typeface="Microsoft Sans Serif"/>
                <a:cs typeface="Microsoft Sans Serif"/>
              </a:rPr>
              <a:t>−</a:t>
            </a:r>
            <a:r>
              <a:rPr sz="2118" baseline="-20833" dirty="0">
                <a:latin typeface="Arial MT"/>
                <a:cs typeface="Arial MT"/>
              </a:rPr>
              <a:t>1</a:t>
            </a:r>
            <a:r>
              <a:rPr sz="2118" spc="-6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13" dirty="0">
                <a:latin typeface="Arial MT"/>
                <a:cs typeface="Arial MT"/>
              </a:rPr>
              <a:t> 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baseline="-20833" dirty="0">
                <a:latin typeface="Microsoft Sans Serif"/>
                <a:cs typeface="Microsoft Sans Serif"/>
              </a:rPr>
              <a:t>−</a:t>
            </a:r>
            <a:r>
              <a:rPr sz="2118" baseline="-20833" dirty="0">
                <a:latin typeface="Arial MT"/>
                <a:cs typeface="Arial MT"/>
              </a:rPr>
              <a:t>1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.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x</a:t>
            </a:r>
            <a:r>
              <a:rPr sz="2118" baseline="-20833" dirty="0">
                <a:latin typeface="Arial MT"/>
                <a:cs typeface="Arial MT"/>
              </a:rPr>
              <a:t>0</a:t>
            </a:r>
            <a:r>
              <a:rPr sz="2118" spc="278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0</a:t>
            </a:r>
            <a:r>
              <a:rPr sz="2118" dirty="0">
                <a:latin typeface="Arial MT"/>
                <a:cs typeface="Arial MT"/>
              </a:rPr>
              <a:t>) =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P(X</a:t>
            </a:r>
            <a:r>
              <a:rPr sz="2118" baseline="-20833" dirty="0">
                <a:latin typeface="Arial MT"/>
                <a:cs typeface="Arial MT"/>
              </a:rPr>
              <a:t>n+1</a:t>
            </a:r>
            <a:r>
              <a:rPr sz="2118" spc="271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j</a:t>
            </a:r>
            <a:r>
              <a:rPr sz="2118" dirty="0">
                <a:latin typeface="Arial MT"/>
                <a:cs typeface="Arial MT"/>
              </a:rPr>
              <a:t>|X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spc="278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i="1" spc="-18" dirty="0">
                <a:latin typeface="Arial"/>
                <a:cs typeface="Arial"/>
              </a:rPr>
              <a:t>i</a:t>
            </a:r>
            <a:r>
              <a:rPr sz="2118" spc="-26" baseline="-20833" dirty="0">
                <a:latin typeface="Arial MT"/>
                <a:cs typeface="Arial MT"/>
              </a:rPr>
              <a:t>n</a:t>
            </a:r>
            <a:r>
              <a:rPr sz="2118" spc="-18" dirty="0">
                <a:latin typeface="Arial MT"/>
                <a:cs typeface="Arial MT"/>
              </a:rPr>
              <a:t>),</a:t>
            </a:r>
            <a:endParaRPr sz="2118">
              <a:latin typeface="Arial MT"/>
              <a:cs typeface="Arial MT"/>
            </a:endParaRPr>
          </a:p>
          <a:p>
            <a:pPr marL="302575">
              <a:spcBef>
                <a:spcPts val="2224"/>
              </a:spcBef>
            </a:pPr>
            <a:r>
              <a:rPr sz="2118" dirty="0">
                <a:latin typeface="Arial MT"/>
                <a:cs typeface="Arial MT"/>
              </a:rPr>
              <a:t>then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this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what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</a:t>
            </a:r>
            <a:r>
              <a:rPr sz="1588" spc="-9" dirty="0">
                <a:latin typeface="Arial MT"/>
                <a:cs typeface="Arial MT"/>
              </a:rPr>
              <a:t>.</a:t>
            </a:r>
            <a:endParaRPr sz="158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258620"/>
            <a:ext cx="6615953" cy="975946"/>
          </a:xfrm>
          <a:prstGeom prst="rect">
            <a:avLst/>
          </a:prstGeom>
        </p:spPr>
        <p:txBody>
          <a:bodyPr vert="horz" wrap="square" lIns="0" tIns="311187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1727946"/>
          </a:xfrm>
          <a:custGeom>
            <a:avLst/>
            <a:gdLst/>
            <a:ahLst/>
            <a:cxnLst/>
            <a:rect l="l" t="t" r="r" b="b"/>
            <a:pathLst>
              <a:path w="9144000" h="1958339">
                <a:moveTo>
                  <a:pt x="9144000" y="0"/>
                </a:moveTo>
                <a:lnTo>
                  <a:pt x="0" y="0"/>
                </a:lnTo>
                <a:lnTo>
                  <a:pt x="0" y="978408"/>
                </a:lnTo>
                <a:lnTo>
                  <a:pt x="0" y="979170"/>
                </a:lnTo>
                <a:lnTo>
                  <a:pt x="0" y="1958340"/>
                </a:lnTo>
                <a:lnTo>
                  <a:pt x="9144000" y="1958340"/>
                </a:lnTo>
                <a:lnTo>
                  <a:pt x="9144000" y="979170"/>
                </a:lnTo>
                <a:lnTo>
                  <a:pt x="9144000" y="97840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775448" y="1904328"/>
            <a:ext cx="7454713" cy="164092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826" marR="38102" indent="-7284">
              <a:spcBef>
                <a:spcPts val="88"/>
              </a:spcBef>
              <a:buSzPct val="95833"/>
              <a:buChar char="•"/>
              <a:tabLst>
                <a:tab pos="138400" algn="l"/>
              </a:tabLst>
            </a:pPr>
            <a:r>
              <a:rPr sz="2118" dirty="0">
                <a:latin typeface="Arial MT"/>
                <a:cs typeface="Arial MT"/>
              </a:rPr>
              <a:t>	The</a:t>
            </a:r>
            <a:r>
              <a:rPr sz="2118" spc="-8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conditional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above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gives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us</a:t>
            </a:r>
            <a:r>
              <a:rPr sz="2118" spc="-8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that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n</a:t>
            </a:r>
            <a:r>
              <a:rPr sz="2118" spc="244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moves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</a:t>
            </a:r>
            <a:r>
              <a:rPr sz="2118" baseline="-20833" dirty="0">
                <a:latin typeface="Arial MT"/>
                <a:cs typeface="Arial MT"/>
              </a:rPr>
              <a:t>n+1</a:t>
            </a:r>
            <a:r>
              <a:rPr sz="2118" spc="244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+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1.</a:t>
            </a:r>
            <a:endParaRPr sz="2118">
              <a:latin typeface="Arial MT"/>
              <a:cs typeface="Arial MT"/>
            </a:endParaRPr>
          </a:p>
          <a:p>
            <a:pPr marL="44826"/>
            <a:r>
              <a:rPr sz="2118" dirty="0">
                <a:latin typeface="Arial MT"/>
                <a:cs typeface="Arial MT"/>
              </a:rPr>
              <a:t>•We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this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for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chain.</a:t>
            </a:r>
            <a:endParaRPr sz="2118">
              <a:latin typeface="Arial MT"/>
              <a:cs typeface="Arial MT"/>
            </a:endParaRPr>
          </a:p>
          <a:p>
            <a:pPr marL="44826" marR="41464" indent="-7284">
              <a:buSzPct val="95833"/>
              <a:buChar char="•"/>
              <a:tabLst>
                <a:tab pos="138400" algn="l"/>
              </a:tabLst>
            </a:pPr>
            <a:r>
              <a:rPr sz="2118" dirty="0">
                <a:latin typeface="Arial MT"/>
                <a:cs typeface="Arial MT"/>
              </a:rPr>
              <a:t>	If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does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time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we </a:t>
            </a:r>
            <a:r>
              <a:rPr sz="2118" dirty="0">
                <a:latin typeface="Arial MT"/>
                <a:cs typeface="Arial MT"/>
              </a:rPr>
              <a:t>have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stationary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chain,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with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probabilities</a:t>
            </a:r>
            <a:endParaRPr sz="2118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2861" y="3936401"/>
            <a:ext cx="3744220" cy="3083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12475" y="4528520"/>
            <a:ext cx="56018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Arial MT"/>
                <a:cs typeface="Arial MT"/>
              </a:rPr>
              <a:t>Now</a:t>
            </a:r>
            <a:r>
              <a:rPr sz="1588" spc="-18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we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can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write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down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the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whole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Markov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chain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as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a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matrix</a:t>
            </a:r>
            <a:r>
              <a:rPr sz="1588" spc="-4" dirty="0">
                <a:latin typeface="Arial MT"/>
                <a:cs typeface="Arial MT"/>
              </a:rPr>
              <a:t> </a:t>
            </a:r>
            <a:r>
              <a:rPr sz="1588" spc="-22" dirty="0">
                <a:latin typeface="Arial MT"/>
                <a:cs typeface="Arial MT"/>
              </a:rPr>
              <a:t>P:</a:t>
            </a:r>
            <a:endParaRPr sz="1588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7883" y="4722607"/>
            <a:ext cx="8068235" cy="1732429"/>
            <a:chOff x="457200" y="5352288"/>
            <a:chExt cx="9144000" cy="1963420"/>
          </a:xfrm>
        </p:grpSpPr>
        <p:sp>
          <p:nvSpPr>
            <p:cNvPr id="8" name="object 8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5763006"/>
              <a:ext cx="3257550" cy="155219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split orient="vert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3235" y="2891118"/>
            <a:ext cx="3227294" cy="3361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3765177"/>
            <a:ext cx="3361765" cy="2689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3235" y="4504765"/>
            <a:ext cx="3429000" cy="3361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0770" y="2240504"/>
            <a:ext cx="6805893" cy="292533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781" marR="4483" indent="-302575">
              <a:lnSpc>
                <a:spcPct val="106300"/>
              </a:lnSpc>
              <a:spcBef>
                <a:spcPts val="84"/>
              </a:spcBef>
              <a:buFont typeface="Wingdings"/>
              <a:buChar char=""/>
              <a:tabLst>
                <a:tab pos="313781" algn="l"/>
                <a:tab pos="412398" algn="l"/>
              </a:tabLst>
            </a:pPr>
            <a:r>
              <a:rPr sz="2118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going</a:t>
            </a:r>
            <a:r>
              <a:rPr sz="2118" spc="-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i="1" spc="-31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j</a:t>
            </a:r>
            <a:r>
              <a:rPr sz="2118" i="1" spc="-31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n</a:t>
            </a:r>
            <a:r>
              <a:rPr sz="2118" i="1" spc="-35" dirty="0">
                <a:latin typeface="Arial"/>
                <a:cs typeface="Arial"/>
              </a:rPr>
              <a:t> </a:t>
            </a:r>
            <a:r>
              <a:rPr sz="2118" spc="-18" dirty="0">
                <a:latin typeface="Arial MT"/>
                <a:cs typeface="Arial MT"/>
              </a:rPr>
              <a:t>time </a:t>
            </a:r>
            <a:r>
              <a:rPr sz="2118" dirty="0">
                <a:latin typeface="Arial MT"/>
                <a:cs typeface="Arial MT"/>
              </a:rPr>
              <a:t>steps</a:t>
            </a:r>
            <a:r>
              <a:rPr sz="2118" spc="-75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is</a:t>
            </a:r>
            <a:endParaRPr sz="2118">
              <a:latin typeface="Arial MT"/>
              <a:cs typeface="Arial MT"/>
            </a:endParaRPr>
          </a:p>
          <a:p>
            <a:pPr>
              <a:spcBef>
                <a:spcPts val="1125"/>
              </a:spcBef>
              <a:buFont typeface="Wingdings"/>
              <a:buChar char=""/>
            </a:pPr>
            <a:endParaRPr sz="2118">
              <a:latin typeface="Arial MT"/>
              <a:cs typeface="Arial MT"/>
            </a:endParaRPr>
          </a:p>
          <a:p>
            <a:pPr marL="456104"/>
            <a:r>
              <a:rPr sz="2118" dirty="0">
                <a:latin typeface="Arial MT"/>
                <a:cs typeface="Arial MT"/>
              </a:rPr>
              <a:t>and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single-</a:t>
            </a:r>
            <a:r>
              <a:rPr sz="2118" dirty="0">
                <a:latin typeface="Arial MT"/>
                <a:cs typeface="Arial MT"/>
              </a:rPr>
              <a:t>step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is</a:t>
            </a:r>
            <a:endParaRPr sz="2118">
              <a:latin typeface="Arial MT"/>
              <a:cs typeface="Arial MT"/>
            </a:endParaRPr>
          </a:p>
          <a:p>
            <a:pPr marL="313221" marR="1729720" indent="-302575">
              <a:lnSpc>
                <a:spcPct val="240000"/>
              </a:lnSpc>
              <a:buClr>
                <a:srgbClr val="00007C"/>
              </a:buClr>
              <a:buSzPct val="75000"/>
              <a:buFont typeface="Wingdings"/>
              <a:buChar char=""/>
              <a:tabLst>
                <a:tab pos="530067" algn="l"/>
              </a:tabLst>
            </a:pPr>
            <a:r>
              <a:rPr sz="2118" dirty="0">
                <a:latin typeface="Arial MT"/>
                <a:cs typeface="Arial MT"/>
              </a:rPr>
              <a:t>For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time-</a:t>
            </a:r>
            <a:r>
              <a:rPr sz="2118" spc="-9" dirty="0">
                <a:latin typeface="Arial MT"/>
                <a:cs typeface="Arial MT"/>
              </a:rPr>
              <a:t>homogeneous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chain: 	</a:t>
            </a:r>
            <a:r>
              <a:rPr sz="2118" spc="-22" dirty="0">
                <a:latin typeface="Arial MT"/>
                <a:cs typeface="Arial MT"/>
              </a:rPr>
              <a:t>and</a:t>
            </a:r>
            <a:endParaRPr sz="2118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7706" y="5244353"/>
            <a:ext cx="3496235" cy="336176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876017"/>
            <a:ext cx="6932519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Key</a:t>
            </a:r>
            <a:r>
              <a:rPr spc="-97" dirty="0"/>
              <a:t> </a:t>
            </a:r>
            <a:r>
              <a:rPr dirty="0"/>
              <a:t>Features</a:t>
            </a:r>
            <a:r>
              <a:rPr spc="-88" dirty="0"/>
              <a:t> </a:t>
            </a:r>
            <a:r>
              <a:rPr dirty="0"/>
              <a:t>of</a:t>
            </a:r>
            <a:r>
              <a:rPr spc="-93" dirty="0"/>
              <a:t> </a:t>
            </a:r>
            <a:r>
              <a:rPr dirty="0"/>
              <a:t>Markov</a:t>
            </a:r>
            <a:r>
              <a:rPr spc="-97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1727946"/>
          </a:xfrm>
          <a:custGeom>
            <a:avLst/>
            <a:gdLst/>
            <a:ahLst/>
            <a:cxnLst/>
            <a:rect l="l" t="t" r="r" b="b"/>
            <a:pathLst>
              <a:path w="9144000" h="1958339">
                <a:moveTo>
                  <a:pt x="9144000" y="0"/>
                </a:moveTo>
                <a:lnTo>
                  <a:pt x="0" y="0"/>
                </a:lnTo>
                <a:lnTo>
                  <a:pt x="0" y="978408"/>
                </a:lnTo>
                <a:lnTo>
                  <a:pt x="0" y="979170"/>
                </a:lnTo>
                <a:lnTo>
                  <a:pt x="0" y="1958340"/>
                </a:lnTo>
                <a:lnTo>
                  <a:pt x="9144000" y="1958340"/>
                </a:lnTo>
                <a:lnTo>
                  <a:pt x="9144000" y="979170"/>
                </a:lnTo>
                <a:lnTo>
                  <a:pt x="9144000" y="97840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809065" y="1455867"/>
            <a:ext cx="6893859" cy="46190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221" indent="-302015">
              <a:lnSpc>
                <a:spcPts val="3221"/>
              </a:lnSpc>
              <a:spcBef>
                <a:spcPts val="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221" algn="l"/>
              </a:tabLst>
            </a:pPr>
            <a:r>
              <a:rPr sz="2824" dirty="0">
                <a:latin typeface="Arial MT"/>
                <a:cs typeface="Arial MT"/>
              </a:rPr>
              <a:t>A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sequence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trials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an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experiment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is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44" dirty="0">
                <a:latin typeface="Arial MT"/>
                <a:cs typeface="Arial MT"/>
              </a:rPr>
              <a:t>a</a:t>
            </a:r>
            <a:endParaRPr sz="2824">
              <a:latin typeface="Arial MT"/>
              <a:cs typeface="Arial MT"/>
            </a:endParaRPr>
          </a:p>
          <a:p>
            <a:pPr marL="313781">
              <a:lnSpc>
                <a:spcPts val="3221"/>
              </a:lnSpc>
            </a:pPr>
            <a:r>
              <a:rPr sz="2824" b="1" dirty="0">
                <a:latin typeface="Arial"/>
                <a:cs typeface="Arial"/>
              </a:rPr>
              <a:t>Markov</a:t>
            </a:r>
            <a:r>
              <a:rPr sz="2824" b="1" spc="-35" dirty="0">
                <a:latin typeface="Arial"/>
                <a:cs typeface="Arial"/>
              </a:rPr>
              <a:t> </a:t>
            </a:r>
            <a:r>
              <a:rPr sz="2824" b="1" dirty="0">
                <a:latin typeface="Arial"/>
                <a:cs typeface="Arial"/>
              </a:rPr>
              <a:t>chain</a:t>
            </a:r>
            <a:r>
              <a:rPr sz="2824" b="1" spc="-35" dirty="0">
                <a:latin typeface="Arial"/>
                <a:cs typeface="Arial"/>
              </a:rPr>
              <a:t> </a:t>
            </a:r>
            <a:r>
              <a:rPr sz="2824" spc="-22" dirty="0">
                <a:latin typeface="Arial MT"/>
                <a:cs typeface="Arial MT"/>
              </a:rPr>
              <a:t>if</a:t>
            </a:r>
            <a:endParaRPr sz="2824">
              <a:latin typeface="Arial MT"/>
              <a:cs typeface="Arial MT"/>
            </a:endParaRPr>
          </a:p>
          <a:p>
            <a:pPr marL="828719" marR="735144" lvl="1" indent="-514938">
              <a:lnSpc>
                <a:spcPct val="110000"/>
              </a:lnSpc>
              <a:buAutoNum type="arabicParenR"/>
              <a:tabLst>
                <a:tab pos="1016428" algn="l"/>
              </a:tabLst>
            </a:pP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outcome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each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experiment 	</a:t>
            </a:r>
            <a:r>
              <a:rPr sz="2824" dirty="0">
                <a:latin typeface="Arial MT"/>
                <a:cs typeface="Arial MT"/>
              </a:rPr>
              <a:t>is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one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set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discrete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states;</a:t>
            </a:r>
            <a:endParaRPr sz="2824">
              <a:latin typeface="Arial MT"/>
              <a:cs typeface="Arial MT"/>
            </a:endParaRPr>
          </a:p>
          <a:p>
            <a:pPr marL="805746" marR="588901" lvl="1" indent="-492525">
              <a:lnSpc>
                <a:spcPct val="110000"/>
              </a:lnSpc>
              <a:buAutoNum type="arabicParenR"/>
              <a:tabLst>
                <a:tab pos="805746" algn="l"/>
                <a:tab pos="828159" algn="l"/>
              </a:tabLst>
            </a:pPr>
            <a:r>
              <a:rPr sz="2824" dirty="0">
                <a:latin typeface="Arial MT"/>
                <a:cs typeface="Arial MT"/>
              </a:rPr>
              <a:t>	the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outcome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of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an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experiment </a:t>
            </a:r>
            <a:r>
              <a:rPr sz="2824" dirty="0">
                <a:latin typeface="Arial MT"/>
                <a:cs typeface="Arial MT"/>
              </a:rPr>
              <a:t>depends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only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the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present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state, </a:t>
            </a:r>
            <a:r>
              <a:rPr sz="2824" dirty="0">
                <a:latin typeface="Arial MT"/>
                <a:cs typeface="Arial MT"/>
              </a:rPr>
              <a:t>and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not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any</a:t>
            </a:r>
            <a:r>
              <a:rPr sz="2824" spc="-18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past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states;</a:t>
            </a:r>
            <a:endParaRPr sz="2824">
              <a:latin typeface="Arial MT"/>
              <a:cs typeface="Arial MT"/>
            </a:endParaRPr>
          </a:p>
          <a:p>
            <a:pPr marL="805746" marR="670708" lvl="1" indent="-492525">
              <a:lnSpc>
                <a:spcPct val="110000"/>
              </a:lnSpc>
              <a:buAutoNum type="arabicParenR"/>
              <a:tabLst>
                <a:tab pos="805746" algn="l"/>
                <a:tab pos="829280" algn="l"/>
              </a:tabLst>
            </a:pPr>
            <a:r>
              <a:rPr sz="2824" dirty="0">
                <a:latin typeface="Arial MT"/>
                <a:cs typeface="Arial MT"/>
              </a:rPr>
              <a:t>	the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transition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probabilities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remain </a:t>
            </a:r>
            <a:r>
              <a:rPr sz="2824" dirty="0">
                <a:latin typeface="Arial MT"/>
                <a:cs typeface="Arial MT"/>
              </a:rPr>
              <a:t>constant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from</a:t>
            </a:r>
            <a:r>
              <a:rPr sz="2824" spc="-22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one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transition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to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spc="-22" dirty="0">
                <a:latin typeface="Arial MT"/>
                <a:cs typeface="Arial MT"/>
              </a:rPr>
              <a:t>the </a:t>
            </a:r>
            <a:r>
              <a:rPr sz="2824" spc="-9" dirty="0">
                <a:latin typeface="Arial MT"/>
                <a:cs typeface="Arial MT"/>
              </a:rPr>
              <a:t>next.</a:t>
            </a:r>
            <a:endParaRPr sz="2824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70" y="2173269"/>
            <a:ext cx="7032251" cy="19668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marR="4483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22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has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network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structure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much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like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that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website,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where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each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node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network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called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44" dirty="0">
                <a:latin typeface="Arial MT"/>
                <a:cs typeface="Arial MT"/>
              </a:rPr>
              <a:t>a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each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link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network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transition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attached,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which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denotes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of </a:t>
            </a:r>
            <a:r>
              <a:rPr sz="2118" dirty="0">
                <a:latin typeface="Arial MT"/>
                <a:cs typeface="Arial MT"/>
              </a:rPr>
              <a:t>moving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source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link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destination state.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Markov</a:t>
            </a:r>
            <a:r>
              <a:rPr spc="-110" dirty="0"/>
              <a:t> </a:t>
            </a:r>
            <a:r>
              <a:rPr spc="-9" dirty="0"/>
              <a:t>Chains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770" y="2173269"/>
            <a:ext cx="7112934" cy="372470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140081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process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attached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moves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through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networks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steps,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where</a:t>
            </a:r>
            <a:r>
              <a:rPr sz="2118" spc="-2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if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any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time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system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i,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then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with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equal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the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i,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j,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moves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to </a:t>
            </a:r>
            <a:r>
              <a:rPr sz="2118" dirty="0">
                <a:latin typeface="Arial MT"/>
                <a:cs typeface="Arial MT"/>
              </a:rPr>
              <a:t>state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j.</a:t>
            </a:r>
            <a:endParaRPr sz="2118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We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will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model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another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in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web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site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chain.</a:t>
            </a:r>
            <a:endParaRPr sz="2118">
              <a:latin typeface="Arial MT"/>
              <a:cs typeface="Arial MT"/>
            </a:endParaRPr>
          </a:p>
          <a:p>
            <a:pPr marL="313781" marR="258870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assumption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will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make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,</a:t>
            </a:r>
            <a:r>
              <a:rPr sz="2118" spc="-7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called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property,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moving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from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source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spc="-44" dirty="0">
                <a:latin typeface="Arial MT"/>
                <a:cs typeface="Arial MT"/>
              </a:rPr>
              <a:t>a </a:t>
            </a:r>
            <a:r>
              <a:rPr sz="2118" dirty="0">
                <a:latin typeface="Arial MT"/>
                <a:cs typeface="Arial MT"/>
              </a:rPr>
              <a:t>destination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doesn’t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depend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route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taken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to </a:t>
            </a:r>
            <a:r>
              <a:rPr sz="2118" dirty="0">
                <a:latin typeface="Arial MT"/>
                <a:cs typeface="Arial MT"/>
              </a:rPr>
              <a:t>reach</a:t>
            </a:r>
            <a:r>
              <a:rPr sz="2118" spc="50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source.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Internet</a:t>
            </a:r>
            <a:r>
              <a:rPr spc="-124" dirty="0"/>
              <a:t> </a:t>
            </a:r>
            <a:r>
              <a:rPr spc="-9" dirty="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1412" y="3832412"/>
            <a:ext cx="874059" cy="6723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8824" y="4572000"/>
            <a:ext cx="537882" cy="5466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965946" y="2173269"/>
            <a:ext cx="7189133" cy="353984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58047" marR="750834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8047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u="heavy" dirty="0">
                <a:solidFill>
                  <a:srgbClr val="65659A"/>
                </a:solidFill>
                <a:uFill>
                  <a:solidFill>
                    <a:srgbClr val="666699"/>
                  </a:solidFill>
                </a:uFill>
                <a:latin typeface="Arial MT"/>
                <a:cs typeface="Arial MT"/>
              </a:rPr>
              <a:t>PageRank</a:t>
            </a:r>
            <a:r>
              <a:rPr sz="2118" spc="-44" dirty="0">
                <a:solidFill>
                  <a:srgbClr val="65659A"/>
                </a:solidFill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webpage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used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by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u="heavy" dirty="0">
                <a:solidFill>
                  <a:srgbClr val="65659A"/>
                </a:solidFill>
                <a:uFill>
                  <a:solidFill>
                    <a:srgbClr val="666699"/>
                  </a:solidFill>
                </a:uFill>
                <a:latin typeface="Arial MT"/>
                <a:cs typeface="Arial MT"/>
              </a:rPr>
              <a:t>Google</a:t>
            </a:r>
            <a:r>
              <a:rPr sz="2118" spc="-40" dirty="0">
                <a:solidFill>
                  <a:srgbClr val="65659A"/>
                </a:solidFill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is </a:t>
            </a:r>
            <a:r>
              <a:rPr sz="2118" dirty="0">
                <a:latin typeface="Arial MT"/>
                <a:cs typeface="Arial MT"/>
              </a:rPr>
              <a:t>defined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by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chain.</a:t>
            </a:r>
            <a:endParaRPr sz="2118">
              <a:latin typeface="Arial MT"/>
              <a:cs typeface="Arial MT"/>
            </a:endParaRPr>
          </a:p>
          <a:p>
            <a:pPr marL="358047" marR="49309" indent="-302575">
              <a:spcBef>
                <a:spcPts val="507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8047" algn="l"/>
              </a:tabLst>
            </a:pPr>
            <a:r>
              <a:rPr sz="2118" dirty="0">
                <a:latin typeface="Arial MT"/>
                <a:cs typeface="Arial MT"/>
              </a:rPr>
              <a:t>It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probability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at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18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i="1" spc="-26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in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stationary </a:t>
            </a:r>
            <a:r>
              <a:rPr sz="2118" dirty="0">
                <a:latin typeface="Arial MT"/>
                <a:cs typeface="Arial MT"/>
              </a:rPr>
              <a:t>distribution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following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Markov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chain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on</a:t>
            </a:r>
            <a:r>
              <a:rPr sz="2118" spc="-62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all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(known) </a:t>
            </a:r>
            <a:r>
              <a:rPr sz="2118" dirty="0">
                <a:latin typeface="Arial MT"/>
                <a:cs typeface="Arial MT"/>
              </a:rPr>
              <a:t>webpages.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If</a:t>
            </a:r>
            <a:r>
              <a:rPr sz="2118" spc="-66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N</a:t>
            </a:r>
            <a:r>
              <a:rPr sz="2118" i="1" spc="-49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number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of</a:t>
            </a:r>
            <a:r>
              <a:rPr sz="2118" spc="-57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known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webpages,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and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44" dirty="0">
                <a:latin typeface="Arial MT"/>
                <a:cs typeface="Arial MT"/>
              </a:rPr>
              <a:t>a </a:t>
            </a:r>
            <a:r>
              <a:rPr sz="2118" dirty="0">
                <a:latin typeface="Arial MT"/>
                <a:cs typeface="Arial MT"/>
              </a:rPr>
              <a:t>page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i</a:t>
            </a:r>
            <a:r>
              <a:rPr sz="2118" i="1" spc="-44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has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i="1" dirty="0">
                <a:latin typeface="Arial"/>
                <a:cs typeface="Arial"/>
              </a:rPr>
              <a:t>k</a:t>
            </a:r>
            <a:r>
              <a:rPr sz="2118" i="1" baseline="-20833" dirty="0">
                <a:latin typeface="Arial"/>
                <a:cs typeface="Arial"/>
              </a:rPr>
              <a:t>i</a:t>
            </a:r>
            <a:r>
              <a:rPr sz="2118" i="1" spc="212" baseline="-20833" dirty="0">
                <a:latin typeface="Arial"/>
                <a:cs typeface="Arial"/>
              </a:rPr>
              <a:t> </a:t>
            </a:r>
            <a:r>
              <a:rPr sz="2118" dirty="0">
                <a:latin typeface="Arial MT"/>
                <a:cs typeface="Arial MT"/>
              </a:rPr>
              <a:t>links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then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it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has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transition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probability</a:t>
            </a:r>
            <a:endParaRPr sz="2118">
              <a:latin typeface="Arial MT"/>
              <a:cs typeface="Arial MT"/>
            </a:endParaRPr>
          </a:p>
          <a:p>
            <a:pPr>
              <a:spcBef>
                <a:spcPts val="1121"/>
              </a:spcBef>
              <a:buClr>
                <a:srgbClr val="00007C"/>
              </a:buClr>
              <a:buFont typeface="Wingdings"/>
              <a:buChar char=""/>
            </a:pPr>
            <a:endParaRPr sz="2118">
              <a:latin typeface="Arial MT"/>
              <a:cs typeface="Arial MT"/>
            </a:endParaRPr>
          </a:p>
          <a:p>
            <a:pPr marL="358607" marR="119349" indent="-6164">
              <a:tabLst>
                <a:tab pos="5074294" algn="l"/>
              </a:tabLst>
            </a:pPr>
            <a:r>
              <a:rPr sz="2118" dirty="0">
                <a:latin typeface="Arial MT"/>
                <a:cs typeface="Arial MT"/>
              </a:rPr>
              <a:t>for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all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pages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that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linked</a:t>
            </a:r>
            <a:r>
              <a:rPr sz="2118" spc="-31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and</a:t>
            </a:r>
            <a:r>
              <a:rPr sz="2118" dirty="0">
                <a:latin typeface="Arial MT"/>
                <a:cs typeface="Arial MT"/>
              </a:rPr>
              <a:t>	for</a:t>
            </a:r>
            <a:r>
              <a:rPr sz="2118" spc="-49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all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pages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that </a:t>
            </a:r>
            <a:r>
              <a:rPr sz="2118" dirty="0">
                <a:latin typeface="Arial MT"/>
                <a:cs typeface="Arial MT"/>
              </a:rPr>
              <a:t>are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not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linked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spc="-22" dirty="0">
                <a:latin typeface="Arial MT"/>
                <a:cs typeface="Arial MT"/>
              </a:rPr>
              <a:t>to.</a:t>
            </a:r>
            <a:endParaRPr sz="2118">
              <a:latin typeface="Arial MT"/>
              <a:cs typeface="Arial MT"/>
            </a:endParaRPr>
          </a:p>
          <a:p>
            <a:pPr marL="358047" indent="-302015">
              <a:spcBef>
                <a:spcPts val="512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8047" algn="l"/>
              </a:tabLst>
            </a:pPr>
            <a:r>
              <a:rPr sz="2118" dirty="0">
                <a:latin typeface="Arial MT"/>
                <a:cs typeface="Arial MT"/>
              </a:rPr>
              <a:t>The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parameter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2118" dirty="0">
                <a:latin typeface="Microsoft Sans Serif"/>
                <a:cs typeface="Microsoft Sans Serif"/>
              </a:rPr>
              <a:t>α</a:t>
            </a:r>
            <a:r>
              <a:rPr sz="2118" spc="-26" dirty="0">
                <a:latin typeface="Microsoft Sans Serif"/>
                <a:cs typeface="Microsoft Sans Serif"/>
              </a:rPr>
              <a:t> </a:t>
            </a:r>
            <a:r>
              <a:rPr sz="2118" dirty="0">
                <a:latin typeface="Arial MT"/>
                <a:cs typeface="Arial MT"/>
              </a:rPr>
              <a:t>is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taken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to</a:t>
            </a:r>
            <a:r>
              <a:rPr sz="2118" spc="-5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be</a:t>
            </a:r>
            <a:r>
              <a:rPr sz="2118" spc="-44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about</a:t>
            </a:r>
            <a:r>
              <a:rPr sz="2118" spc="-40" dirty="0">
                <a:latin typeface="Arial MT"/>
                <a:cs typeface="Arial MT"/>
              </a:rPr>
              <a:t> </a:t>
            </a:r>
            <a:r>
              <a:rPr sz="2118" spc="-18" dirty="0">
                <a:latin typeface="Arial MT"/>
                <a:cs typeface="Arial MT"/>
              </a:rPr>
              <a:t>0.85</a:t>
            </a:r>
            <a:endParaRPr sz="2118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80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Internet</a:t>
            </a:r>
            <a:r>
              <a:rPr spc="-124" dirty="0"/>
              <a:t> </a:t>
            </a:r>
            <a:r>
              <a:rPr spc="-9" dirty="0"/>
              <a:t>application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01184" y="1277471"/>
            <a:ext cx="6615953" cy="508962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25215" indent="-302575">
              <a:spcBef>
                <a:spcPts val="88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dirty="0"/>
              <a:t>Markov</a:t>
            </a:r>
            <a:r>
              <a:rPr spc="-57" dirty="0"/>
              <a:t> </a:t>
            </a:r>
            <a:r>
              <a:rPr dirty="0"/>
              <a:t>models</a:t>
            </a:r>
            <a:r>
              <a:rPr spc="-57" dirty="0"/>
              <a:t> </a:t>
            </a:r>
            <a:r>
              <a:rPr dirty="0"/>
              <a:t>have</a:t>
            </a:r>
            <a:r>
              <a:rPr spc="-53" dirty="0"/>
              <a:t> </a:t>
            </a:r>
            <a:r>
              <a:rPr dirty="0"/>
              <a:t>also</a:t>
            </a:r>
            <a:r>
              <a:rPr spc="-57" dirty="0"/>
              <a:t> </a:t>
            </a:r>
            <a:r>
              <a:rPr dirty="0"/>
              <a:t>been</a:t>
            </a:r>
            <a:r>
              <a:rPr spc="-57" dirty="0"/>
              <a:t> </a:t>
            </a:r>
            <a:r>
              <a:rPr dirty="0"/>
              <a:t>used</a:t>
            </a:r>
            <a:r>
              <a:rPr spc="-53" dirty="0"/>
              <a:t> </a:t>
            </a:r>
            <a:r>
              <a:rPr dirty="0"/>
              <a:t>to</a:t>
            </a:r>
            <a:r>
              <a:rPr spc="-57" dirty="0"/>
              <a:t> </a:t>
            </a:r>
            <a:r>
              <a:rPr spc="-9" dirty="0"/>
              <a:t>analyze </a:t>
            </a:r>
            <a:r>
              <a:rPr dirty="0"/>
              <a:t>web</a:t>
            </a:r>
            <a:r>
              <a:rPr spc="-71" dirty="0"/>
              <a:t> </a:t>
            </a:r>
            <a:r>
              <a:rPr dirty="0"/>
              <a:t>navigation</a:t>
            </a:r>
            <a:r>
              <a:rPr spc="-71" dirty="0"/>
              <a:t> </a:t>
            </a:r>
            <a:r>
              <a:rPr dirty="0"/>
              <a:t>behavior</a:t>
            </a:r>
            <a:r>
              <a:rPr spc="-66" dirty="0"/>
              <a:t> </a:t>
            </a:r>
            <a:r>
              <a:rPr dirty="0"/>
              <a:t>of</a:t>
            </a:r>
            <a:r>
              <a:rPr spc="-71" dirty="0"/>
              <a:t> </a:t>
            </a:r>
            <a:r>
              <a:rPr spc="-9" dirty="0"/>
              <a:t>users.</a:t>
            </a:r>
          </a:p>
          <a:p>
            <a:pPr marL="313221" marR="164735" indent="-302575">
              <a:spcBef>
                <a:spcPts val="596"/>
              </a:spcBef>
              <a:buFont typeface="Wingdings"/>
              <a:buChar char=""/>
              <a:tabLst>
                <a:tab pos="313221" algn="l"/>
                <a:tab pos="399511" algn="l"/>
              </a:tabLst>
            </a:pPr>
            <a:r>
              <a:rPr sz="1853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A</a:t>
            </a:r>
            <a:r>
              <a:rPr spc="-44" dirty="0"/>
              <a:t> </a:t>
            </a:r>
            <a:r>
              <a:rPr dirty="0"/>
              <a:t>user's</a:t>
            </a:r>
            <a:r>
              <a:rPr spc="-40" dirty="0"/>
              <a:t> </a:t>
            </a:r>
            <a:r>
              <a:rPr dirty="0"/>
              <a:t>web</a:t>
            </a:r>
            <a:r>
              <a:rPr spc="-44" dirty="0"/>
              <a:t> </a:t>
            </a:r>
            <a:r>
              <a:rPr dirty="0"/>
              <a:t>link</a:t>
            </a:r>
            <a:r>
              <a:rPr spc="-40" dirty="0"/>
              <a:t> </a:t>
            </a:r>
            <a:r>
              <a:rPr dirty="0"/>
              <a:t>transition</a:t>
            </a:r>
            <a:r>
              <a:rPr spc="-40" dirty="0"/>
              <a:t> </a:t>
            </a:r>
            <a:r>
              <a:rPr dirty="0"/>
              <a:t>on</a:t>
            </a:r>
            <a:r>
              <a:rPr spc="-44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9" dirty="0"/>
              <a:t>particular </a:t>
            </a:r>
            <a:r>
              <a:rPr dirty="0"/>
              <a:t>website</a:t>
            </a:r>
            <a:r>
              <a:rPr spc="-57" dirty="0"/>
              <a:t> </a:t>
            </a:r>
            <a:r>
              <a:rPr dirty="0"/>
              <a:t>can</a:t>
            </a:r>
            <a:r>
              <a:rPr spc="-57" dirty="0"/>
              <a:t> </a:t>
            </a:r>
            <a:r>
              <a:rPr dirty="0"/>
              <a:t>be</a:t>
            </a:r>
            <a:r>
              <a:rPr spc="-57" dirty="0"/>
              <a:t> </a:t>
            </a:r>
            <a:r>
              <a:rPr dirty="0"/>
              <a:t>modeled</a:t>
            </a:r>
            <a:r>
              <a:rPr spc="-57" dirty="0"/>
              <a:t> </a:t>
            </a:r>
            <a:r>
              <a:rPr dirty="0"/>
              <a:t>using</a:t>
            </a:r>
            <a:r>
              <a:rPr spc="-57" dirty="0"/>
              <a:t> </a:t>
            </a:r>
            <a:r>
              <a:rPr dirty="0"/>
              <a:t>first-</a:t>
            </a:r>
            <a:r>
              <a:rPr spc="-66" dirty="0"/>
              <a:t> </a:t>
            </a:r>
            <a:r>
              <a:rPr dirty="0"/>
              <a:t>or</a:t>
            </a:r>
            <a:r>
              <a:rPr spc="-57" dirty="0"/>
              <a:t> </a:t>
            </a:r>
            <a:r>
              <a:rPr spc="-9" dirty="0"/>
              <a:t>second-order</a:t>
            </a:r>
            <a:endParaRPr sz="1853">
              <a:latin typeface="Times New Roman"/>
              <a:cs typeface="Times New Roman"/>
            </a:endParaRPr>
          </a:p>
          <a:p>
            <a:pPr marL="313781" marR="4483" indent="-302575">
              <a:spcBef>
                <a:spcPts val="591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13781" algn="l"/>
              </a:tabLst>
            </a:pPr>
            <a:r>
              <a:rPr dirty="0"/>
              <a:t>Markov</a:t>
            </a:r>
            <a:r>
              <a:rPr spc="-53" dirty="0"/>
              <a:t> </a:t>
            </a:r>
            <a:r>
              <a:rPr dirty="0"/>
              <a:t>models</a:t>
            </a:r>
            <a:r>
              <a:rPr spc="-49" dirty="0"/>
              <a:t> </a:t>
            </a:r>
            <a:r>
              <a:rPr dirty="0"/>
              <a:t>and</a:t>
            </a:r>
            <a:r>
              <a:rPr spc="-49" dirty="0"/>
              <a:t> </a:t>
            </a:r>
            <a:r>
              <a:rPr dirty="0"/>
              <a:t>can</a:t>
            </a:r>
            <a:r>
              <a:rPr spc="-49" dirty="0"/>
              <a:t> </a:t>
            </a:r>
            <a:r>
              <a:rPr dirty="0"/>
              <a:t>be</a:t>
            </a:r>
            <a:r>
              <a:rPr spc="-49" dirty="0"/>
              <a:t> </a:t>
            </a:r>
            <a:r>
              <a:rPr dirty="0"/>
              <a:t>used</a:t>
            </a:r>
            <a:r>
              <a:rPr spc="-49" dirty="0"/>
              <a:t> </a:t>
            </a:r>
            <a:r>
              <a:rPr dirty="0"/>
              <a:t>to</a:t>
            </a:r>
            <a:r>
              <a:rPr spc="-53" dirty="0"/>
              <a:t> </a:t>
            </a:r>
            <a:r>
              <a:rPr spc="-18" dirty="0"/>
              <a:t>make </a:t>
            </a:r>
            <a:r>
              <a:rPr dirty="0"/>
              <a:t>predictions</a:t>
            </a:r>
            <a:r>
              <a:rPr spc="-84" dirty="0"/>
              <a:t> </a:t>
            </a:r>
            <a:r>
              <a:rPr dirty="0"/>
              <a:t>regarding</a:t>
            </a:r>
            <a:r>
              <a:rPr spc="-66" dirty="0"/>
              <a:t> </a:t>
            </a:r>
            <a:r>
              <a:rPr dirty="0"/>
              <a:t>future</a:t>
            </a:r>
            <a:r>
              <a:rPr spc="-79" dirty="0"/>
              <a:t> </a:t>
            </a:r>
            <a:r>
              <a:rPr dirty="0"/>
              <a:t>navigation</a:t>
            </a:r>
            <a:r>
              <a:rPr spc="-71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22" dirty="0"/>
              <a:t>to </a:t>
            </a:r>
            <a:r>
              <a:rPr dirty="0"/>
              <a:t>personalize</a:t>
            </a:r>
            <a:r>
              <a:rPr spc="-62" dirty="0"/>
              <a:t> </a:t>
            </a:r>
            <a:r>
              <a:rPr dirty="0"/>
              <a:t>the</a:t>
            </a:r>
            <a:r>
              <a:rPr spc="-62" dirty="0"/>
              <a:t> </a:t>
            </a:r>
            <a:r>
              <a:rPr dirty="0"/>
              <a:t>web</a:t>
            </a:r>
            <a:r>
              <a:rPr spc="-57" dirty="0"/>
              <a:t> </a:t>
            </a:r>
            <a:r>
              <a:rPr dirty="0"/>
              <a:t>page</a:t>
            </a:r>
            <a:r>
              <a:rPr spc="-62" dirty="0"/>
              <a:t> </a:t>
            </a:r>
            <a:r>
              <a:rPr dirty="0"/>
              <a:t>for</a:t>
            </a:r>
            <a:r>
              <a:rPr spc="-62" dirty="0"/>
              <a:t> </a:t>
            </a:r>
            <a:r>
              <a:rPr dirty="0"/>
              <a:t>an</a:t>
            </a:r>
            <a:r>
              <a:rPr spc="-57" dirty="0"/>
              <a:t> </a:t>
            </a:r>
            <a:r>
              <a:rPr dirty="0"/>
              <a:t>individual</a:t>
            </a:r>
            <a:r>
              <a:rPr spc="-62" dirty="0"/>
              <a:t> </a:t>
            </a:r>
            <a:r>
              <a:rPr spc="-9" dirty="0"/>
              <a:t>user.</a:t>
            </a:r>
          </a:p>
        </p:txBody>
      </p:sp>
    </p:spTree>
  </p:cSld>
  <p:clrMapOvr>
    <a:masterClrMapping/>
  </p:clrMapOvr>
  <p:transition spd="med">
    <p:split orient="vert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97473"/>
            <a:ext cx="6615953" cy="1097680"/>
          </a:xfrm>
          <a:prstGeom prst="rect">
            <a:avLst/>
          </a:prstGeom>
        </p:spPr>
        <p:txBody>
          <a:bodyPr vert="horz" wrap="square" lIns="0" tIns="60287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177" dirty="0"/>
              <a:t>Example</a:t>
            </a:r>
            <a:r>
              <a:rPr sz="3177" spc="-9" dirty="0"/>
              <a:t> </a:t>
            </a:r>
            <a:r>
              <a:rPr sz="3177" dirty="0"/>
              <a:t>website</a:t>
            </a:r>
            <a:r>
              <a:rPr sz="3177" spc="-9" dirty="0"/>
              <a:t> </a:t>
            </a:r>
            <a:r>
              <a:rPr sz="3177" dirty="0"/>
              <a:t>to</a:t>
            </a:r>
            <a:r>
              <a:rPr sz="3177" spc="-9" dirty="0"/>
              <a:t> </a:t>
            </a:r>
            <a:r>
              <a:rPr sz="3177" dirty="0"/>
              <a:t>illustrate</a:t>
            </a:r>
            <a:r>
              <a:rPr sz="3177" spc="-9" dirty="0"/>
              <a:t> PageRank</a:t>
            </a:r>
            <a:endParaRPr sz="317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544" y="2131358"/>
            <a:ext cx="5592631" cy="4054288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184" y="139529"/>
            <a:ext cx="6615953" cy="1213568"/>
          </a:xfrm>
          <a:prstGeom prst="rect">
            <a:avLst/>
          </a:prstGeom>
        </p:spPr>
        <p:txBody>
          <a:bodyPr vert="horz" wrap="square" lIns="0" tIns="546511" rIns="0" bIns="0" rtlCol="0" anchor="ctr">
            <a:spAutoFit/>
          </a:bodyPr>
          <a:lstStyle/>
          <a:p>
            <a:pPr marL="78445">
              <a:spcBef>
                <a:spcPts val="84"/>
              </a:spcBef>
            </a:pPr>
            <a:r>
              <a:rPr dirty="0"/>
              <a:t>Example</a:t>
            </a:r>
            <a:r>
              <a:rPr spc="-75" dirty="0"/>
              <a:t> </a:t>
            </a:r>
            <a:r>
              <a:rPr dirty="0"/>
              <a:t>of</a:t>
            </a:r>
            <a:r>
              <a:rPr spc="-62" dirty="0"/>
              <a:t> </a:t>
            </a:r>
            <a:r>
              <a:rPr dirty="0"/>
              <a:t>a</a:t>
            </a:r>
            <a:r>
              <a:rPr spc="-57" dirty="0"/>
              <a:t> </a:t>
            </a:r>
            <a:r>
              <a:rPr dirty="0"/>
              <a:t>rank</a:t>
            </a:r>
            <a:r>
              <a:rPr spc="-66" dirty="0"/>
              <a:t> </a:t>
            </a:r>
            <a:r>
              <a:rPr spc="-18" dirty="0"/>
              <a:t>sink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176" y="2131358"/>
            <a:ext cx="5446059" cy="3449171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770" y="759700"/>
            <a:ext cx="3557307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9144000" y="979169"/>
                </a:moveTo>
                <a:lnTo>
                  <a:pt x="9144000" y="0"/>
                </a:lnTo>
                <a:lnTo>
                  <a:pt x="0" y="0"/>
                </a:lnTo>
                <a:lnTo>
                  <a:pt x="0" y="979170"/>
                </a:lnTo>
                <a:lnTo>
                  <a:pt x="9144000" y="979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775447" y="1541257"/>
            <a:ext cx="7611035" cy="598916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11206" marR="4483" indent="-560">
              <a:lnSpc>
                <a:spcPct val="101000"/>
              </a:lnSpc>
              <a:spcBef>
                <a:spcPts val="62"/>
              </a:spcBef>
              <a:buClr>
                <a:srgbClr val="000000"/>
              </a:buClr>
              <a:buChar char="•"/>
              <a:tabLst>
                <a:tab pos="11206" algn="l"/>
                <a:tab pos="192751" algn="l"/>
              </a:tabLst>
            </a:pP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	Markov</a:t>
            </a:r>
            <a:r>
              <a:rPr sz="2118" spc="-44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Property:</a:t>
            </a:r>
            <a:r>
              <a:rPr sz="2118" spc="-49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state</a:t>
            </a:r>
            <a:r>
              <a:rPr sz="1765" spc="-22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of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system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at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time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i="1" dirty="0">
                <a:latin typeface="Times New Roman"/>
                <a:cs typeface="Times New Roman"/>
              </a:rPr>
              <a:t>t</a:t>
            </a:r>
            <a:r>
              <a:rPr sz="1765" dirty="0">
                <a:latin typeface="Times New Roman"/>
                <a:cs typeface="Times New Roman"/>
              </a:rPr>
              <a:t>+1</a:t>
            </a:r>
            <a:r>
              <a:rPr sz="1765" spc="44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Comic Sans MS"/>
                <a:cs typeface="Comic Sans MS"/>
              </a:rPr>
              <a:t>depends</a:t>
            </a:r>
            <a:r>
              <a:rPr sz="1765" spc="-9" dirty="0">
                <a:latin typeface="Comic Sans MS"/>
                <a:cs typeface="Comic Sans MS"/>
              </a:rPr>
              <a:t> </a:t>
            </a:r>
            <a:r>
              <a:rPr sz="1765" spc="-18" dirty="0">
                <a:latin typeface="Comic Sans MS"/>
                <a:cs typeface="Comic Sans MS"/>
              </a:rPr>
              <a:t>only </a:t>
            </a:r>
            <a:r>
              <a:rPr sz="1765" dirty="0">
                <a:latin typeface="Comic Sans MS"/>
                <a:cs typeface="Comic Sans MS"/>
              </a:rPr>
              <a:t>on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state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of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the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system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at</a:t>
            </a:r>
            <a:r>
              <a:rPr sz="1765" spc="-22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time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i="1" spc="-44" dirty="0">
                <a:latin typeface="Times New Roman"/>
                <a:cs typeface="Times New Roman"/>
              </a:rPr>
              <a:t>t</a:t>
            </a:r>
            <a:endParaRPr sz="1765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7883" y="2130686"/>
            <a:ext cx="8068235" cy="865094"/>
            <a:chOff x="457200" y="2414777"/>
            <a:chExt cx="9144000" cy="980440"/>
          </a:xfrm>
        </p:grpSpPr>
        <p:sp>
          <p:nvSpPr>
            <p:cNvPr id="6" name="object 6"/>
            <p:cNvSpPr/>
            <p:nvPr/>
          </p:nvSpPr>
          <p:spPr>
            <a:xfrm>
              <a:off x="457200" y="241477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829056" y="2789681"/>
              <a:ext cx="8490585" cy="455930"/>
            </a:xfrm>
            <a:custGeom>
              <a:avLst/>
              <a:gdLst/>
              <a:ahLst/>
              <a:cxnLst/>
              <a:rect l="l" t="t" r="r" b="b"/>
              <a:pathLst>
                <a:path w="8490585" h="455930">
                  <a:moveTo>
                    <a:pt x="8490204" y="455675"/>
                  </a:moveTo>
                  <a:lnTo>
                    <a:pt x="8490204" y="0"/>
                  </a:lnTo>
                  <a:lnTo>
                    <a:pt x="0" y="0"/>
                  </a:lnTo>
                  <a:lnTo>
                    <a:pt x="0" y="455676"/>
                  </a:lnTo>
                  <a:lnTo>
                    <a:pt x="8490204" y="455675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54749" y="2450505"/>
            <a:ext cx="2479301" cy="336107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33619">
              <a:spcBef>
                <a:spcPts val="79"/>
              </a:spcBef>
              <a:tabLst>
                <a:tab pos="1336373" algn="l"/>
              </a:tabLst>
            </a:pPr>
            <a:r>
              <a:rPr sz="2118" spc="-44" dirty="0">
                <a:latin typeface="Symbol"/>
                <a:cs typeface="Symbol"/>
              </a:rPr>
              <a:t></a:t>
            </a:r>
            <a:r>
              <a:rPr sz="2118" dirty="0">
                <a:latin typeface="Times New Roman"/>
                <a:cs typeface="Times New Roman"/>
              </a:rPr>
              <a:t>	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13" dirty="0">
                <a:latin typeface="Times New Roman"/>
                <a:cs typeface="Times New Roman"/>
              </a:rPr>
              <a:t>  </a:t>
            </a:r>
            <a:r>
              <a:rPr sz="2118" i="1" dirty="0">
                <a:latin typeface="Times New Roman"/>
                <a:cs typeface="Times New Roman"/>
              </a:rPr>
              <a:t>x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-258" baseline="-23809" dirty="0">
                <a:latin typeface="Times New Roman"/>
                <a:cs typeface="Times New Roman"/>
              </a:rPr>
              <a:t> </a:t>
            </a:r>
            <a:r>
              <a:rPr sz="1853" baseline="-23809" dirty="0">
                <a:latin typeface="Symbol"/>
                <a:cs typeface="Symbol"/>
              </a:rPr>
              <a:t></a:t>
            </a:r>
            <a:r>
              <a:rPr sz="1853" baseline="-23809" dirty="0">
                <a:latin typeface="Times New Roman"/>
                <a:cs typeface="Times New Roman"/>
              </a:rPr>
              <a:t>1</a:t>
            </a:r>
            <a:r>
              <a:rPr sz="1853" spc="476" baseline="-23809" dirty="0">
                <a:latin typeface="Times New Roman"/>
                <a:cs typeface="Times New Roman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|</a:t>
            </a:r>
            <a:r>
              <a:rPr sz="2118" i="1" spc="-9" dirty="0">
                <a:latin typeface="Times New Roman"/>
                <a:cs typeface="Times New Roman"/>
              </a:rPr>
              <a:t> </a:t>
            </a:r>
            <a:r>
              <a:rPr sz="2118" i="1" spc="-18" dirty="0">
                <a:latin typeface="Times New Roman"/>
                <a:cs typeface="Times New Roman"/>
              </a:rPr>
              <a:t>X</a:t>
            </a:r>
            <a:r>
              <a:rPr sz="2118" i="1" spc="-234" dirty="0">
                <a:latin typeface="Times New Roman"/>
                <a:cs typeface="Times New Roman"/>
              </a:rPr>
              <a:t> </a:t>
            </a:r>
            <a:r>
              <a:rPr sz="1853" i="1" spc="-66" baseline="-23809" dirty="0">
                <a:latin typeface="Times New Roman"/>
                <a:cs typeface="Times New Roman"/>
              </a:rPr>
              <a:t>t</a:t>
            </a:r>
            <a:endParaRPr sz="1853" baseline="-23809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105" y="2352080"/>
            <a:ext cx="7538757" cy="454918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67239">
              <a:spcBef>
                <a:spcPts val="106"/>
              </a:spcBef>
              <a:tabLst>
                <a:tab pos="985610" algn="l"/>
                <a:tab pos="2870539" algn="l"/>
                <a:tab pos="4633879" algn="l"/>
                <a:tab pos="6832031" algn="l"/>
                <a:tab pos="7405802" algn="l"/>
              </a:tabLst>
            </a:pPr>
            <a:r>
              <a:rPr sz="2118" spc="-57" dirty="0">
                <a:latin typeface="Times New Roman"/>
                <a:cs typeface="Times New Roman"/>
              </a:rPr>
              <a:t>Pr</a:t>
            </a:r>
            <a:r>
              <a:rPr sz="2868" spc="-57" dirty="0">
                <a:latin typeface="Symbol"/>
                <a:cs typeface="Symbol"/>
              </a:rPr>
              <a:t></a:t>
            </a:r>
            <a:r>
              <a:rPr sz="2118" i="1" spc="-57" dirty="0">
                <a:latin typeface="Times New Roman"/>
                <a:cs typeface="Times New Roman"/>
              </a:rPr>
              <a:t>X</a:t>
            </a:r>
            <a:r>
              <a:rPr sz="2118" i="1" spc="-229" dirty="0">
                <a:latin typeface="Times New Roman"/>
                <a:cs typeface="Times New Roman"/>
              </a:rPr>
              <a:t> 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-251" baseline="-23809" dirty="0">
                <a:latin typeface="Times New Roman"/>
                <a:cs typeface="Times New Roman"/>
              </a:rPr>
              <a:t> </a:t>
            </a:r>
            <a:r>
              <a:rPr sz="1853" spc="-33" baseline="-23809" dirty="0">
                <a:latin typeface="Symbol"/>
                <a:cs typeface="Symbol"/>
              </a:rPr>
              <a:t></a:t>
            </a:r>
            <a:r>
              <a:rPr sz="1853" spc="-33" baseline="-23809" dirty="0">
                <a:latin typeface="Times New Roman"/>
                <a:cs typeface="Times New Roman"/>
              </a:rPr>
              <a:t>1</a:t>
            </a:r>
            <a:r>
              <a:rPr sz="1853" baseline="-23809" dirty="0">
                <a:latin typeface="Times New Roman"/>
                <a:cs typeface="Times New Roman"/>
              </a:rPr>
              <a:t>	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13" dirty="0">
                <a:latin typeface="Times New Roman"/>
                <a:cs typeface="Times New Roman"/>
              </a:rPr>
              <a:t>  </a:t>
            </a:r>
            <a:r>
              <a:rPr sz="2118" i="1" dirty="0">
                <a:latin typeface="Times New Roman"/>
                <a:cs typeface="Times New Roman"/>
              </a:rPr>
              <a:t>x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-251" baseline="-23809" dirty="0">
                <a:latin typeface="Times New Roman"/>
                <a:cs typeface="Times New Roman"/>
              </a:rPr>
              <a:t> </a:t>
            </a:r>
            <a:r>
              <a:rPr sz="1853" baseline="-23809" dirty="0">
                <a:latin typeface="Symbol"/>
                <a:cs typeface="Symbol"/>
              </a:rPr>
              <a:t></a:t>
            </a:r>
            <a:r>
              <a:rPr sz="1853" baseline="-23809" dirty="0">
                <a:latin typeface="Times New Roman"/>
                <a:cs typeface="Times New Roman"/>
              </a:rPr>
              <a:t>1</a:t>
            </a:r>
            <a:r>
              <a:rPr sz="1853" spc="483" baseline="-23809" dirty="0">
                <a:latin typeface="Times New Roman"/>
                <a:cs typeface="Times New Roman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|</a:t>
            </a:r>
            <a:r>
              <a:rPr sz="2118" i="1" spc="-9" dirty="0">
                <a:latin typeface="Times New Roman"/>
                <a:cs typeface="Times New Roman"/>
              </a:rPr>
              <a:t> </a:t>
            </a:r>
            <a:r>
              <a:rPr sz="2118" i="1" spc="-18" dirty="0">
                <a:latin typeface="Times New Roman"/>
                <a:cs typeface="Times New Roman"/>
              </a:rPr>
              <a:t>X</a:t>
            </a:r>
            <a:r>
              <a:rPr sz="2118" i="1" spc="-340" dirty="0">
                <a:latin typeface="Times New Roman"/>
                <a:cs typeface="Times New Roman"/>
              </a:rPr>
              <a:t> </a:t>
            </a:r>
            <a:r>
              <a:rPr sz="1853" baseline="-23809" dirty="0">
                <a:latin typeface="Times New Roman"/>
                <a:cs typeface="Times New Roman"/>
              </a:rPr>
              <a:t>1</a:t>
            </a:r>
            <a:r>
              <a:rPr sz="1853" spc="-53" baseline="-23809" dirty="0">
                <a:latin typeface="Times New Roman"/>
                <a:cs typeface="Times New Roman"/>
              </a:rPr>
              <a:t> </a:t>
            </a:r>
            <a:r>
              <a:rPr sz="2118" spc="-26" dirty="0">
                <a:latin typeface="Arial MT"/>
                <a:cs typeface="Arial MT"/>
              </a:rPr>
              <a:t></a:t>
            </a:r>
            <a:r>
              <a:rPr sz="2118" spc="-300" dirty="0">
                <a:latin typeface="Arial MT"/>
                <a:cs typeface="Arial MT"/>
              </a:rPr>
              <a:t> </a:t>
            </a:r>
            <a:r>
              <a:rPr sz="2118" i="1" spc="-18" dirty="0">
                <a:latin typeface="Times New Roman"/>
                <a:cs typeface="Times New Roman"/>
              </a:rPr>
              <a:t>X</a:t>
            </a:r>
            <a:r>
              <a:rPr sz="2118" i="1" spc="-247" dirty="0">
                <a:latin typeface="Times New Roman"/>
                <a:cs typeface="Times New Roman"/>
              </a:rPr>
              <a:t> </a:t>
            </a:r>
            <a:r>
              <a:rPr sz="1853" i="1" spc="-66" baseline="-23809" dirty="0">
                <a:latin typeface="Times New Roman"/>
                <a:cs typeface="Times New Roman"/>
              </a:rPr>
              <a:t>t</a:t>
            </a:r>
            <a:r>
              <a:rPr sz="1853" i="1" baseline="-23809" dirty="0">
                <a:latin typeface="Times New Roman"/>
                <a:cs typeface="Times New Roman"/>
              </a:rPr>
              <a:t>	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35" dirty="0">
                <a:latin typeface="Times New Roman"/>
                <a:cs typeface="Times New Roman"/>
              </a:rPr>
              <a:t>  </a:t>
            </a:r>
            <a:r>
              <a:rPr sz="2118" i="1" spc="-44" dirty="0">
                <a:latin typeface="Times New Roman"/>
                <a:cs typeface="Times New Roman"/>
              </a:rPr>
              <a:t>x</a:t>
            </a:r>
            <a:r>
              <a:rPr sz="1853" spc="-66" baseline="-23809" dirty="0">
                <a:latin typeface="Times New Roman"/>
                <a:cs typeface="Times New Roman"/>
              </a:rPr>
              <a:t>1</a:t>
            </a:r>
            <a:r>
              <a:rPr sz="1853" spc="-33" baseline="-23809" dirty="0">
                <a:latin typeface="Times New Roman"/>
                <a:cs typeface="Times New Roman"/>
              </a:rPr>
              <a:t> </a:t>
            </a:r>
            <a:r>
              <a:rPr sz="2118" spc="-26" dirty="0">
                <a:latin typeface="Arial MT"/>
                <a:cs typeface="Arial MT"/>
              </a:rPr>
              <a:t></a:t>
            </a:r>
            <a:r>
              <a:rPr sz="2118" spc="-361" dirty="0">
                <a:latin typeface="Arial MT"/>
                <a:cs typeface="Arial MT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x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152" baseline="-23809" dirty="0">
                <a:latin typeface="Times New Roman"/>
                <a:cs typeface="Times New Roman"/>
              </a:rPr>
              <a:t> </a:t>
            </a:r>
            <a:r>
              <a:rPr sz="2868" spc="-313" dirty="0">
                <a:latin typeface="Symbol"/>
                <a:cs typeface="Symbol"/>
              </a:rPr>
              <a:t></a:t>
            </a:r>
            <a:r>
              <a:rPr sz="2868" dirty="0">
                <a:latin typeface="Times New Roman"/>
                <a:cs typeface="Times New Roman"/>
              </a:rPr>
              <a:t>	</a:t>
            </a:r>
            <a:r>
              <a:rPr sz="2118" spc="-57" dirty="0">
                <a:latin typeface="Times New Roman"/>
                <a:cs typeface="Times New Roman"/>
              </a:rPr>
              <a:t>Pr</a:t>
            </a:r>
            <a:r>
              <a:rPr sz="2868" spc="-57" dirty="0">
                <a:latin typeface="Symbol"/>
                <a:cs typeface="Symbol"/>
              </a:rPr>
              <a:t></a:t>
            </a:r>
            <a:r>
              <a:rPr sz="2118" i="1" spc="-57" dirty="0">
                <a:latin typeface="Times New Roman"/>
                <a:cs typeface="Times New Roman"/>
              </a:rPr>
              <a:t>X</a:t>
            </a:r>
            <a:r>
              <a:rPr sz="2118" i="1" spc="-229" dirty="0">
                <a:latin typeface="Times New Roman"/>
                <a:cs typeface="Times New Roman"/>
              </a:rPr>
              <a:t> </a:t>
            </a:r>
            <a:r>
              <a:rPr sz="1853" i="1" baseline="-23809" dirty="0">
                <a:latin typeface="Times New Roman"/>
                <a:cs typeface="Times New Roman"/>
              </a:rPr>
              <a:t>t</a:t>
            </a:r>
            <a:r>
              <a:rPr sz="1853" i="1" spc="-251" baseline="-23809" dirty="0">
                <a:latin typeface="Times New Roman"/>
                <a:cs typeface="Times New Roman"/>
              </a:rPr>
              <a:t> </a:t>
            </a:r>
            <a:r>
              <a:rPr sz="1853" spc="-33" baseline="-23809" dirty="0">
                <a:latin typeface="Symbol"/>
                <a:cs typeface="Symbol"/>
              </a:rPr>
              <a:t></a:t>
            </a:r>
            <a:r>
              <a:rPr sz="1853" spc="-33" baseline="-23809" dirty="0">
                <a:latin typeface="Times New Roman"/>
                <a:cs typeface="Times New Roman"/>
              </a:rPr>
              <a:t>1</a:t>
            </a:r>
            <a:r>
              <a:rPr sz="1853" baseline="-23809" dirty="0">
                <a:latin typeface="Times New Roman"/>
                <a:cs typeface="Times New Roman"/>
              </a:rPr>
              <a:t>	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26" dirty="0">
                <a:latin typeface="Times New Roman"/>
                <a:cs typeface="Times New Roman"/>
              </a:rPr>
              <a:t>  </a:t>
            </a:r>
            <a:r>
              <a:rPr sz="2118" i="1" spc="-22" dirty="0">
                <a:latin typeface="Times New Roman"/>
                <a:cs typeface="Times New Roman"/>
              </a:rPr>
              <a:t>x</a:t>
            </a:r>
            <a:r>
              <a:rPr sz="1853" i="1" spc="-33" baseline="-23809" dirty="0">
                <a:latin typeface="Times New Roman"/>
                <a:cs typeface="Times New Roman"/>
              </a:rPr>
              <a:t>t</a:t>
            </a:r>
            <a:r>
              <a:rPr sz="1853" i="1" baseline="-23809" dirty="0">
                <a:latin typeface="Times New Roman"/>
                <a:cs typeface="Times New Roman"/>
              </a:rPr>
              <a:t>	</a:t>
            </a:r>
            <a:r>
              <a:rPr sz="2868" spc="-313" dirty="0">
                <a:latin typeface="Symbol"/>
                <a:cs typeface="Symbol"/>
              </a:rPr>
              <a:t></a:t>
            </a:r>
            <a:endParaRPr sz="2868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0612" y="2456105"/>
            <a:ext cx="7502338" cy="412937"/>
          </a:xfrm>
          <a:custGeom>
            <a:avLst/>
            <a:gdLst/>
            <a:ahLst/>
            <a:cxnLst/>
            <a:rect l="l" t="t" r="r" b="b"/>
            <a:pathLst>
              <a:path w="8502650" h="467995">
                <a:moveTo>
                  <a:pt x="8502396" y="467867"/>
                </a:moveTo>
                <a:lnTo>
                  <a:pt x="8502396" y="0"/>
                </a:lnTo>
                <a:lnTo>
                  <a:pt x="0" y="0"/>
                </a:lnTo>
                <a:lnTo>
                  <a:pt x="0" y="467868"/>
                </a:lnTo>
                <a:lnTo>
                  <a:pt x="6096" y="467868"/>
                </a:lnTo>
                <a:lnTo>
                  <a:pt x="6096" y="12192"/>
                </a:lnTo>
                <a:lnTo>
                  <a:pt x="12191" y="6096"/>
                </a:lnTo>
                <a:lnTo>
                  <a:pt x="12191" y="12192"/>
                </a:lnTo>
                <a:lnTo>
                  <a:pt x="8489442" y="12191"/>
                </a:lnTo>
                <a:lnTo>
                  <a:pt x="8489442" y="6095"/>
                </a:lnTo>
                <a:lnTo>
                  <a:pt x="8496300" y="12191"/>
                </a:lnTo>
                <a:lnTo>
                  <a:pt x="8496300" y="467867"/>
                </a:lnTo>
                <a:lnTo>
                  <a:pt x="8502396" y="467867"/>
                </a:lnTo>
                <a:close/>
              </a:path>
              <a:path w="8502650" h="467995">
                <a:moveTo>
                  <a:pt x="12191" y="12192"/>
                </a:moveTo>
                <a:lnTo>
                  <a:pt x="12191" y="6096"/>
                </a:lnTo>
                <a:lnTo>
                  <a:pt x="6096" y="12192"/>
                </a:lnTo>
                <a:lnTo>
                  <a:pt x="12191" y="12192"/>
                </a:lnTo>
                <a:close/>
              </a:path>
              <a:path w="8502650" h="467995">
                <a:moveTo>
                  <a:pt x="12191" y="454914"/>
                </a:moveTo>
                <a:lnTo>
                  <a:pt x="12191" y="12192"/>
                </a:lnTo>
                <a:lnTo>
                  <a:pt x="6096" y="12192"/>
                </a:lnTo>
                <a:lnTo>
                  <a:pt x="6096" y="454914"/>
                </a:lnTo>
                <a:lnTo>
                  <a:pt x="12191" y="454914"/>
                </a:lnTo>
                <a:close/>
              </a:path>
              <a:path w="8502650" h="467995">
                <a:moveTo>
                  <a:pt x="8496300" y="454913"/>
                </a:moveTo>
                <a:lnTo>
                  <a:pt x="6096" y="454914"/>
                </a:lnTo>
                <a:lnTo>
                  <a:pt x="12191" y="461771"/>
                </a:lnTo>
                <a:lnTo>
                  <a:pt x="12191" y="467868"/>
                </a:lnTo>
                <a:lnTo>
                  <a:pt x="8489442" y="467867"/>
                </a:lnTo>
                <a:lnTo>
                  <a:pt x="8489442" y="461771"/>
                </a:lnTo>
                <a:lnTo>
                  <a:pt x="8496300" y="454913"/>
                </a:lnTo>
                <a:close/>
              </a:path>
              <a:path w="8502650" h="467995">
                <a:moveTo>
                  <a:pt x="12191" y="467868"/>
                </a:moveTo>
                <a:lnTo>
                  <a:pt x="12191" y="461771"/>
                </a:lnTo>
                <a:lnTo>
                  <a:pt x="6096" y="454914"/>
                </a:lnTo>
                <a:lnTo>
                  <a:pt x="6096" y="467868"/>
                </a:lnTo>
                <a:lnTo>
                  <a:pt x="12191" y="467868"/>
                </a:lnTo>
                <a:close/>
              </a:path>
              <a:path w="8502650" h="467995">
                <a:moveTo>
                  <a:pt x="8496300" y="12191"/>
                </a:moveTo>
                <a:lnTo>
                  <a:pt x="8489442" y="6095"/>
                </a:lnTo>
                <a:lnTo>
                  <a:pt x="8489442" y="12191"/>
                </a:lnTo>
                <a:lnTo>
                  <a:pt x="8496300" y="12191"/>
                </a:lnTo>
                <a:close/>
              </a:path>
              <a:path w="8502650" h="467995">
                <a:moveTo>
                  <a:pt x="8496300" y="454913"/>
                </a:moveTo>
                <a:lnTo>
                  <a:pt x="8496300" y="12191"/>
                </a:lnTo>
                <a:lnTo>
                  <a:pt x="8489442" y="12191"/>
                </a:lnTo>
                <a:lnTo>
                  <a:pt x="8489442" y="454913"/>
                </a:lnTo>
                <a:lnTo>
                  <a:pt x="8496300" y="454913"/>
                </a:lnTo>
                <a:close/>
              </a:path>
              <a:path w="8502650" h="467995">
                <a:moveTo>
                  <a:pt x="8496300" y="467867"/>
                </a:moveTo>
                <a:lnTo>
                  <a:pt x="8496300" y="454913"/>
                </a:lnTo>
                <a:lnTo>
                  <a:pt x="8489442" y="461771"/>
                </a:lnTo>
                <a:lnTo>
                  <a:pt x="8489442" y="467867"/>
                </a:lnTo>
                <a:lnTo>
                  <a:pt x="8496300" y="467867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8269" y="3109025"/>
            <a:ext cx="5395631" cy="62597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66422" y="3329043"/>
            <a:ext cx="278466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619">
              <a:spcBef>
                <a:spcPts val="84"/>
              </a:spcBef>
            </a:pPr>
            <a:r>
              <a:rPr sz="1765" i="1" spc="-22" dirty="0">
                <a:latin typeface="Times New Roman"/>
                <a:cs typeface="Times New Roman"/>
              </a:rPr>
              <a:t>X</a:t>
            </a:r>
            <a:r>
              <a:rPr sz="1721" spc="-33" baseline="-21367" dirty="0">
                <a:latin typeface="Times New Roman"/>
                <a:cs typeface="Times New Roman"/>
              </a:rPr>
              <a:t>2</a:t>
            </a:r>
            <a:endParaRPr sz="1721" baseline="-2136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39601" y="3347196"/>
            <a:ext cx="5144621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44826">
              <a:spcBef>
                <a:spcPts val="84"/>
              </a:spcBef>
              <a:tabLst>
                <a:tab pos="2448056" algn="l"/>
                <a:tab pos="3646028" algn="l"/>
                <a:tab pos="4877060" algn="l"/>
              </a:tabLst>
            </a:pPr>
            <a:r>
              <a:rPr sz="1765" i="1" spc="-22" dirty="0">
                <a:latin typeface="Times New Roman"/>
                <a:cs typeface="Times New Roman"/>
              </a:rPr>
              <a:t>X</a:t>
            </a:r>
            <a:r>
              <a:rPr sz="1721" spc="-33" baseline="-19230" dirty="0">
                <a:latin typeface="Times New Roman"/>
                <a:cs typeface="Times New Roman"/>
              </a:rPr>
              <a:t>1</a:t>
            </a:r>
            <a:r>
              <a:rPr sz="1721" baseline="-19230" dirty="0">
                <a:latin typeface="Times New Roman"/>
                <a:cs typeface="Times New Roman"/>
              </a:rPr>
              <a:t>	</a:t>
            </a:r>
            <a:r>
              <a:rPr sz="2647" i="1" spc="-33" baseline="1388" dirty="0">
                <a:latin typeface="Times New Roman"/>
                <a:cs typeface="Times New Roman"/>
              </a:rPr>
              <a:t>X</a:t>
            </a:r>
            <a:r>
              <a:rPr sz="1721" spc="-33" baseline="-19230" dirty="0">
                <a:latin typeface="Times New Roman"/>
                <a:cs typeface="Times New Roman"/>
              </a:rPr>
              <a:t>3</a:t>
            </a:r>
            <a:r>
              <a:rPr sz="1721" baseline="-19230" dirty="0">
                <a:latin typeface="Times New Roman"/>
                <a:cs typeface="Times New Roman"/>
              </a:rPr>
              <a:t>	</a:t>
            </a:r>
            <a:r>
              <a:rPr sz="2647" i="1" spc="-33" baseline="1388" dirty="0">
                <a:latin typeface="Times New Roman"/>
                <a:cs typeface="Times New Roman"/>
              </a:rPr>
              <a:t>X</a:t>
            </a:r>
            <a:r>
              <a:rPr sz="1721" spc="-33" baseline="-19230" dirty="0">
                <a:latin typeface="Times New Roman"/>
                <a:cs typeface="Times New Roman"/>
              </a:rPr>
              <a:t>4</a:t>
            </a:r>
            <a:r>
              <a:rPr sz="1721" baseline="-19230" dirty="0">
                <a:latin typeface="Times New Roman"/>
                <a:cs typeface="Times New Roman"/>
              </a:rPr>
              <a:t>	</a:t>
            </a:r>
            <a:r>
              <a:rPr sz="1765" i="1" spc="-22" dirty="0">
                <a:latin typeface="Times New Roman"/>
                <a:cs typeface="Times New Roman"/>
              </a:rPr>
              <a:t>X</a:t>
            </a:r>
            <a:r>
              <a:rPr sz="1721" spc="-33" baseline="-21367" dirty="0">
                <a:latin typeface="Times New Roman"/>
                <a:cs typeface="Times New Roman"/>
              </a:rPr>
              <a:t>5</a:t>
            </a:r>
            <a:endParaRPr sz="1721" baseline="-2136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5442" y="3885752"/>
            <a:ext cx="7723654" cy="598916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11206" marR="4483" indent="182105">
              <a:lnSpc>
                <a:spcPct val="101000"/>
              </a:lnSpc>
              <a:spcBef>
                <a:spcPts val="62"/>
              </a:spcBef>
              <a:buClr>
                <a:srgbClr val="000000"/>
              </a:buClr>
              <a:buChar char="•"/>
              <a:tabLst>
                <a:tab pos="193312" algn="l"/>
              </a:tabLst>
            </a:pP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Stationary</a:t>
            </a:r>
            <a:r>
              <a:rPr sz="2118" spc="-88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Assumption:</a:t>
            </a:r>
            <a:r>
              <a:rPr sz="2118" spc="-110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Transition</a:t>
            </a:r>
            <a:r>
              <a:rPr sz="1765" spc="-49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probabilities</a:t>
            </a:r>
            <a:r>
              <a:rPr sz="1765" spc="-49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are</a:t>
            </a:r>
            <a:r>
              <a:rPr sz="1765" spc="-49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independent</a:t>
            </a:r>
            <a:r>
              <a:rPr sz="1765" spc="-53" dirty="0">
                <a:latin typeface="Comic Sans MS"/>
                <a:cs typeface="Comic Sans MS"/>
              </a:rPr>
              <a:t> </a:t>
            </a:r>
            <a:r>
              <a:rPr sz="1765" spc="-22" dirty="0">
                <a:latin typeface="Comic Sans MS"/>
                <a:cs typeface="Comic Sans MS"/>
              </a:rPr>
              <a:t>of </a:t>
            </a:r>
            <a:r>
              <a:rPr sz="1765" dirty="0">
                <a:latin typeface="Comic Sans MS"/>
                <a:cs typeface="Comic Sans MS"/>
              </a:rPr>
              <a:t>time</a:t>
            </a:r>
            <a:r>
              <a:rPr sz="1765" spc="-40" dirty="0">
                <a:latin typeface="Comic Sans MS"/>
                <a:cs typeface="Comic Sans MS"/>
              </a:rPr>
              <a:t> </a:t>
            </a:r>
            <a:r>
              <a:rPr sz="1765" spc="-22" dirty="0">
                <a:latin typeface="Comic Sans MS"/>
                <a:cs typeface="Comic Sans MS"/>
              </a:rPr>
              <a:t>(</a:t>
            </a:r>
            <a:r>
              <a:rPr sz="1765" i="1" spc="-22" dirty="0">
                <a:latin typeface="Times New Roman"/>
                <a:cs typeface="Times New Roman"/>
              </a:rPr>
              <a:t>t</a:t>
            </a:r>
            <a:r>
              <a:rPr sz="1765" spc="-22" dirty="0">
                <a:latin typeface="Comic Sans MS"/>
                <a:cs typeface="Comic Sans MS"/>
              </a:rPr>
              <a:t>)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52482" y="4586119"/>
            <a:ext cx="3023347" cy="452718"/>
            <a:chOff x="3307079" y="5197602"/>
            <a:chExt cx="3426460" cy="513080"/>
          </a:xfrm>
        </p:grpSpPr>
        <p:sp>
          <p:nvSpPr>
            <p:cNvPr id="16" name="object 16"/>
            <p:cNvSpPr/>
            <p:nvPr/>
          </p:nvSpPr>
          <p:spPr>
            <a:xfrm>
              <a:off x="3313175" y="5204460"/>
              <a:ext cx="3413760" cy="148590"/>
            </a:xfrm>
            <a:custGeom>
              <a:avLst/>
              <a:gdLst/>
              <a:ahLst/>
              <a:cxnLst/>
              <a:rect l="l" t="t" r="r" b="b"/>
              <a:pathLst>
                <a:path w="3413759" h="148589">
                  <a:moveTo>
                    <a:pt x="3413760" y="148589"/>
                  </a:moveTo>
                  <a:lnTo>
                    <a:pt x="3413760" y="0"/>
                  </a:lnTo>
                  <a:lnTo>
                    <a:pt x="0" y="0"/>
                  </a:lnTo>
                  <a:lnTo>
                    <a:pt x="0" y="148590"/>
                  </a:lnTo>
                  <a:lnTo>
                    <a:pt x="3413760" y="14858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3307079" y="5197602"/>
              <a:ext cx="3426460" cy="155575"/>
            </a:xfrm>
            <a:custGeom>
              <a:avLst/>
              <a:gdLst/>
              <a:ahLst/>
              <a:cxnLst/>
              <a:rect l="l" t="t" r="r" b="b"/>
              <a:pathLst>
                <a:path w="3426459" h="155575">
                  <a:moveTo>
                    <a:pt x="3425952" y="155448"/>
                  </a:moveTo>
                  <a:lnTo>
                    <a:pt x="3425952" y="0"/>
                  </a:lnTo>
                  <a:lnTo>
                    <a:pt x="0" y="0"/>
                  </a:lnTo>
                  <a:lnTo>
                    <a:pt x="0" y="155448"/>
                  </a:lnTo>
                  <a:lnTo>
                    <a:pt x="6096" y="155448"/>
                  </a:lnTo>
                  <a:lnTo>
                    <a:pt x="6096" y="12954"/>
                  </a:lnTo>
                  <a:lnTo>
                    <a:pt x="12954" y="6858"/>
                  </a:lnTo>
                  <a:lnTo>
                    <a:pt x="12954" y="12954"/>
                  </a:lnTo>
                  <a:lnTo>
                    <a:pt x="3412998" y="12953"/>
                  </a:lnTo>
                  <a:lnTo>
                    <a:pt x="3412998" y="6857"/>
                  </a:lnTo>
                  <a:lnTo>
                    <a:pt x="3419856" y="12953"/>
                  </a:lnTo>
                  <a:lnTo>
                    <a:pt x="3419856" y="155448"/>
                  </a:lnTo>
                  <a:lnTo>
                    <a:pt x="3425952" y="155448"/>
                  </a:lnTo>
                  <a:close/>
                </a:path>
                <a:path w="3426459" h="155575">
                  <a:moveTo>
                    <a:pt x="12954" y="12954"/>
                  </a:moveTo>
                  <a:lnTo>
                    <a:pt x="12954" y="6858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w="3426459" h="155575">
                  <a:moveTo>
                    <a:pt x="12954" y="155448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155448"/>
                  </a:lnTo>
                  <a:lnTo>
                    <a:pt x="12954" y="155448"/>
                  </a:lnTo>
                  <a:close/>
                </a:path>
                <a:path w="3426459" h="155575">
                  <a:moveTo>
                    <a:pt x="3419856" y="12953"/>
                  </a:moveTo>
                  <a:lnTo>
                    <a:pt x="3412998" y="6857"/>
                  </a:lnTo>
                  <a:lnTo>
                    <a:pt x="3412998" y="12953"/>
                  </a:lnTo>
                  <a:lnTo>
                    <a:pt x="3419856" y="12953"/>
                  </a:lnTo>
                  <a:close/>
                </a:path>
                <a:path w="3426459" h="155575">
                  <a:moveTo>
                    <a:pt x="3419856" y="155448"/>
                  </a:moveTo>
                  <a:lnTo>
                    <a:pt x="3419856" y="12953"/>
                  </a:lnTo>
                  <a:lnTo>
                    <a:pt x="3412998" y="12953"/>
                  </a:lnTo>
                  <a:lnTo>
                    <a:pt x="3412998" y="155448"/>
                  </a:lnTo>
                  <a:lnTo>
                    <a:pt x="3419856" y="155448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3313175" y="5352288"/>
              <a:ext cx="3413760" cy="358140"/>
            </a:xfrm>
            <a:custGeom>
              <a:avLst/>
              <a:gdLst/>
              <a:ahLst/>
              <a:cxnLst/>
              <a:rect l="l" t="t" r="r" b="b"/>
              <a:pathLst>
                <a:path w="3413759" h="358139">
                  <a:moveTo>
                    <a:pt x="3413760" y="358139"/>
                  </a:moveTo>
                  <a:lnTo>
                    <a:pt x="3413760" y="0"/>
                  </a:lnTo>
                  <a:lnTo>
                    <a:pt x="0" y="0"/>
                  </a:lnTo>
                  <a:lnTo>
                    <a:pt x="0" y="358140"/>
                  </a:lnTo>
                  <a:lnTo>
                    <a:pt x="3413760" y="35813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32001" y="4505198"/>
            <a:ext cx="2065804" cy="45435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33619">
              <a:spcBef>
                <a:spcPts val="101"/>
              </a:spcBef>
            </a:pPr>
            <a:r>
              <a:rPr sz="2118" spc="-26" dirty="0">
                <a:latin typeface="Times New Roman"/>
                <a:cs typeface="Times New Roman"/>
              </a:rPr>
              <a:t>Pr</a:t>
            </a:r>
            <a:r>
              <a:rPr sz="4302" spc="-39" baseline="-3418" dirty="0">
                <a:latin typeface="Symbol"/>
                <a:cs typeface="Symbol"/>
              </a:rPr>
              <a:t></a:t>
            </a:r>
            <a:r>
              <a:rPr sz="4302" spc="-662" baseline="-3418" dirty="0">
                <a:latin typeface="Times New Roman"/>
                <a:cs typeface="Times New Roman"/>
              </a:rPr>
              <a:t> </a:t>
            </a:r>
            <a:r>
              <a:rPr sz="2118" i="1" spc="84" dirty="0">
                <a:latin typeface="Times New Roman"/>
                <a:cs typeface="Times New Roman"/>
              </a:rPr>
              <a:t>X</a:t>
            </a:r>
            <a:r>
              <a:rPr sz="1853" i="1" spc="125" baseline="-23809" dirty="0">
                <a:latin typeface="Times New Roman"/>
                <a:cs typeface="Times New Roman"/>
              </a:rPr>
              <a:t>t</a:t>
            </a:r>
            <a:r>
              <a:rPr sz="1853" i="1" spc="-265" baseline="-23809" dirty="0">
                <a:latin typeface="Times New Roman"/>
                <a:cs typeface="Times New Roman"/>
              </a:rPr>
              <a:t> </a:t>
            </a:r>
            <a:r>
              <a:rPr sz="1853" baseline="-23809" dirty="0">
                <a:latin typeface="Symbol"/>
                <a:cs typeface="Symbol"/>
              </a:rPr>
              <a:t></a:t>
            </a:r>
            <a:r>
              <a:rPr sz="1853" baseline="-23809" dirty="0">
                <a:latin typeface="Times New Roman"/>
                <a:cs typeface="Times New Roman"/>
              </a:rPr>
              <a:t>1</a:t>
            </a:r>
            <a:r>
              <a:rPr sz="1853" spc="311" baseline="-23809" dirty="0">
                <a:latin typeface="Times New Roman"/>
                <a:cs typeface="Times New Roman"/>
              </a:rPr>
              <a:t> </a:t>
            </a:r>
            <a:r>
              <a:rPr sz="2118" spc="-18" dirty="0">
                <a:latin typeface="Symbol"/>
                <a:cs typeface="Symbol"/>
              </a:rPr>
              <a:t></a:t>
            </a:r>
            <a:r>
              <a:rPr sz="2118" spc="-176" dirty="0">
                <a:latin typeface="Times New Roman"/>
                <a:cs typeface="Times New Roman"/>
              </a:rPr>
              <a:t> </a:t>
            </a:r>
            <a:r>
              <a:rPr sz="2118" i="1" spc="-18" dirty="0">
                <a:latin typeface="Times New Roman"/>
                <a:cs typeface="Times New Roman"/>
              </a:rPr>
              <a:t>b</a:t>
            </a:r>
            <a:r>
              <a:rPr sz="2118" i="1" spc="-331" dirty="0">
                <a:latin typeface="Times New Roman"/>
                <a:cs typeface="Times New Roman"/>
              </a:rPr>
              <a:t> </a:t>
            </a:r>
            <a:r>
              <a:rPr sz="2118" i="1" spc="-9" dirty="0">
                <a:latin typeface="Times New Roman"/>
                <a:cs typeface="Times New Roman"/>
              </a:rPr>
              <a:t>|</a:t>
            </a:r>
            <a:r>
              <a:rPr sz="2118" i="1" spc="-128" dirty="0">
                <a:latin typeface="Times New Roman"/>
                <a:cs typeface="Times New Roman"/>
              </a:rPr>
              <a:t> </a:t>
            </a:r>
            <a:r>
              <a:rPr sz="2118" i="1" spc="84" dirty="0">
                <a:latin typeface="Times New Roman"/>
                <a:cs typeface="Times New Roman"/>
              </a:rPr>
              <a:t>X</a:t>
            </a:r>
            <a:r>
              <a:rPr sz="1853" i="1" spc="125" baseline="-23809" dirty="0">
                <a:latin typeface="Times New Roman"/>
                <a:cs typeface="Times New Roman"/>
              </a:rPr>
              <a:t>t</a:t>
            </a:r>
            <a:r>
              <a:rPr sz="1853" i="1" spc="596" baseline="-23809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Symbol"/>
                <a:cs typeface="Symbol"/>
              </a:rPr>
              <a:t></a:t>
            </a:r>
            <a:r>
              <a:rPr sz="2118" spc="-110" dirty="0">
                <a:latin typeface="Times New Roman"/>
                <a:cs typeface="Times New Roman"/>
              </a:rPr>
              <a:t> </a:t>
            </a:r>
            <a:r>
              <a:rPr sz="2118" i="1" spc="-44" dirty="0">
                <a:latin typeface="Times New Roman"/>
                <a:cs typeface="Times New Roman"/>
              </a:rPr>
              <a:t>a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49479" y="4603557"/>
            <a:ext cx="599515" cy="336107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33619">
              <a:spcBef>
                <a:spcPts val="79"/>
              </a:spcBef>
            </a:pPr>
            <a:r>
              <a:rPr sz="2118" dirty="0">
                <a:latin typeface="Symbol"/>
                <a:cs typeface="Symbol"/>
              </a:rPr>
              <a:t></a:t>
            </a:r>
            <a:r>
              <a:rPr sz="2118" spc="207" dirty="0">
                <a:latin typeface="Times New Roman"/>
                <a:cs typeface="Times New Roman"/>
              </a:rPr>
              <a:t> </a:t>
            </a:r>
            <a:r>
              <a:rPr sz="2118" i="1" spc="-22" dirty="0">
                <a:latin typeface="Times New Roman"/>
                <a:cs typeface="Times New Roman"/>
              </a:rPr>
              <a:t>p</a:t>
            </a:r>
            <a:r>
              <a:rPr sz="1853" i="1" spc="-33" baseline="-23809" dirty="0">
                <a:latin typeface="Times New Roman"/>
                <a:cs typeface="Times New Roman"/>
              </a:rPr>
              <a:t>ab</a:t>
            </a:r>
            <a:endParaRPr sz="1853" baseline="-2380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52482" y="4723279"/>
            <a:ext cx="3023347" cy="321609"/>
          </a:xfrm>
          <a:custGeom>
            <a:avLst/>
            <a:gdLst/>
            <a:ahLst/>
            <a:cxnLst/>
            <a:rect l="l" t="t" r="r" b="b"/>
            <a:pathLst>
              <a:path w="3426459" h="364489">
                <a:moveTo>
                  <a:pt x="12954" y="351282"/>
                </a:moveTo>
                <a:lnTo>
                  <a:pt x="12954" y="0"/>
                </a:lnTo>
                <a:lnTo>
                  <a:pt x="0" y="0"/>
                </a:lnTo>
                <a:lnTo>
                  <a:pt x="0" y="364236"/>
                </a:lnTo>
                <a:lnTo>
                  <a:pt x="6095" y="364236"/>
                </a:lnTo>
                <a:lnTo>
                  <a:pt x="6095" y="351282"/>
                </a:lnTo>
                <a:lnTo>
                  <a:pt x="12954" y="351282"/>
                </a:lnTo>
                <a:close/>
              </a:path>
              <a:path w="3426459" h="364489">
                <a:moveTo>
                  <a:pt x="3419856" y="351281"/>
                </a:moveTo>
                <a:lnTo>
                  <a:pt x="6095" y="351282"/>
                </a:lnTo>
                <a:lnTo>
                  <a:pt x="12954" y="357378"/>
                </a:lnTo>
                <a:lnTo>
                  <a:pt x="12954" y="364236"/>
                </a:lnTo>
                <a:lnTo>
                  <a:pt x="3412998" y="364235"/>
                </a:lnTo>
                <a:lnTo>
                  <a:pt x="3412998" y="357377"/>
                </a:lnTo>
                <a:lnTo>
                  <a:pt x="3419856" y="351281"/>
                </a:lnTo>
                <a:close/>
              </a:path>
              <a:path w="3426459" h="364489">
                <a:moveTo>
                  <a:pt x="12954" y="364236"/>
                </a:moveTo>
                <a:lnTo>
                  <a:pt x="12954" y="357378"/>
                </a:lnTo>
                <a:lnTo>
                  <a:pt x="6095" y="351282"/>
                </a:lnTo>
                <a:lnTo>
                  <a:pt x="6095" y="364236"/>
                </a:lnTo>
                <a:lnTo>
                  <a:pt x="12954" y="364236"/>
                </a:lnTo>
                <a:close/>
              </a:path>
              <a:path w="3426459" h="364489">
                <a:moveTo>
                  <a:pt x="3425952" y="364235"/>
                </a:moveTo>
                <a:lnTo>
                  <a:pt x="3425952" y="0"/>
                </a:lnTo>
                <a:lnTo>
                  <a:pt x="3412998" y="0"/>
                </a:lnTo>
                <a:lnTo>
                  <a:pt x="3412998" y="351281"/>
                </a:lnTo>
                <a:lnTo>
                  <a:pt x="3419856" y="351281"/>
                </a:lnTo>
                <a:lnTo>
                  <a:pt x="3419856" y="364235"/>
                </a:lnTo>
                <a:lnTo>
                  <a:pt x="3425952" y="364235"/>
                </a:lnTo>
                <a:close/>
              </a:path>
              <a:path w="3426459" h="364489">
                <a:moveTo>
                  <a:pt x="3419856" y="364235"/>
                </a:moveTo>
                <a:lnTo>
                  <a:pt x="3419856" y="351281"/>
                </a:lnTo>
                <a:lnTo>
                  <a:pt x="3412998" y="357377"/>
                </a:lnTo>
                <a:lnTo>
                  <a:pt x="3412998" y="364235"/>
                </a:lnTo>
                <a:lnTo>
                  <a:pt x="3419856" y="364235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  <p:transition spd="med">
    <p:split orient="vert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76639"/>
            <a:ext cx="3555626" cy="608286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28688" y="2103119"/>
            <a:ext cx="32497" cy="28574"/>
            <a:chOff x="3960113" y="2383535"/>
            <a:chExt cx="36830" cy="32384"/>
          </a:xfrm>
        </p:grpSpPr>
        <p:sp>
          <p:nvSpPr>
            <p:cNvPr id="4" name="object 4"/>
            <p:cNvSpPr/>
            <p:nvPr/>
          </p:nvSpPr>
          <p:spPr>
            <a:xfrm>
              <a:off x="3973067" y="241173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4337" y="381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4337" y="381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960113" y="2383535"/>
              <a:ext cx="36830" cy="32384"/>
            </a:xfrm>
            <a:custGeom>
              <a:avLst/>
              <a:gdLst/>
              <a:ahLst/>
              <a:cxnLst/>
              <a:rect l="l" t="t" r="r" b="b"/>
              <a:pathLst>
                <a:path w="36829" h="32385">
                  <a:moveTo>
                    <a:pt x="36418" y="32003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7701" y="32003"/>
                  </a:lnTo>
                  <a:lnTo>
                    <a:pt x="25908" y="28193"/>
                  </a:lnTo>
                  <a:lnTo>
                    <a:pt x="25908" y="32003"/>
                  </a:lnTo>
                  <a:lnTo>
                    <a:pt x="36418" y="32003"/>
                  </a:lnTo>
                  <a:close/>
                </a:path>
                <a:path w="36829" h="32385">
                  <a:moveTo>
                    <a:pt x="25908" y="32003"/>
                  </a:moveTo>
                  <a:lnTo>
                    <a:pt x="25908" y="28193"/>
                  </a:lnTo>
                  <a:lnTo>
                    <a:pt x="17701" y="32003"/>
                  </a:lnTo>
                  <a:lnTo>
                    <a:pt x="25908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8753" y="1169446"/>
            <a:ext cx="2609850" cy="129635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Simple</a:t>
            </a:r>
            <a:r>
              <a:rPr sz="2824" spc="-26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Example</a:t>
            </a:r>
            <a:endParaRPr sz="2824">
              <a:latin typeface="Arial MT"/>
              <a:cs typeface="Arial MT"/>
            </a:endParaRPr>
          </a:p>
          <a:p>
            <a:pPr marL="12887">
              <a:spcBef>
                <a:spcPts val="1310"/>
              </a:spcBef>
            </a:pPr>
            <a:r>
              <a:rPr sz="1765" b="1" spc="-9" dirty="0">
                <a:solidFill>
                  <a:srgbClr val="9A3300"/>
                </a:solidFill>
                <a:latin typeface="Comic Sans MS"/>
                <a:cs typeface="Comic Sans MS"/>
              </a:rPr>
              <a:t>Weather:</a:t>
            </a:r>
            <a:endParaRPr sz="1765">
              <a:latin typeface="Comic Sans MS"/>
              <a:cs typeface="Comic Sans MS"/>
            </a:endParaRPr>
          </a:p>
          <a:p>
            <a:pPr marL="195553" indent="-182666">
              <a:spcBef>
                <a:spcPts val="1059"/>
              </a:spcBef>
              <a:buFont typeface="Comic Sans MS"/>
              <a:buChar char="•"/>
              <a:tabLst>
                <a:tab pos="195553" algn="l"/>
              </a:tabLst>
            </a:pPr>
            <a:r>
              <a:rPr sz="1765" b="1" dirty="0">
                <a:latin typeface="Comic Sans MS"/>
                <a:cs typeface="Comic Sans MS"/>
              </a:rPr>
              <a:t>raining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today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8062" y="2033152"/>
            <a:ext cx="2421031" cy="19627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121">
              <a:lnSpc>
                <a:spcPct val="150500"/>
              </a:lnSpc>
              <a:spcBef>
                <a:spcPts val="88"/>
              </a:spcBef>
            </a:pPr>
            <a:r>
              <a:rPr sz="1765" b="1" dirty="0">
                <a:latin typeface="Comic Sans MS"/>
                <a:cs typeface="Comic Sans MS"/>
              </a:rPr>
              <a:t>40%</a:t>
            </a:r>
            <a:r>
              <a:rPr sz="1765" b="1" spc="-49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 </a:t>
            </a:r>
            <a:r>
              <a:rPr sz="1765" b="1" dirty="0">
                <a:latin typeface="Comic Sans MS"/>
                <a:cs typeface="Comic Sans MS"/>
              </a:rPr>
              <a:t>60%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no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</a:t>
            </a:r>
            <a:endParaRPr sz="1765">
              <a:latin typeface="Comic Sans MS"/>
              <a:cs typeface="Comic Sans MS"/>
            </a:endParaRPr>
          </a:p>
          <a:p>
            <a:pPr>
              <a:spcBef>
                <a:spcPts val="715"/>
              </a:spcBef>
            </a:pPr>
            <a:endParaRPr sz="1765">
              <a:latin typeface="Comic Sans MS"/>
              <a:cs typeface="Comic Sans MS"/>
            </a:endParaRPr>
          </a:p>
          <a:p>
            <a:pPr marL="11206" marR="5603" indent="1681">
              <a:lnSpc>
                <a:spcPct val="150000"/>
              </a:lnSpc>
            </a:pPr>
            <a:r>
              <a:rPr sz="1765" b="1" dirty="0">
                <a:latin typeface="Comic Sans MS"/>
                <a:cs typeface="Comic Sans MS"/>
              </a:rPr>
              <a:t>20%</a:t>
            </a:r>
            <a:r>
              <a:rPr sz="1765" b="1" spc="-49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 </a:t>
            </a:r>
            <a:r>
              <a:rPr sz="1765" b="1" dirty="0">
                <a:latin typeface="Comic Sans MS"/>
                <a:cs typeface="Comic Sans MS"/>
              </a:rPr>
              <a:t>80%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no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1574" y="2131358"/>
            <a:ext cx="624728" cy="283509"/>
            <a:chOff x="3453383" y="2415539"/>
            <a:chExt cx="708025" cy="321310"/>
          </a:xfrm>
        </p:grpSpPr>
        <p:sp>
          <p:nvSpPr>
            <p:cNvPr id="9" name="object 9"/>
            <p:cNvSpPr/>
            <p:nvPr/>
          </p:nvSpPr>
          <p:spPr>
            <a:xfrm>
              <a:off x="3465575" y="2415540"/>
              <a:ext cx="676910" cy="293370"/>
            </a:xfrm>
            <a:custGeom>
              <a:avLst/>
              <a:gdLst/>
              <a:ahLst/>
              <a:cxnLst/>
              <a:rect l="l" t="t" r="r" b="b"/>
              <a:pathLst>
                <a:path w="676910" h="293369">
                  <a:moveTo>
                    <a:pt x="676655" y="144779"/>
                  </a:moveTo>
                  <a:lnTo>
                    <a:pt x="511829" y="0"/>
                  </a:lnTo>
                  <a:lnTo>
                    <a:pt x="507491" y="0"/>
                  </a:lnTo>
                  <a:lnTo>
                    <a:pt x="507491" y="70103"/>
                  </a:lnTo>
                  <a:lnTo>
                    <a:pt x="0" y="70103"/>
                  </a:lnTo>
                  <a:lnTo>
                    <a:pt x="0" y="218693"/>
                  </a:lnTo>
                  <a:lnTo>
                    <a:pt x="507491" y="218693"/>
                  </a:lnTo>
                  <a:lnTo>
                    <a:pt x="507491" y="293369"/>
                  </a:lnTo>
                  <a:lnTo>
                    <a:pt x="676655" y="14477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453383" y="2415539"/>
              <a:ext cx="708025" cy="321310"/>
            </a:xfrm>
            <a:custGeom>
              <a:avLst/>
              <a:gdLst/>
              <a:ahLst/>
              <a:cxnLst/>
              <a:rect l="l" t="t" r="r" b="b"/>
              <a:pathLst>
                <a:path w="708025" h="321310">
                  <a:moveTo>
                    <a:pt x="519684" y="57911"/>
                  </a:moveTo>
                  <a:lnTo>
                    <a:pt x="0" y="57912"/>
                  </a:lnTo>
                  <a:lnTo>
                    <a:pt x="0" y="231648"/>
                  </a:lnTo>
                  <a:lnTo>
                    <a:pt x="12191" y="231648"/>
                  </a:lnTo>
                  <a:lnTo>
                    <a:pt x="12191" y="83058"/>
                  </a:lnTo>
                  <a:lnTo>
                    <a:pt x="25146" y="70103"/>
                  </a:lnTo>
                  <a:lnTo>
                    <a:pt x="25146" y="83058"/>
                  </a:lnTo>
                  <a:lnTo>
                    <a:pt x="506729" y="83058"/>
                  </a:lnTo>
                  <a:lnTo>
                    <a:pt x="506729" y="70103"/>
                  </a:lnTo>
                  <a:lnTo>
                    <a:pt x="519684" y="57911"/>
                  </a:lnTo>
                  <a:close/>
                </a:path>
                <a:path w="708025" h="321310">
                  <a:moveTo>
                    <a:pt x="25146" y="83058"/>
                  </a:moveTo>
                  <a:lnTo>
                    <a:pt x="25146" y="70103"/>
                  </a:lnTo>
                  <a:lnTo>
                    <a:pt x="12191" y="83058"/>
                  </a:lnTo>
                  <a:lnTo>
                    <a:pt x="25146" y="83058"/>
                  </a:lnTo>
                  <a:close/>
                </a:path>
                <a:path w="708025" h="321310">
                  <a:moveTo>
                    <a:pt x="25146" y="206501"/>
                  </a:moveTo>
                  <a:lnTo>
                    <a:pt x="25146" y="83058"/>
                  </a:lnTo>
                  <a:lnTo>
                    <a:pt x="12191" y="83058"/>
                  </a:lnTo>
                  <a:lnTo>
                    <a:pt x="12191" y="206501"/>
                  </a:lnTo>
                  <a:lnTo>
                    <a:pt x="25146" y="206501"/>
                  </a:lnTo>
                  <a:close/>
                </a:path>
                <a:path w="708025" h="321310">
                  <a:moveTo>
                    <a:pt x="532638" y="264722"/>
                  </a:moveTo>
                  <a:lnTo>
                    <a:pt x="532638" y="206501"/>
                  </a:lnTo>
                  <a:lnTo>
                    <a:pt x="12191" y="206501"/>
                  </a:lnTo>
                  <a:lnTo>
                    <a:pt x="25146" y="218693"/>
                  </a:lnTo>
                  <a:lnTo>
                    <a:pt x="25146" y="231648"/>
                  </a:lnTo>
                  <a:lnTo>
                    <a:pt x="506729" y="231648"/>
                  </a:lnTo>
                  <a:lnTo>
                    <a:pt x="506729" y="218694"/>
                  </a:lnTo>
                  <a:lnTo>
                    <a:pt x="519684" y="231648"/>
                  </a:lnTo>
                  <a:lnTo>
                    <a:pt x="519684" y="276101"/>
                  </a:lnTo>
                  <a:lnTo>
                    <a:pt x="532638" y="264722"/>
                  </a:lnTo>
                  <a:close/>
                </a:path>
                <a:path w="708025" h="321310">
                  <a:moveTo>
                    <a:pt x="25146" y="231648"/>
                  </a:moveTo>
                  <a:lnTo>
                    <a:pt x="25146" y="218693"/>
                  </a:lnTo>
                  <a:lnTo>
                    <a:pt x="12191" y="206501"/>
                  </a:lnTo>
                  <a:lnTo>
                    <a:pt x="12191" y="231648"/>
                  </a:lnTo>
                  <a:lnTo>
                    <a:pt x="25146" y="231648"/>
                  </a:lnTo>
                  <a:close/>
                </a:path>
                <a:path w="708025" h="321310">
                  <a:moveTo>
                    <a:pt x="524431" y="0"/>
                  </a:moveTo>
                  <a:lnTo>
                    <a:pt x="506729" y="0"/>
                  </a:lnTo>
                  <a:lnTo>
                    <a:pt x="506729" y="57911"/>
                  </a:lnTo>
                  <a:lnTo>
                    <a:pt x="511301" y="57911"/>
                  </a:lnTo>
                  <a:lnTo>
                    <a:pt x="511301" y="6096"/>
                  </a:lnTo>
                  <a:lnTo>
                    <a:pt x="524431" y="0"/>
                  </a:lnTo>
                  <a:close/>
                </a:path>
                <a:path w="708025" h="321310">
                  <a:moveTo>
                    <a:pt x="519684" y="83058"/>
                  </a:moveTo>
                  <a:lnTo>
                    <a:pt x="519684" y="57911"/>
                  </a:lnTo>
                  <a:lnTo>
                    <a:pt x="506729" y="70103"/>
                  </a:lnTo>
                  <a:lnTo>
                    <a:pt x="506729" y="83058"/>
                  </a:lnTo>
                  <a:lnTo>
                    <a:pt x="519684" y="83058"/>
                  </a:lnTo>
                  <a:close/>
                </a:path>
                <a:path w="708025" h="321310">
                  <a:moveTo>
                    <a:pt x="519684" y="231648"/>
                  </a:moveTo>
                  <a:lnTo>
                    <a:pt x="506729" y="218694"/>
                  </a:lnTo>
                  <a:lnTo>
                    <a:pt x="506729" y="231648"/>
                  </a:lnTo>
                  <a:lnTo>
                    <a:pt x="519684" y="231648"/>
                  </a:lnTo>
                  <a:close/>
                </a:path>
                <a:path w="708025" h="321310">
                  <a:moveTo>
                    <a:pt x="519684" y="276101"/>
                  </a:moveTo>
                  <a:lnTo>
                    <a:pt x="519684" y="231648"/>
                  </a:lnTo>
                  <a:lnTo>
                    <a:pt x="506729" y="231648"/>
                  </a:lnTo>
                  <a:lnTo>
                    <a:pt x="506729" y="320801"/>
                  </a:lnTo>
                  <a:lnTo>
                    <a:pt x="511301" y="316801"/>
                  </a:lnTo>
                  <a:lnTo>
                    <a:pt x="511301" y="283463"/>
                  </a:lnTo>
                  <a:lnTo>
                    <a:pt x="519684" y="276101"/>
                  </a:lnTo>
                  <a:close/>
                </a:path>
                <a:path w="708025" h="321310">
                  <a:moveTo>
                    <a:pt x="707898" y="144779"/>
                  </a:moveTo>
                  <a:lnTo>
                    <a:pt x="543148" y="0"/>
                  </a:lnTo>
                  <a:lnTo>
                    <a:pt x="524431" y="0"/>
                  </a:lnTo>
                  <a:lnTo>
                    <a:pt x="511301" y="6096"/>
                  </a:lnTo>
                  <a:lnTo>
                    <a:pt x="669594" y="144423"/>
                  </a:lnTo>
                  <a:lnTo>
                    <a:pt x="680465" y="134874"/>
                  </a:lnTo>
                  <a:lnTo>
                    <a:pt x="680465" y="168783"/>
                  </a:lnTo>
                  <a:lnTo>
                    <a:pt x="707898" y="144779"/>
                  </a:lnTo>
                  <a:close/>
                </a:path>
                <a:path w="708025" h="321310">
                  <a:moveTo>
                    <a:pt x="532638" y="83058"/>
                  </a:moveTo>
                  <a:lnTo>
                    <a:pt x="532638" y="24740"/>
                  </a:lnTo>
                  <a:lnTo>
                    <a:pt x="511301" y="6096"/>
                  </a:lnTo>
                  <a:lnTo>
                    <a:pt x="511301" y="57911"/>
                  </a:lnTo>
                  <a:lnTo>
                    <a:pt x="519684" y="57911"/>
                  </a:lnTo>
                  <a:lnTo>
                    <a:pt x="519684" y="83058"/>
                  </a:lnTo>
                  <a:lnTo>
                    <a:pt x="532638" y="83058"/>
                  </a:lnTo>
                  <a:close/>
                </a:path>
                <a:path w="708025" h="321310">
                  <a:moveTo>
                    <a:pt x="680465" y="168783"/>
                  </a:moveTo>
                  <a:lnTo>
                    <a:pt x="680465" y="153924"/>
                  </a:lnTo>
                  <a:lnTo>
                    <a:pt x="669594" y="144423"/>
                  </a:lnTo>
                  <a:lnTo>
                    <a:pt x="511301" y="283463"/>
                  </a:lnTo>
                  <a:lnTo>
                    <a:pt x="532638" y="293370"/>
                  </a:lnTo>
                  <a:lnTo>
                    <a:pt x="532638" y="298132"/>
                  </a:lnTo>
                  <a:lnTo>
                    <a:pt x="680465" y="168783"/>
                  </a:lnTo>
                  <a:close/>
                </a:path>
                <a:path w="708025" h="321310">
                  <a:moveTo>
                    <a:pt x="532638" y="298132"/>
                  </a:moveTo>
                  <a:lnTo>
                    <a:pt x="532638" y="293370"/>
                  </a:lnTo>
                  <a:lnTo>
                    <a:pt x="511301" y="283463"/>
                  </a:lnTo>
                  <a:lnTo>
                    <a:pt x="511301" y="316801"/>
                  </a:lnTo>
                  <a:lnTo>
                    <a:pt x="532638" y="298132"/>
                  </a:lnTo>
                  <a:close/>
                </a:path>
                <a:path w="708025" h="321310">
                  <a:moveTo>
                    <a:pt x="680465" y="153924"/>
                  </a:moveTo>
                  <a:lnTo>
                    <a:pt x="680465" y="134874"/>
                  </a:lnTo>
                  <a:lnTo>
                    <a:pt x="669594" y="144423"/>
                  </a:lnTo>
                  <a:lnTo>
                    <a:pt x="680465" y="153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81575" y="2497118"/>
            <a:ext cx="624728" cy="311524"/>
            <a:chOff x="3453384" y="2830067"/>
            <a:chExt cx="708025" cy="353060"/>
          </a:xfrm>
        </p:grpSpPr>
        <p:sp>
          <p:nvSpPr>
            <p:cNvPr id="12" name="object 12"/>
            <p:cNvSpPr/>
            <p:nvPr/>
          </p:nvSpPr>
          <p:spPr>
            <a:xfrm>
              <a:off x="3465576" y="2857499"/>
              <a:ext cx="676910" cy="297180"/>
            </a:xfrm>
            <a:custGeom>
              <a:avLst/>
              <a:gdLst/>
              <a:ahLst/>
              <a:cxnLst/>
              <a:rect l="l" t="t" r="r" b="b"/>
              <a:pathLst>
                <a:path w="676910" h="297180">
                  <a:moveTo>
                    <a:pt x="676656" y="148589"/>
                  </a:moveTo>
                  <a:lnTo>
                    <a:pt x="507492" y="0"/>
                  </a:lnTo>
                  <a:lnTo>
                    <a:pt x="507492" y="74675"/>
                  </a:lnTo>
                  <a:lnTo>
                    <a:pt x="0" y="74675"/>
                  </a:lnTo>
                  <a:lnTo>
                    <a:pt x="0" y="223265"/>
                  </a:lnTo>
                  <a:lnTo>
                    <a:pt x="507492" y="223265"/>
                  </a:lnTo>
                  <a:lnTo>
                    <a:pt x="507492" y="297179"/>
                  </a:lnTo>
                  <a:lnTo>
                    <a:pt x="676656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453384" y="2830067"/>
              <a:ext cx="708025" cy="353060"/>
            </a:xfrm>
            <a:custGeom>
              <a:avLst/>
              <a:gdLst/>
              <a:ahLst/>
              <a:cxnLst/>
              <a:rect l="l" t="t" r="r" b="b"/>
              <a:pathLst>
                <a:path w="708025" h="353060">
                  <a:moveTo>
                    <a:pt x="519684" y="89153"/>
                  </a:moveTo>
                  <a:lnTo>
                    <a:pt x="0" y="89153"/>
                  </a:lnTo>
                  <a:lnTo>
                    <a:pt x="0" y="262889"/>
                  </a:lnTo>
                  <a:lnTo>
                    <a:pt x="12192" y="262889"/>
                  </a:lnTo>
                  <a:lnTo>
                    <a:pt x="12192" y="115061"/>
                  </a:lnTo>
                  <a:lnTo>
                    <a:pt x="25145" y="102107"/>
                  </a:lnTo>
                  <a:lnTo>
                    <a:pt x="25145" y="115061"/>
                  </a:lnTo>
                  <a:lnTo>
                    <a:pt x="506730" y="115061"/>
                  </a:lnTo>
                  <a:lnTo>
                    <a:pt x="506730" y="102107"/>
                  </a:lnTo>
                  <a:lnTo>
                    <a:pt x="519684" y="89153"/>
                  </a:lnTo>
                  <a:close/>
                </a:path>
                <a:path w="708025" h="353060">
                  <a:moveTo>
                    <a:pt x="25145" y="115061"/>
                  </a:moveTo>
                  <a:lnTo>
                    <a:pt x="25145" y="102107"/>
                  </a:lnTo>
                  <a:lnTo>
                    <a:pt x="12192" y="115061"/>
                  </a:lnTo>
                  <a:lnTo>
                    <a:pt x="25145" y="115061"/>
                  </a:lnTo>
                  <a:close/>
                </a:path>
                <a:path w="708025" h="353060">
                  <a:moveTo>
                    <a:pt x="25145" y="237743"/>
                  </a:moveTo>
                  <a:lnTo>
                    <a:pt x="25145" y="115061"/>
                  </a:lnTo>
                  <a:lnTo>
                    <a:pt x="12192" y="115061"/>
                  </a:lnTo>
                  <a:lnTo>
                    <a:pt x="12192" y="237743"/>
                  </a:lnTo>
                  <a:lnTo>
                    <a:pt x="25145" y="237743"/>
                  </a:lnTo>
                  <a:close/>
                </a:path>
                <a:path w="708025" h="353060">
                  <a:moveTo>
                    <a:pt x="532638" y="296726"/>
                  </a:moveTo>
                  <a:lnTo>
                    <a:pt x="532638" y="237743"/>
                  </a:lnTo>
                  <a:lnTo>
                    <a:pt x="12192" y="237743"/>
                  </a:lnTo>
                  <a:lnTo>
                    <a:pt x="25145" y="250697"/>
                  </a:lnTo>
                  <a:lnTo>
                    <a:pt x="25145" y="262889"/>
                  </a:lnTo>
                  <a:lnTo>
                    <a:pt x="506730" y="262889"/>
                  </a:lnTo>
                  <a:lnTo>
                    <a:pt x="506730" y="250697"/>
                  </a:lnTo>
                  <a:lnTo>
                    <a:pt x="519684" y="262889"/>
                  </a:lnTo>
                  <a:lnTo>
                    <a:pt x="519684" y="308105"/>
                  </a:lnTo>
                  <a:lnTo>
                    <a:pt x="532638" y="296726"/>
                  </a:lnTo>
                  <a:close/>
                </a:path>
                <a:path w="708025" h="353060">
                  <a:moveTo>
                    <a:pt x="25145" y="262889"/>
                  </a:moveTo>
                  <a:lnTo>
                    <a:pt x="25145" y="250697"/>
                  </a:lnTo>
                  <a:lnTo>
                    <a:pt x="12192" y="237743"/>
                  </a:lnTo>
                  <a:lnTo>
                    <a:pt x="12192" y="262889"/>
                  </a:lnTo>
                  <a:lnTo>
                    <a:pt x="25145" y="262889"/>
                  </a:lnTo>
                  <a:close/>
                </a:path>
                <a:path w="708025" h="353060">
                  <a:moveTo>
                    <a:pt x="707898" y="176021"/>
                  </a:moveTo>
                  <a:lnTo>
                    <a:pt x="506730" y="0"/>
                  </a:lnTo>
                  <a:lnTo>
                    <a:pt x="506730" y="89153"/>
                  </a:lnTo>
                  <a:lnTo>
                    <a:pt x="511302" y="89153"/>
                  </a:lnTo>
                  <a:lnTo>
                    <a:pt x="511302" y="37337"/>
                  </a:lnTo>
                  <a:lnTo>
                    <a:pt x="532638" y="27431"/>
                  </a:lnTo>
                  <a:lnTo>
                    <a:pt x="532638" y="56079"/>
                  </a:lnTo>
                  <a:lnTo>
                    <a:pt x="669622" y="176402"/>
                  </a:lnTo>
                  <a:lnTo>
                    <a:pt x="680466" y="166877"/>
                  </a:lnTo>
                  <a:lnTo>
                    <a:pt x="680466" y="200128"/>
                  </a:lnTo>
                  <a:lnTo>
                    <a:pt x="707898" y="176021"/>
                  </a:lnTo>
                  <a:close/>
                </a:path>
                <a:path w="708025" h="353060">
                  <a:moveTo>
                    <a:pt x="519684" y="115061"/>
                  </a:moveTo>
                  <a:lnTo>
                    <a:pt x="519684" y="89153"/>
                  </a:lnTo>
                  <a:lnTo>
                    <a:pt x="506730" y="102107"/>
                  </a:lnTo>
                  <a:lnTo>
                    <a:pt x="506730" y="115061"/>
                  </a:lnTo>
                  <a:lnTo>
                    <a:pt x="519684" y="115061"/>
                  </a:lnTo>
                  <a:close/>
                </a:path>
                <a:path w="708025" h="353060">
                  <a:moveTo>
                    <a:pt x="519684" y="262889"/>
                  </a:moveTo>
                  <a:lnTo>
                    <a:pt x="506730" y="250697"/>
                  </a:lnTo>
                  <a:lnTo>
                    <a:pt x="506730" y="262889"/>
                  </a:lnTo>
                  <a:lnTo>
                    <a:pt x="519684" y="262889"/>
                  </a:lnTo>
                  <a:close/>
                </a:path>
                <a:path w="708025" h="353060">
                  <a:moveTo>
                    <a:pt x="519684" y="308105"/>
                  </a:moveTo>
                  <a:lnTo>
                    <a:pt x="519684" y="262889"/>
                  </a:lnTo>
                  <a:lnTo>
                    <a:pt x="506730" y="262889"/>
                  </a:lnTo>
                  <a:lnTo>
                    <a:pt x="506730" y="352805"/>
                  </a:lnTo>
                  <a:lnTo>
                    <a:pt x="511302" y="348788"/>
                  </a:lnTo>
                  <a:lnTo>
                    <a:pt x="511302" y="315467"/>
                  </a:lnTo>
                  <a:lnTo>
                    <a:pt x="519684" y="308105"/>
                  </a:lnTo>
                  <a:close/>
                </a:path>
                <a:path w="708025" h="353060">
                  <a:moveTo>
                    <a:pt x="532638" y="56079"/>
                  </a:moveTo>
                  <a:lnTo>
                    <a:pt x="532638" y="27431"/>
                  </a:lnTo>
                  <a:lnTo>
                    <a:pt x="511302" y="37337"/>
                  </a:lnTo>
                  <a:lnTo>
                    <a:pt x="532638" y="56079"/>
                  </a:lnTo>
                  <a:close/>
                </a:path>
                <a:path w="708025" h="353060">
                  <a:moveTo>
                    <a:pt x="532638" y="115061"/>
                  </a:moveTo>
                  <a:lnTo>
                    <a:pt x="532638" y="56079"/>
                  </a:lnTo>
                  <a:lnTo>
                    <a:pt x="511302" y="37337"/>
                  </a:lnTo>
                  <a:lnTo>
                    <a:pt x="511302" y="89153"/>
                  </a:lnTo>
                  <a:lnTo>
                    <a:pt x="519684" y="89153"/>
                  </a:lnTo>
                  <a:lnTo>
                    <a:pt x="519684" y="115061"/>
                  </a:lnTo>
                  <a:lnTo>
                    <a:pt x="532638" y="115061"/>
                  </a:lnTo>
                  <a:close/>
                </a:path>
                <a:path w="708025" h="353060">
                  <a:moveTo>
                    <a:pt x="680466" y="200128"/>
                  </a:moveTo>
                  <a:lnTo>
                    <a:pt x="680466" y="185927"/>
                  </a:lnTo>
                  <a:lnTo>
                    <a:pt x="669622" y="176402"/>
                  </a:lnTo>
                  <a:lnTo>
                    <a:pt x="511302" y="315467"/>
                  </a:lnTo>
                  <a:lnTo>
                    <a:pt x="532638" y="324611"/>
                  </a:lnTo>
                  <a:lnTo>
                    <a:pt x="532638" y="330038"/>
                  </a:lnTo>
                  <a:lnTo>
                    <a:pt x="680466" y="200128"/>
                  </a:lnTo>
                  <a:close/>
                </a:path>
                <a:path w="708025" h="353060">
                  <a:moveTo>
                    <a:pt x="532638" y="330038"/>
                  </a:moveTo>
                  <a:lnTo>
                    <a:pt x="532638" y="324611"/>
                  </a:lnTo>
                  <a:lnTo>
                    <a:pt x="511302" y="315467"/>
                  </a:lnTo>
                  <a:lnTo>
                    <a:pt x="511302" y="348788"/>
                  </a:lnTo>
                  <a:lnTo>
                    <a:pt x="532638" y="330038"/>
                  </a:lnTo>
                  <a:close/>
                </a:path>
                <a:path w="708025" h="353060">
                  <a:moveTo>
                    <a:pt x="680466" y="185927"/>
                  </a:moveTo>
                  <a:lnTo>
                    <a:pt x="680466" y="166877"/>
                  </a:lnTo>
                  <a:lnTo>
                    <a:pt x="669622" y="176402"/>
                  </a:lnTo>
                  <a:lnTo>
                    <a:pt x="680466" y="185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9065" y="3380814"/>
            <a:ext cx="2258546" cy="117485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95028" indent="-182666">
              <a:spcBef>
                <a:spcPts val="84"/>
              </a:spcBef>
              <a:buFont typeface="Comic Sans MS"/>
              <a:buChar char="•"/>
              <a:tabLst>
                <a:tab pos="395028" algn="l"/>
              </a:tabLst>
            </a:pPr>
            <a:r>
              <a:rPr sz="1765" b="1" dirty="0">
                <a:latin typeface="Comic Sans MS"/>
                <a:cs typeface="Comic Sans MS"/>
              </a:rPr>
              <a:t>not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raining</a:t>
            </a:r>
            <a:r>
              <a:rPr sz="1765" b="1" spc="-13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today</a:t>
            </a:r>
            <a:endParaRPr sz="1765">
              <a:latin typeface="Comic Sans MS"/>
              <a:cs typeface="Comic Sans MS"/>
            </a:endParaRPr>
          </a:p>
          <a:p>
            <a:pPr>
              <a:spcBef>
                <a:spcPts val="2281"/>
              </a:spcBef>
            </a:pPr>
            <a:endParaRPr sz="1765">
              <a:latin typeface="Comic Sans MS"/>
              <a:cs typeface="Comic Sans MS"/>
            </a:endParaRPr>
          </a:p>
          <a:p>
            <a:pPr marL="11206"/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Stochastic</a:t>
            </a:r>
            <a:r>
              <a:rPr sz="2118" spc="-49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spc="-18" dirty="0">
                <a:solidFill>
                  <a:srgbClr val="9A3300"/>
                </a:solidFill>
                <a:latin typeface="Comic Sans MS"/>
                <a:cs typeface="Comic Sans MS"/>
              </a:rPr>
              <a:t>FSM:</a:t>
            </a:r>
            <a:endParaRPr sz="2118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70144" y="3334199"/>
            <a:ext cx="624728" cy="312084"/>
            <a:chOff x="3440429" y="3778758"/>
            <a:chExt cx="708025" cy="353695"/>
          </a:xfrm>
        </p:grpSpPr>
        <p:sp>
          <p:nvSpPr>
            <p:cNvPr id="16" name="object 16"/>
            <p:cNvSpPr/>
            <p:nvPr/>
          </p:nvSpPr>
          <p:spPr>
            <a:xfrm>
              <a:off x="3453383" y="3806952"/>
              <a:ext cx="676275" cy="297180"/>
            </a:xfrm>
            <a:custGeom>
              <a:avLst/>
              <a:gdLst/>
              <a:ahLst/>
              <a:cxnLst/>
              <a:rect l="l" t="t" r="r" b="b"/>
              <a:pathLst>
                <a:path w="676275" h="297179">
                  <a:moveTo>
                    <a:pt x="675894" y="148589"/>
                  </a:moveTo>
                  <a:lnTo>
                    <a:pt x="506730" y="0"/>
                  </a:lnTo>
                  <a:lnTo>
                    <a:pt x="506730" y="74675"/>
                  </a:lnTo>
                  <a:lnTo>
                    <a:pt x="0" y="74675"/>
                  </a:lnTo>
                  <a:lnTo>
                    <a:pt x="0" y="222503"/>
                  </a:lnTo>
                  <a:lnTo>
                    <a:pt x="506730" y="222503"/>
                  </a:lnTo>
                  <a:lnTo>
                    <a:pt x="506730" y="297179"/>
                  </a:lnTo>
                  <a:lnTo>
                    <a:pt x="675894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3440429" y="3778758"/>
              <a:ext cx="708025" cy="353695"/>
            </a:xfrm>
            <a:custGeom>
              <a:avLst/>
              <a:gdLst/>
              <a:ahLst/>
              <a:cxnLst/>
              <a:rect l="l" t="t" r="r" b="b"/>
              <a:pathLst>
                <a:path w="708025" h="353695">
                  <a:moveTo>
                    <a:pt x="519684" y="89915"/>
                  </a:moveTo>
                  <a:lnTo>
                    <a:pt x="0" y="89915"/>
                  </a:lnTo>
                  <a:lnTo>
                    <a:pt x="0" y="263651"/>
                  </a:lnTo>
                  <a:lnTo>
                    <a:pt x="12954" y="263651"/>
                  </a:lnTo>
                  <a:lnTo>
                    <a:pt x="12954" y="115061"/>
                  </a:lnTo>
                  <a:lnTo>
                    <a:pt x="25145" y="102869"/>
                  </a:lnTo>
                  <a:lnTo>
                    <a:pt x="25145" y="115061"/>
                  </a:lnTo>
                  <a:lnTo>
                    <a:pt x="507492" y="115061"/>
                  </a:lnTo>
                  <a:lnTo>
                    <a:pt x="507492" y="102869"/>
                  </a:lnTo>
                  <a:lnTo>
                    <a:pt x="519684" y="89915"/>
                  </a:lnTo>
                  <a:close/>
                </a:path>
                <a:path w="708025" h="353695">
                  <a:moveTo>
                    <a:pt x="25145" y="115061"/>
                  </a:moveTo>
                  <a:lnTo>
                    <a:pt x="25145" y="102869"/>
                  </a:lnTo>
                  <a:lnTo>
                    <a:pt x="12954" y="115061"/>
                  </a:lnTo>
                  <a:lnTo>
                    <a:pt x="25145" y="115061"/>
                  </a:lnTo>
                  <a:close/>
                </a:path>
                <a:path w="708025" h="353695">
                  <a:moveTo>
                    <a:pt x="25145" y="238505"/>
                  </a:moveTo>
                  <a:lnTo>
                    <a:pt x="25145" y="115061"/>
                  </a:lnTo>
                  <a:lnTo>
                    <a:pt x="12954" y="115061"/>
                  </a:lnTo>
                  <a:lnTo>
                    <a:pt x="12954" y="238505"/>
                  </a:lnTo>
                  <a:lnTo>
                    <a:pt x="25145" y="238505"/>
                  </a:lnTo>
                  <a:close/>
                </a:path>
                <a:path w="708025" h="353695">
                  <a:moveTo>
                    <a:pt x="532638" y="296823"/>
                  </a:moveTo>
                  <a:lnTo>
                    <a:pt x="532638" y="238505"/>
                  </a:lnTo>
                  <a:lnTo>
                    <a:pt x="12954" y="238505"/>
                  </a:lnTo>
                  <a:lnTo>
                    <a:pt x="25145" y="250697"/>
                  </a:lnTo>
                  <a:lnTo>
                    <a:pt x="25145" y="263651"/>
                  </a:lnTo>
                  <a:lnTo>
                    <a:pt x="507492" y="263651"/>
                  </a:lnTo>
                  <a:lnTo>
                    <a:pt x="507492" y="250697"/>
                  </a:lnTo>
                  <a:lnTo>
                    <a:pt x="519684" y="263651"/>
                  </a:lnTo>
                  <a:lnTo>
                    <a:pt x="519684" y="308143"/>
                  </a:lnTo>
                  <a:lnTo>
                    <a:pt x="532638" y="296823"/>
                  </a:lnTo>
                  <a:close/>
                </a:path>
                <a:path w="708025" h="353695">
                  <a:moveTo>
                    <a:pt x="25145" y="263651"/>
                  </a:moveTo>
                  <a:lnTo>
                    <a:pt x="25145" y="250697"/>
                  </a:lnTo>
                  <a:lnTo>
                    <a:pt x="12954" y="238505"/>
                  </a:lnTo>
                  <a:lnTo>
                    <a:pt x="12954" y="263651"/>
                  </a:lnTo>
                  <a:lnTo>
                    <a:pt x="25145" y="263651"/>
                  </a:lnTo>
                  <a:close/>
                </a:path>
                <a:path w="708025" h="353695">
                  <a:moveTo>
                    <a:pt x="707898" y="176783"/>
                  </a:moveTo>
                  <a:lnTo>
                    <a:pt x="507492" y="0"/>
                  </a:lnTo>
                  <a:lnTo>
                    <a:pt x="507492" y="89915"/>
                  </a:lnTo>
                  <a:lnTo>
                    <a:pt x="511302" y="89915"/>
                  </a:lnTo>
                  <a:lnTo>
                    <a:pt x="511302" y="38099"/>
                  </a:lnTo>
                  <a:lnTo>
                    <a:pt x="532638" y="28193"/>
                  </a:lnTo>
                  <a:lnTo>
                    <a:pt x="532638" y="56841"/>
                  </a:lnTo>
                  <a:lnTo>
                    <a:pt x="669594" y="177140"/>
                  </a:lnTo>
                  <a:lnTo>
                    <a:pt x="680466" y="167639"/>
                  </a:lnTo>
                  <a:lnTo>
                    <a:pt x="680466" y="200982"/>
                  </a:lnTo>
                  <a:lnTo>
                    <a:pt x="707898" y="176783"/>
                  </a:lnTo>
                  <a:close/>
                </a:path>
                <a:path w="708025" h="353695">
                  <a:moveTo>
                    <a:pt x="519684" y="115061"/>
                  </a:moveTo>
                  <a:lnTo>
                    <a:pt x="519684" y="89915"/>
                  </a:lnTo>
                  <a:lnTo>
                    <a:pt x="507492" y="102869"/>
                  </a:lnTo>
                  <a:lnTo>
                    <a:pt x="507492" y="115061"/>
                  </a:lnTo>
                  <a:lnTo>
                    <a:pt x="519684" y="115061"/>
                  </a:lnTo>
                  <a:close/>
                </a:path>
                <a:path w="708025" h="353695">
                  <a:moveTo>
                    <a:pt x="519684" y="263651"/>
                  </a:moveTo>
                  <a:lnTo>
                    <a:pt x="507492" y="250697"/>
                  </a:lnTo>
                  <a:lnTo>
                    <a:pt x="507492" y="263651"/>
                  </a:lnTo>
                  <a:lnTo>
                    <a:pt x="519684" y="263651"/>
                  </a:lnTo>
                  <a:close/>
                </a:path>
                <a:path w="708025" h="353695">
                  <a:moveTo>
                    <a:pt x="519684" y="308143"/>
                  </a:moveTo>
                  <a:lnTo>
                    <a:pt x="519684" y="263651"/>
                  </a:lnTo>
                  <a:lnTo>
                    <a:pt x="507492" y="263651"/>
                  </a:lnTo>
                  <a:lnTo>
                    <a:pt x="507492" y="353567"/>
                  </a:lnTo>
                  <a:lnTo>
                    <a:pt x="511302" y="350207"/>
                  </a:lnTo>
                  <a:lnTo>
                    <a:pt x="511302" y="315467"/>
                  </a:lnTo>
                  <a:lnTo>
                    <a:pt x="519684" y="308143"/>
                  </a:lnTo>
                  <a:close/>
                </a:path>
                <a:path w="708025" h="353695">
                  <a:moveTo>
                    <a:pt x="532638" y="56841"/>
                  </a:moveTo>
                  <a:lnTo>
                    <a:pt x="532638" y="28193"/>
                  </a:lnTo>
                  <a:lnTo>
                    <a:pt x="511302" y="38099"/>
                  </a:lnTo>
                  <a:lnTo>
                    <a:pt x="532638" y="56841"/>
                  </a:lnTo>
                  <a:close/>
                </a:path>
                <a:path w="708025" h="353695">
                  <a:moveTo>
                    <a:pt x="532638" y="115061"/>
                  </a:moveTo>
                  <a:lnTo>
                    <a:pt x="532638" y="56841"/>
                  </a:lnTo>
                  <a:lnTo>
                    <a:pt x="511302" y="38099"/>
                  </a:lnTo>
                  <a:lnTo>
                    <a:pt x="511302" y="89915"/>
                  </a:lnTo>
                  <a:lnTo>
                    <a:pt x="519684" y="89915"/>
                  </a:lnTo>
                  <a:lnTo>
                    <a:pt x="519684" y="115061"/>
                  </a:lnTo>
                  <a:lnTo>
                    <a:pt x="532638" y="115061"/>
                  </a:lnTo>
                  <a:close/>
                </a:path>
                <a:path w="708025" h="353695">
                  <a:moveTo>
                    <a:pt x="680466" y="200982"/>
                  </a:moveTo>
                  <a:lnTo>
                    <a:pt x="680466" y="186689"/>
                  </a:lnTo>
                  <a:lnTo>
                    <a:pt x="669594" y="177140"/>
                  </a:lnTo>
                  <a:lnTo>
                    <a:pt x="511302" y="315467"/>
                  </a:lnTo>
                  <a:lnTo>
                    <a:pt x="532638" y="325373"/>
                  </a:lnTo>
                  <a:lnTo>
                    <a:pt x="532638" y="331385"/>
                  </a:lnTo>
                  <a:lnTo>
                    <a:pt x="680466" y="200982"/>
                  </a:lnTo>
                  <a:close/>
                </a:path>
                <a:path w="708025" h="353695">
                  <a:moveTo>
                    <a:pt x="532638" y="331385"/>
                  </a:moveTo>
                  <a:lnTo>
                    <a:pt x="532638" y="325373"/>
                  </a:lnTo>
                  <a:lnTo>
                    <a:pt x="511302" y="315467"/>
                  </a:lnTo>
                  <a:lnTo>
                    <a:pt x="511302" y="350207"/>
                  </a:lnTo>
                  <a:lnTo>
                    <a:pt x="532638" y="331385"/>
                  </a:lnTo>
                  <a:close/>
                </a:path>
                <a:path w="708025" h="353695">
                  <a:moveTo>
                    <a:pt x="680466" y="186689"/>
                  </a:moveTo>
                  <a:lnTo>
                    <a:pt x="680466" y="167639"/>
                  </a:lnTo>
                  <a:lnTo>
                    <a:pt x="669594" y="177140"/>
                  </a:lnTo>
                  <a:lnTo>
                    <a:pt x="680466" y="186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181574" y="3695924"/>
            <a:ext cx="624728" cy="311524"/>
            <a:chOff x="3453383" y="4188714"/>
            <a:chExt cx="708025" cy="353060"/>
          </a:xfrm>
        </p:grpSpPr>
        <p:sp>
          <p:nvSpPr>
            <p:cNvPr id="19" name="object 19"/>
            <p:cNvSpPr/>
            <p:nvPr/>
          </p:nvSpPr>
          <p:spPr>
            <a:xfrm>
              <a:off x="3465575" y="4216908"/>
              <a:ext cx="676910" cy="157480"/>
            </a:xfrm>
            <a:custGeom>
              <a:avLst/>
              <a:gdLst/>
              <a:ahLst/>
              <a:cxnLst/>
              <a:rect l="l" t="t" r="r" b="b"/>
              <a:pathLst>
                <a:path w="676910" h="157479">
                  <a:moveTo>
                    <a:pt x="676655" y="148589"/>
                  </a:moveTo>
                  <a:lnTo>
                    <a:pt x="507491" y="0"/>
                  </a:lnTo>
                  <a:lnTo>
                    <a:pt x="507491" y="73913"/>
                  </a:lnTo>
                  <a:lnTo>
                    <a:pt x="0" y="73913"/>
                  </a:lnTo>
                  <a:lnTo>
                    <a:pt x="0" y="156971"/>
                  </a:lnTo>
                  <a:lnTo>
                    <a:pt x="667064" y="156971"/>
                  </a:lnTo>
                  <a:lnTo>
                    <a:pt x="676655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3453383" y="4188714"/>
              <a:ext cx="708025" cy="185420"/>
            </a:xfrm>
            <a:custGeom>
              <a:avLst/>
              <a:gdLst/>
              <a:ahLst/>
              <a:cxnLst/>
              <a:rect l="l" t="t" r="r" b="b"/>
              <a:pathLst>
                <a:path w="708025" h="185420">
                  <a:moveTo>
                    <a:pt x="519684" y="89915"/>
                  </a:moveTo>
                  <a:lnTo>
                    <a:pt x="0" y="89915"/>
                  </a:lnTo>
                  <a:lnTo>
                    <a:pt x="0" y="185165"/>
                  </a:lnTo>
                  <a:lnTo>
                    <a:pt x="12191" y="185165"/>
                  </a:lnTo>
                  <a:lnTo>
                    <a:pt x="12191" y="115062"/>
                  </a:lnTo>
                  <a:lnTo>
                    <a:pt x="25146" y="102107"/>
                  </a:lnTo>
                  <a:lnTo>
                    <a:pt x="25146" y="115062"/>
                  </a:lnTo>
                  <a:lnTo>
                    <a:pt x="506729" y="115062"/>
                  </a:lnTo>
                  <a:lnTo>
                    <a:pt x="506729" y="102107"/>
                  </a:lnTo>
                  <a:lnTo>
                    <a:pt x="519684" y="89915"/>
                  </a:lnTo>
                  <a:close/>
                </a:path>
                <a:path w="708025" h="185420">
                  <a:moveTo>
                    <a:pt x="25146" y="115062"/>
                  </a:moveTo>
                  <a:lnTo>
                    <a:pt x="25146" y="102107"/>
                  </a:lnTo>
                  <a:lnTo>
                    <a:pt x="12191" y="115062"/>
                  </a:lnTo>
                  <a:lnTo>
                    <a:pt x="25146" y="115062"/>
                  </a:lnTo>
                  <a:close/>
                </a:path>
                <a:path w="708025" h="185420">
                  <a:moveTo>
                    <a:pt x="25146" y="185165"/>
                  </a:moveTo>
                  <a:lnTo>
                    <a:pt x="25146" y="115062"/>
                  </a:lnTo>
                  <a:lnTo>
                    <a:pt x="12191" y="115062"/>
                  </a:lnTo>
                  <a:lnTo>
                    <a:pt x="12191" y="185165"/>
                  </a:lnTo>
                  <a:lnTo>
                    <a:pt x="25146" y="185165"/>
                  </a:lnTo>
                  <a:close/>
                </a:path>
                <a:path w="708025" h="185420">
                  <a:moveTo>
                    <a:pt x="707898" y="176783"/>
                  </a:moveTo>
                  <a:lnTo>
                    <a:pt x="506729" y="0"/>
                  </a:lnTo>
                  <a:lnTo>
                    <a:pt x="506729" y="89915"/>
                  </a:lnTo>
                  <a:lnTo>
                    <a:pt x="511301" y="89915"/>
                  </a:lnTo>
                  <a:lnTo>
                    <a:pt x="511301" y="37337"/>
                  </a:lnTo>
                  <a:lnTo>
                    <a:pt x="532638" y="28193"/>
                  </a:lnTo>
                  <a:lnTo>
                    <a:pt x="532638" y="56079"/>
                  </a:lnTo>
                  <a:lnTo>
                    <a:pt x="669622" y="176402"/>
                  </a:lnTo>
                  <a:lnTo>
                    <a:pt x="680465" y="166877"/>
                  </a:lnTo>
                  <a:lnTo>
                    <a:pt x="680465" y="185165"/>
                  </a:lnTo>
                  <a:lnTo>
                    <a:pt x="698318" y="185165"/>
                  </a:lnTo>
                  <a:lnTo>
                    <a:pt x="707898" y="176783"/>
                  </a:lnTo>
                  <a:close/>
                </a:path>
                <a:path w="708025" h="185420">
                  <a:moveTo>
                    <a:pt x="519684" y="115062"/>
                  </a:moveTo>
                  <a:lnTo>
                    <a:pt x="519684" y="89915"/>
                  </a:lnTo>
                  <a:lnTo>
                    <a:pt x="506729" y="102107"/>
                  </a:lnTo>
                  <a:lnTo>
                    <a:pt x="506729" y="115062"/>
                  </a:lnTo>
                  <a:lnTo>
                    <a:pt x="519684" y="115062"/>
                  </a:lnTo>
                  <a:close/>
                </a:path>
                <a:path w="708025" h="185420">
                  <a:moveTo>
                    <a:pt x="532638" y="56079"/>
                  </a:moveTo>
                  <a:lnTo>
                    <a:pt x="532638" y="28193"/>
                  </a:lnTo>
                  <a:lnTo>
                    <a:pt x="511301" y="37337"/>
                  </a:lnTo>
                  <a:lnTo>
                    <a:pt x="532638" y="56079"/>
                  </a:lnTo>
                  <a:close/>
                </a:path>
                <a:path w="708025" h="185420">
                  <a:moveTo>
                    <a:pt x="532638" y="115061"/>
                  </a:moveTo>
                  <a:lnTo>
                    <a:pt x="532638" y="56079"/>
                  </a:lnTo>
                  <a:lnTo>
                    <a:pt x="511301" y="37337"/>
                  </a:lnTo>
                  <a:lnTo>
                    <a:pt x="511301" y="89915"/>
                  </a:lnTo>
                  <a:lnTo>
                    <a:pt x="519684" y="89915"/>
                  </a:lnTo>
                  <a:lnTo>
                    <a:pt x="519684" y="115062"/>
                  </a:lnTo>
                  <a:lnTo>
                    <a:pt x="532638" y="115061"/>
                  </a:lnTo>
                  <a:close/>
                </a:path>
                <a:path w="708025" h="185420">
                  <a:moveTo>
                    <a:pt x="679598" y="185165"/>
                  </a:moveTo>
                  <a:lnTo>
                    <a:pt x="669622" y="176402"/>
                  </a:lnTo>
                  <a:lnTo>
                    <a:pt x="659645" y="185165"/>
                  </a:lnTo>
                  <a:lnTo>
                    <a:pt x="679598" y="185165"/>
                  </a:lnTo>
                  <a:close/>
                </a:path>
                <a:path w="708025" h="185420">
                  <a:moveTo>
                    <a:pt x="680465" y="185165"/>
                  </a:moveTo>
                  <a:lnTo>
                    <a:pt x="680465" y="166877"/>
                  </a:lnTo>
                  <a:lnTo>
                    <a:pt x="669622" y="176402"/>
                  </a:lnTo>
                  <a:lnTo>
                    <a:pt x="679598" y="185165"/>
                  </a:lnTo>
                  <a:lnTo>
                    <a:pt x="680465" y="185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465575" y="4373880"/>
              <a:ext cx="667385" cy="139700"/>
            </a:xfrm>
            <a:custGeom>
              <a:avLst/>
              <a:gdLst/>
              <a:ahLst/>
              <a:cxnLst/>
              <a:rect l="l" t="t" r="r" b="b"/>
              <a:pathLst>
                <a:path w="667385" h="139700">
                  <a:moveTo>
                    <a:pt x="667064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507491" y="65532"/>
                  </a:lnTo>
                  <a:lnTo>
                    <a:pt x="507491" y="139446"/>
                  </a:lnTo>
                  <a:lnTo>
                    <a:pt x="66706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453383" y="4373880"/>
              <a:ext cx="698500" cy="167640"/>
            </a:xfrm>
            <a:custGeom>
              <a:avLst/>
              <a:gdLst/>
              <a:ahLst/>
              <a:cxnLst/>
              <a:rect l="l" t="t" r="r" b="b"/>
              <a:pathLst>
                <a:path w="698500" h="167639">
                  <a:moveTo>
                    <a:pt x="25146" y="52577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78486"/>
                  </a:lnTo>
                  <a:lnTo>
                    <a:pt x="12191" y="78486"/>
                  </a:lnTo>
                  <a:lnTo>
                    <a:pt x="12191" y="52577"/>
                  </a:lnTo>
                  <a:lnTo>
                    <a:pt x="25146" y="52577"/>
                  </a:lnTo>
                  <a:close/>
                </a:path>
                <a:path w="698500" h="167639">
                  <a:moveTo>
                    <a:pt x="532638" y="111560"/>
                  </a:moveTo>
                  <a:lnTo>
                    <a:pt x="532638" y="52577"/>
                  </a:lnTo>
                  <a:lnTo>
                    <a:pt x="12191" y="52577"/>
                  </a:lnTo>
                  <a:lnTo>
                    <a:pt x="25146" y="65531"/>
                  </a:lnTo>
                  <a:lnTo>
                    <a:pt x="25146" y="78486"/>
                  </a:lnTo>
                  <a:lnTo>
                    <a:pt x="506729" y="78486"/>
                  </a:lnTo>
                  <a:lnTo>
                    <a:pt x="506729" y="65532"/>
                  </a:lnTo>
                  <a:lnTo>
                    <a:pt x="519684" y="78486"/>
                  </a:lnTo>
                  <a:lnTo>
                    <a:pt x="519684" y="122939"/>
                  </a:lnTo>
                  <a:lnTo>
                    <a:pt x="532638" y="111560"/>
                  </a:lnTo>
                  <a:close/>
                </a:path>
                <a:path w="698500" h="167639">
                  <a:moveTo>
                    <a:pt x="25146" y="78486"/>
                  </a:moveTo>
                  <a:lnTo>
                    <a:pt x="25146" y="65531"/>
                  </a:lnTo>
                  <a:lnTo>
                    <a:pt x="12191" y="52577"/>
                  </a:lnTo>
                  <a:lnTo>
                    <a:pt x="12191" y="78486"/>
                  </a:lnTo>
                  <a:lnTo>
                    <a:pt x="25146" y="78486"/>
                  </a:lnTo>
                  <a:close/>
                </a:path>
                <a:path w="698500" h="167639">
                  <a:moveTo>
                    <a:pt x="519684" y="78486"/>
                  </a:moveTo>
                  <a:lnTo>
                    <a:pt x="506729" y="65532"/>
                  </a:lnTo>
                  <a:lnTo>
                    <a:pt x="506729" y="78486"/>
                  </a:lnTo>
                  <a:lnTo>
                    <a:pt x="519684" y="78486"/>
                  </a:lnTo>
                  <a:close/>
                </a:path>
                <a:path w="698500" h="167639">
                  <a:moveTo>
                    <a:pt x="519684" y="122939"/>
                  </a:moveTo>
                  <a:lnTo>
                    <a:pt x="519684" y="78486"/>
                  </a:lnTo>
                  <a:lnTo>
                    <a:pt x="506729" y="78486"/>
                  </a:lnTo>
                  <a:lnTo>
                    <a:pt x="506729" y="167640"/>
                  </a:lnTo>
                  <a:lnTo>
                    <a:pt x="511301" y="163639"/>
                  </a:lnTo>
                  <a:lnTo>
                    <a:pt x="511301" y="130301"/>
                  </a:lnTo>
                  <a:lnTo>
                    <a:pt x="519684" y="122939"/>
                  </a:lnTo>
                  <a:close/>
                </a:path>
                <a:path w="698500" h="167639">
                  <a:moveTo>
                    <a:pt x="680465" y="15621"/>
                  </a:moveTo>
                  <a:lnTo>
                    <a:pt x="680465" y="761"/>
                  </a:lnTo>
                  <a:lnTo>
                    <a:pt x="679598" y="0"/>
                  </a:lnTo>
                  <a:lnTo>
                    <a:pt x="659645" y="0"/>
                  </a:lnTo>
                  <a:lnTo>
                    <a:pt x="511301" y="130301"/>
                  </a:lnTo>
                  <a:lnTo>
                    <a:pt x="532638" y="139446"/>
                  </a:lnTo>
                  <a:lnTo>
                    <a:pt x="532638" y="144970"/>
                  </a:lnTo>
                  <a:lnTo>
                    <a:pt x="680465" y="15621"/>
                  </a:lnTo>
                  <a:close/>
                </a:path>
                <a:path w="698500" h="167639">
                  <a:moveTo>
                    <a:pt x="532638" y="144970"/>
                  </a:moveTo>
                  <a:lnTo>
                    <a:pt x="532638" y="139446"/>
                  </a:lnTo>
                  <a:lnTo>
                    <a:pt x="511301" y="130301"/>
                  </a:lnTo>
                  <a:lnTo>
                    <a:pt x="511301" y="163639"/>
                  </a:lnTo>
                  <a:lnTo>
                    <a:pt x="532638" y="144970"/>
                  </a:lnTo>
                  <a:close/>
                </a:path>
                <a:path w="698500" h="167639">
                  <a:moveTo>
                    <a:pt x="698318" y="0"/>
                  </a:moveTo>
                  <a:lnTo>
                    <a:pt x="679598" y="0"/>
                  </a:lnTo>
                  <a:lnTo>
                    <a:pt x="680465" y="761"/>
                  </a:lnTo>
                  <a:lnTo>
                    <a:pt x="680465" y="15621"/>
                  </a:lnTo>
                  <a:lnTo>
                    <a:pt x="698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43132" y="4459941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22" dirty="0">
                <a:latin typeface="Times New Roman"/>
                <a:cs typeface="Times New Roman"/>
              </a:rPr>
              <a:t>0.6</a:t>
            </a:r>
            <a:endParaRPr sz="1588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7883" y="4722607"/>
            <a:ext cx="8068235" cy="1175497"/>
            <a:chOff x="457200" y="5352288"/>
            <a:chExt cx="9144000" cy="1332230"/>
          </a:xfrm>
        </p:grpSpPr>
        <p:sp>
          <p:nvSpPr>
            <p:cNvPr id="25" name="object 25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6603" y="5424473"/>
              <a:ext cx="4197692" cy="125993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627569" y="5177341"/>
            <a:ext cx="421901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b="1" spc="-18" dirty="0">
                <a:latin typeface="Times New Roman"/>
                <a:cs typeface="Times New Roman"/>
              </a:rPr>
              <a:t>rain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12304" y="5204236"/>
            <a:ext cx="712694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b="1" dirty="0">
                <a:latin typeface="Times New Roman"/>
                <a:cs typeface="Times New Roman"/>
              </a:rPr>
              <a:t>no</a:t>
            </a:r>
            <a:r>
              <a:rPr sz="1765" b="1" spc="-31" dirty="0">
                <a:latin typeface="Times New Roman"/>
                <a:cs typeface="Times New Roman"/>
              </a:rPr>
              <a:t> </a:t>
            </a:r>
            <a:r>
              <a:rPr sz="1765" b="1" spc="-18" dirty="0">
                <a:latin typeface="Times New Roman"/>
                <a:cs typeface="Times New Roman"/>
              </a:rPr>
              <a:t>rain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95065" y="4554070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22" dirty="0">
                <a:latin typeface="Times New Roman"/>
                <a:cs typeface="Times New Roman"/>
              </a:rPr>
              <a:t>0.4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71701" y="4606514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22" dirty="0">
                <a:latin typeface="Times New Roman"/>
                <a:cs typeface="Times New Roman"/>
              </a:rPr>
              <a:t>0.8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8340" y="5887345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22" dirty="0">
                <a:latin typeface="Times New Roman"/>
                <a:cs typeface="Times New Roman"/>
              </a:rPr>
              <a:t>0.2</a:t>
            </a:r>
            <a:endParaRPr sz="158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26393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28688" y="2103119"/>
            <a:ext cx="32497" cy="28574"/>
            <a:chOff x="3960113" y="2383535"/>
            <a:chExt cx="36830" cy="32384"/>
          </a:xfrm>
        </p:grpSpPr>
        <p:sp>
          <p:nvSpPr>
            <p:cNvPr id="4" name="object 4"/>
            <p:cNvSpPr/>
            <p:nvPr/>
          </p:nvSpPr>
          <p:spPr>
            <a:xfrm>
              <a:off x="3973067" y="241173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4337" y="381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4337" y="381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960113" y="2383535"/>
              <a:ext cx="36830" cy="32384"/>
            </a:xfrm>
            <a:custGeom>
              <a:avLst/>
              <a:gdLst/>
              <a:ahLst/>
              <a:cxnLst/>
              <a:rect l="l" t="t" r="r" b="b"/>
              <a:pathLst>
                <a:path w="36829" h="32385">
                  <a:moveTo>
                    <a:pt x="36418" y="32003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7701" y="32003"/>
                  </a:lnTo>
                  <a:lnTo>
                    <a:pt x="25908" y="28193"/>
                  </a:lnTo>
                  <a:lnTo>
                    <a:pt x="25908" y="32003"/>
                  </a:lnTo>
                  <a:lnTo>
                    <a:pt x="36418" y="32003"/>
                  </a:lnTo>
                  <a:close/>
                </a:path>
                <a:path w="36829" h="32385">
                  <a:moveTo>
                    <a:pt x="25908" y="32003"/>
                  </a:moveTo>
                  <a:lnTo>
                    <a:pt x="25908" y="28193"/>
                  </a:lnTo>
                  <a:lnTo>
                    <a:pt x="17701" y="32003"/>
                  </a:lnTo>
                  <a:lnTo>
                    <a:pt x="25908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8752" y="957151"/>
            <a:ext cx="2610971" cy="1454207"/>
          </a:xfrm>
          <a:prstGeom prst="rect">
            <a:avLst/>
          </a:prstGeom>
        </p:spPr>
        <p:txBody>
          <a:bodyPr vert="horz" wrap="square" lIns="0" tIns="205068" rIns="0" bIns="0" rtlCol="0">
            <a:spAutoFit/>
          </a:bodyPr>
          <a:lstStyle/>
          <a:p>
            <a:pPr marL="11206">
              <a:spcBef>
                <a:spcPts val="1615"/>
              </a:spcBef>
            </a:pPr>
            <a:r>
              <a:rPr sz="2824" dirty="0">
                <a:latin typeface="Arial MT"/>
                <a:cs typeface="Arial MT"/>
              </a:rPr>
              <a:t>Simple</a:t>
            </a:r>
            <a:r>
              <a:rPr sz="2824" spc="-57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Example</a:t>
            </a:r>
            <a:endParaRPr sz="2824">
              <a:latin typeface="Arial MT"/>
              <a:cs typeface="Arial MT"/>
            </a:endParaRPr>
          </a:p>
          <a:p>
            <a:pPr marL="22972">
              <a:spcBef>
                <a:spcPts val="953"/>
              </a:spcBef>
            </a:pPr>
            <a:r>
              <a:rPr sz="1765" b="1" spc="-9" dirty="0">
                <a:solidFill>
                  <a:srgbClr val="9A3300"/>
                </a:solidFill>
                <a:latin typeface="Comic Sans MS"/>
                <a:cs typeface="Comic Sans MS"/>
              </a:rPr>
              <a:t>Weather:</a:t>
            </a:r>
            <a:endParaRPr sz="1765">
              <a:latin typeface="Comic Sans MS"/>
              <a:cs typeface="Comic Sans MS"/>
            </a:endParaRPr>
          </a:p>
          <a:p>
            <a:pPr marL="205639" indent="-182666">
              <a:spcBef>
                <a:spcPts val="1059"/>
              </a:spcBef>
              <a:buFont typeface="Comic Sans MS"/>
              <a:buChar char="•"/>
              <a:tabLst>
                <a:tab pos="205639" algn="l"/>
              </a:tabLst>
            </a:pPr>
            <a:r>
              <a:rPr sz="1765" b="1" dirty="0">
                <a:latin typeface="Comic Sans MS"/>
                <a:cs typeface="Comic Sans MS"/>
              </a:rPr>
              <a:t>raining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today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8147" y="1969951"/>
            <a:ext cx="2421031" cy="78582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121">
              <a:lnSpc>
                <a:spcPct val="150500"/>
              </a:lnSpc>
              <a:spcBef>
                <a:spcPts val="88"/>
              </a:spcBef>
            </a:pPr>
            <a:r>
              <a:rPr sz="1765" b="1" dirty="0">
                <a:latin typeface="Comic Sans MS"/>
                <a:cs typeface="Comic Sans MS"/>
              </a:rPr>
              <a:t>40%</a:t>
            </a:r>
            <a:r>
              <a:rPr sz="1765" b="1" spc="-49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 </a:t>
            </a:r>
            <a:r>
              <a:rPr sz="1765" b="1" dirty="0">
                <a:latin typeface="Comic Sans MS"/>
                <a:cs typeface="Comic Sans MS"/>
              </a:rPr>
              <a:t>60%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no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1574" y="2131358"/>
            <a:ext cx="624728" cy="283509"/>
            <a:chOff x="3453383" y="2415539"/>
            <a:chExt cx="708025" cy="321310"/>
          </a:xfrm>
        </p:grpSpPr>
        <p:sp>
          <p:nvSpPr>
            <p:cNvPr id="9" name="object 9"/>
            <p:cNvSpPr/>
            <p:nvPr/>
          </p:nvSpPr>
          <p:spPr>
            <a:xfrm>
              <a:off x="3465575" y="2415540"/>
              <a:ext cx="676910" cy="293370"/>
            </a:xfrm>
            <a:custGeom>
              <a:avLst/>
              <a:gdLst/>
              <a:ahLst/>
              <a:cxnLst/>
              <a:rect l="l" t="t" r="r" b="b"/>
              <a:pathLst>
                <a:path w="676910" h="293369">
                  <a:moveTo>
                    <a:pt x="676655" y="144779"/>
                  </a:moveTo>
                  <a:lnTo>
                    <a:pt x="511829" y="0"/>
                  </a:lnTo>
                  <a:lnTo>
                    <a:pt x="507491" y="0"/>
                  </a:lnTo>
                  <a:lnTo>
                    <a:pt x="507491" y="70103"/>
                  </a:lnTo>
                  <a:lnTo>
                    <a:pt x="0" y="70103"/>
                  </a:lnTo>
                  <a:lnTo>
                    <a:pt x="0" y="218693"/>
                  </a:lnTo>
                  <a:lnTo>
                    <a:pt x="507491" y="218693"/>
                  </a:lnTo>
                  <a:lnTo>
                    <a:pt x="507491" y="293369"/>
                  </a:lnTo>
                  <a:lnTo>
                    <a:pt x="676655" y="14477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453383" y="2415539"/>
              <a:ext cx="708025" cy="321310"/>
            </a:xfrm>
            <a:custGeom>
              <a:avLst/>
              <a:gdLst/>
              <a:ahLst/>
              <a:cxnLst/>
              <a:rect l="l" t="t" r="r" b="b"/>
              <a:pathLst>
                <a:path w="708025" h="321310">
                  <a:moveTo>
                    <a:pt x="519684" y="57911"/>
                  </a:moveTo>
                  <a:lnTo>
                    <a:pt x="0" y="57912"/>
                  </a:lnTo>
                  <a:lnTo>
                    <a:pt x="0" y="231648"/>
                  </a:lnTo>
                  <a:lnTo>
                    <a:pt x="12191" y="231648"/>
                  </a:lnTo>
                  <a:lnTo>
                    <a:pt x="12191" y="83058"/>
                  </a:lnTo>
                  <a:lnTo>
                    <a:pt x="25146" y="70103"/>
                  </a:lnTo>
                  <a:lnTo>
                    <a:pt x="25146" y="83058"/>
                  </a:lnTo>
                  <a:lnTo>
                    <a:pt x="506729" y="83058"/>
                  </a:lnTo>
                  <a:lnTo>
                    <a:pt x="506729" y="70103"/>
                  </a:lnTo>
                  <a:lnTo>
                    <a:pt x="519684" y="57911"/>
                  </a:lnTo>
                  <a:close/>
                </a:path>
                <a:path w="708025" h="321310">
                  <a:moveTo>
                    <a:pt x="25146" y="83058"/>
                  </a:moveTo>
                  <a:lnTo>
                    <a:pt x="25146" y="70103"/>
                  </a:lnTo>
                  <a:lnTo>
                    <a:pt x="12191" y="83058"/>
                  </a:lnTo>
                  <a:lnTo>
                    <a:pt x="25146" y="83058"/>
                  </a:lnTo>
                  <a:close/>
                </a:path>
                <a:path w="708025" h="321310">
                  <a:moveTo>
                    <a:pt x="25146" y="206501"/>
                  </a:moveTo>
                  <a:lnTo>
                    <a:pt x="25146" y="83058"/>
                  </a:lnTo>
                  <a:lnTo>
                    <a:pt x="12191" y="83058"/>
                  </a:lnTo>
                  <a:lnTo>
                    <a:pt x="12191" y="206501"/>
                  </a:lnTo>
                  <a:lnTo>
                    <a:pt x="25146" y="206501"/>
                  </a:lnTo>
                  <a:close/>
                </a:path>
                <a:path w="708025" h="321310">
                  <a:moveTo>
                    <a:pt x="532638" y="264722"/>
                  </a:moveTo>
                  <a:lnTo>
                    <a:pt x="532638" y="206501"/>
                  </a:lnTo>
                  <a:lnTo>
                    <a:pt x="12191" y="206501"/>
                  </a:lnTo>
                  <a:lnTo>
                    <a:pt x="25146" y="218693"/>
                  </a:lnTo>
                  <a:lnTo>
                    <a:pt x="25146" y="231648"/>
                  </a:lnTo>
                  <a:lnTo>
                    <a:pt x="506729" y="231648"/>
                  </a:lnTo>
                  <a:lnTo>
                    <a:pt x="506729" y="218694"/>
                  </a:lnTo>
                  <a:lnTo>
                    <a:pt x="519684" y="231648"/>
                  </a:lnTo>
                  <a:lnTo>
                    <a:pt x="519684" y="276101"/>
                  </a:lnTo>
                  <a:lnTo>
                    <a:pt x="532638" y="264722"/>
                  </a:lnTo>
                  <a:close/>
                </a:path>
                <a:path w="708025" h="321310">
                  <a:moveTo>
                    <a:pt x="25146" y="231648"/>
                  </a:moveTo>
                  <a:lnTo>
                    <a:pt x="25146" y="218693"/>
                  </a:lnTo>
                  <a:lnTo>
                    <a:pt x="12191" y="206501"/>
                  </a:lnTo>
                  <a:lnTo>
                    <a:pt x="12191" y="231648"/>
                  </a:lnTo>
                  <a:lnTo>
                    <a:pt x="25146" y="231648"/>
                  </a:lnTo>
                  <a:close/>
                </a:path>
                <a:path w="708025" h="321310">
                  <a:moveTo>
                    <a:pt x="524431" y="0"/>
                  </a:moveTo>
                  <a:lnTo>
                    <a:pt x="506729" y="0"/>
                  </a:lnTo>
                  <a:lnTo>
                    <a:pt x="506729" y="57911"/>
                  </a:lnTo>
                  <a:lnTo>
                    <a:pt x="511301" y="57911"/>
                  </a:lnTo>
                  <a:lnTo>
                    <a:pt x="511301" y="6096"/>
                  </a:lnTo>
                  <a:lnTo>
                    <a:pt x="524431" y="0"/>
                  </a:lnTo>
                  <a:close/>
                </a:path>
                <a:path w="708025" h="321310">
                  <a:moveTo>
                    <a:pt x="519684" y="83058"/>
                  </a:moveTo>
                  <a:lnTo>
                    <a:pt x="519684" y="57911"/>
                  </a:lnTo>
                  <a:lnTo>
                    <a:pt x="506729" y="70103"/>
                  </a:lnTo>
                  <a:lnTo>
                    <a:pt x="506729" y="83058"/>
                  </a:lnTo>
                  <a:lnTo>
                    <a:pt x="519684" y="83058"/>
                  </a:lnTo>
                  <a:close/>
                </a:path>
                <a:path w="708025" h="321310">
                  <a:moveTo>
                    <a:pt x="519684" y="231648"/>
                  </a:moveTo>
                  <a:lnTo>
                    <a:pt x="506729" y="218694"/>
                  </a:lnTo>
                  <a:lnTo>
                    <a:pt x="506729" y="231648"/>
                  </a:lnTo>
                  <a:lnTo>
                    <a:pt x="519684" y="231648"/>
                  </a:lnTo>
                  <a:close/>
                </a:path>
                <a:path w="708025" h="321310">
                  <a:moveTo>
                    <a:pt x="519684" y="276101"/>
                  </a:moveTo>
                  <a:lnTo>
                    <a:pt x="519684" y="231648"/>
                  </a:lnTo>
                  <a:lnTo>
                    <a:pt x="506729" y="231648"/>
                  </a:lnTo>
                  <a:lnTo>
                    <a:pt x="506729" y="320801"/>
                  </a:lnTo>
                  <a:lnTo>
                    <a:pt x="511301" y="316801"/>
                  </a:lnTo>
                  <a:lnTo>
                    <a:pt x="511301" y="283463"/>
                  </a:lnTo>
                  <a:lnTo>
                    <a:pt x="519684" y="276101"/>
                  </a:lnTo>
                  <a:close/>
                </a:path>
                <a:path w="708025" h="321310">
                  <a:moveTo>
                    <a:pt x="707898" y="144779"/>
                  </a:moveTo>
                  <a:lnTo>
                    <a:pt x="543148" y="0"/>
                  </a:lnTo>
                  <a:lnTo>
                    <a:pt x="524431" y="0"/>
                  </a:lnTo>
                  <a:lnTo>
                    <a:pt x="511301" y="6096"/>
                  </a:lnTo>
                  <a:lnTo>
                    <a:pt x="669594" y="144423"/>
                  </a:lnTo>
                  <a:lnTo>
                    <a:pt x="680465" y="134874"/>
                  </a:lnTo>
                  <a:lnTo>
                    <a:pt x="680465" y="168783"/>
                  </a:lnTo>
                  <a:lnTo>
                    <a:pt x="707898" y="144779"/>
                  </a:lnTo>
                  <a:close/>
                </a:path>
                <a:path w="708025" h="321310">
                  <a:moveTo>
                    <a:pt x="532638" y="83058"/>
                  </a:moveTo>
                  <a:lnTo>
                    <a:pt x="532638" y="24740"/>
                  </a:lnTo>
                  <a:lnTo>
                    <a:pt x="511301" y="6096"/>
                  </a:lnTo>
                  <a:lnTo>
                    <a:pt x="511301" y="57911"/>
                  </a:lnTo>
                  <a:lnTo>
                    <a:pt x="519684" y="57911"/>
                  </a:lnTo>
                  <a:lnTo>
                    <a:pt x="519684" y="83058"/>
                  </a:lnTo>
                  <a:lnTo>
                    <a:pt x="532638" y="83058"/>
                  </a:lnTo>
                  <a:close/>
                </a:path>
                <a:path w="708025" h="321310">
                  <a:moveTo>
                    <a:pt x="680465" y="168783"/>
                  </a:moveTo>
                  <a:lnTo>
                    <a:pt x="680465" y="153924"/>
                  </a:lnTo>
                  <a:lnTo>
                    <a:pt x="669594" y="144423"/>
                  </a:lnTo>
                  <a:lnTo>
                    <a:pt x="511301" y="283463"/>
                  </a:lnTo>
                  <a:lnTo>
                    <a:pt x="532638" y="293370"/>
                  </a:lnTo>
                  <a:lnTo>
                    <a:pt x="532638" y="298132"/>
                  </a:lnTo>
                  <a:lnTo>
                    <a:pt x="680465" y="168783"/>
                  </a:lnTo>
                  <a:close/>
                </a:path>
                <a:path w="708025" h="321310">
                  <a:moveTo>
                    <a:pt x="532638" y="298132"/>
                  </a:moveTo>
                  <a:lnTo>
                    <a:pt x="532638" y="293370"/>
                  </a:lnTo>
                  <a:lnTo>
                    <a:pt x="511301" y="283463"/>
                  </a:lnTo>
                  <a:lnTo>
                    <a:pt x="511301" y="316801"/>
                  </a:lnTo>
                  <a:lnTo>
                    <a:pt x="532638" y="298132"/>
                  </a:lnTo>
                  <a:close/>
                </a:path>
                <a:path w="708025" h="321310">
                  <a:moveTo>
                    <a:pt x="680465" y="153924"/>
                  </a:moveTo>
                  <a:lnTo>
                    <a:pt x="680465" y="134874"/>
                  </a:lnTo>
                  <a:lnTo>
                    <a:pt x="669594" y="144423"/>
                  </a:lnTo>
                  <a:lnTo>
                    <a:pt x="680465" y="153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81575" y="2497118"/>
            <a:ext cx="624728" cy="311524"/>
            <a:chOff x="3453384" y="2830067"/>
            <a:chExt cx="708025" cy="353060"/>
          </a:xfrm>
        </p:grpSpPr>
        <p:sp>
          <p:nvSpPr>
            <p:cNvPr id="12" name="object 12"/>
            <p:cNvSpPr/>
            <p:nvPr/>
          </p:nvSpPr>
          <p:spPr>
            <a:xfrm>
              <a:off x="3465576" y="2857499"/>
              <a:ext cx="676910" cy="297180"/>
            </a:xfrm>
            <a:custGeom>
              <a:avLst/>
              <a:gdLst/>
              <a:ahLst/>
              <a:cxnLst/>
              <a:rect l="l" t="t" r="r" b="b"/>
              <a:pathLst>
                <a:path w="676910" h="297180">
                  <a:moveTo>
                    <a:pt x="676656" y="148589"/>
                  </a:moveTo>
                  <a:lnTo>
                    <a:pt x="507492" y="0"/>
                  </a:lnTo>
                  <a:lnTo>
                    <a:pt x="507492" y="74675"/>
                  </a:lnTo>
                  <a:lnTo>
                    <a:pt x="0" y="74675"/>
                  </a:lnTo>
                  <a:lnTo>
                    <a:pt x="0" y="223265"/>
                  </a:lnTo>
                  <a:lnTo>
                    <a:pt x="507492" y="223265"/>
                  </a:lnTo>
                  <a:lnTo>
                    <a:pt x="507492" y="297179"/>
                  </a:lnTo>
                  <a:lnTo>
                    <a:pt x="676656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453384" y="2830067"/>
              <a:ext cx="708025" cy="353060"/>
            </a:xfrm>
            <a:custGeom>
              <a:avLst/>
              <a:gdLst/>
              <a:ahLst/>
              <a:cxnLst/>
              <a:rect l="l" t="t" r="r" b="b"/>
              <a:pathLst>
                <a:path w="708025" h="353060">
                  <a:moveTo>
                    <a:pt x="519684" y="89153"/>
                  </a:moveTo>
                  <a:lnTo>
                    <a:pt x="0" y="89153"/>
                  </a:lnTo>
                  <a:lnTo>
                    <a:pt x="0" y="262889"/>
                  </a:lnTo>
                  <a:lnTo>
                    <a:pt x="12192" y="262889"/>
                  </a:lnTo>
                  <a:lnTo>
                    <a:pt x="12192" y="115061"/>
                  </a:lnTo>
                  <a:lnTo>
                    <a:pt x="25145" y="102107"/>
                  </a:lnTo>
                  <a:lnTo>
                    <a:pt x="25145" y="115061"/>
                  </a:lnTo>
                  <a:lnTo>
                    <a:pt x="506730" y="115061"/>
                  </a:lnTo>
                  <a:lnTo>
                    <a:pt x="506730" y="102107"/>
                  </a:lnTo>
                  <a:lnTo>
                    <a:pt x="519684" y="89153"/>
                  </a:lnTo>
                  <a:close/>
                </a:path>
                <a:path w="708025" h="353060">
                  <a:moveTo>
                    <a:pt x="25145" y="115061"/>
                  </a:moveTo>
                  <a:lnTo>
                    <a:pt x="25145" y="102107"/>
                  </a:lnTo>
                  <a:lnTo>
                    <a:pt x="12192" y="115061"/>
                  </a:lnTo>
                  <a:lnTo>
                    <a:pt x="25145" y="115061"/>
                  </a:lnTo>
                  <a:close/>
                </a:path>
                <a:path w="708025" h="353060">
                  <a:moveTo>
                    <a:pt x="25145" y="237743"/>
                  </a:moveTo>
                  <a:lnTo>
                    <a:pt x="25145" y="115061"/>
                  </a:lnTo>
                  <a:lnTo>
                    <a:pt x="12192" y="115061"/>
                  </a:lnTo>
                  <a:lnTo>
                    <a:pt x="12192" y="237743"/>
                  </a:lnTo>
                  <a:lnTo>
                    <a:pt x="25145" y="237743"/>
                  </a:lnTo>
                  <a:close/>
                </a:path>
                <a:path w="708025" h="353060">
                  <a:moveTo>
                    <a:pt x="532638" y="296726"/>
                  </a:moveTo>
                  <a:lnTo>
                    <a:pt x="532638" y="237743"/>
                  </a:lnTo>
                  <a:lnTo>
                    <a:pt x="12192" y="237743"/>
                  </a:lnTo>
                  <a:lnTo>
                    <a:pt x="25145" y="250697"/>
                  </a:lnTo>
                  <a:lnTo>
                    <a:pt x="25145" y="262889"/>
                  </a:lnTo>
                  <a:lnTo>
                    <a:pt x="506730" y="262889"/>
                  </a:lnTo>
                  <a:lnTo>
                    <a:pt x="506730" y="250697"/>
                  </a:lnTo>
                  <a:lnTo>
                    <a:pt x="519684" y="262889"/>
                  </a:lnTo>
                  <a:lnTo>
                    <a:pt x="519684" y="308105"/>
                  </a:lnTo>
                  <a:lnTo>
                    <a:pt x="532638" y="296726"/>
                  </a:lnTo>
                  <a:close/>
                </a:path>
                <a:path w="708025" h="353060">
                  <a:moveTo>
                    <a:pt x="25145" y="262889"/>
                  </a:moveTo>
                  <a:lnTo>
                    <a:pt x="25145" y="250697"/>
                  </a:lnTo>
                  <a:lnTo>
                    <a:pt x="12192" y="237743"/>
                  </a:lnTo>
                  <a:lnTo>
                    <a:pt x="12192" y="262889"/>
                  </a:lnTo>
                  <a:lnTo>
                    <a:pt x="25145" y="262889"/>
                  </a:lnTo>
                  <a:close/>
                </a:path>
                <a:path w="708025" h="353060">
                  <a:moveTo>
                    <a:pt x="707898" y="176021"/>
                  </a:moveTo>
                  <a:lnTo>
                    <a:pt x="506730" y="0"/>
                  </a:lnTo>
                  <a:lnTo>
                    <a:pt x="506730" y="89153"/>
                  </a:lnTo>
                  <a:lnTo>
                    <a:pt x="511302" y="89153"/>
                  </a:lnTo>
                  <a:lnTo>
                    <a:pt x="511302" y="37337"/>
                  </a:lnTo>
                  <a:lnTo>
                    <a:pt x="532638" y="27431"/>
                  </a:lnTo>
                  <a:lnTo>
                    <a:pt x="532638" y="56079"/>
                  </a:lnTo>
                  <a:lnTo>
                    <a:pt x="669622" y="176402"/>
                  </a:lnTo>
                  <a:lnTo>
                    <a:pt x="680466" y="166877"/>
                  </a:lnTo>
                  <a:lnTo>
                    <a:pt x="680466" y="200128"/>
                  </a:lnTo>
                  <a:lnTo>
                    <a:pt x="707898" y="176021"/>
                  </a:lnTo>
                  <a:close/>
                </a:path>
                <a:path w="708025" h="353060">
                  <a:moveTo>
                    <a:pt x="519684" y="115061"/>
                  </a:moveTo>
                  <a:lnTo>
                    <a:pt x="519684" y="89153"/>
                  </a:lnTo>
                  <a:lnTo>
                    <a:pt x="506730" y="102107"/>
                  </a:lnTo>
                  <a:lnTo>
                    <a:pt x="506730" y="115061"/>
                  </a:lnTo>
                  <a:lnTo>
                    <a:pt x="519684" y="115061"/>
                  </a:lnTo>
                  <a:close/>
                </a:path>
                <a:path w="708025" h="353060">
                  <a:moveTo>
                    <a:pt x="519684" y="262889"/>
                  </a:moveTo>
                  <a:lnTo>
                    <a:pt x="506730" y="250697"/>
                  </a:lnTo>
                  <a:lnTo>
                    <a:pt x="506730" y="262889"/>
                  </a:lnTo>
                  <a:lnTo>
                    <a:pt x="519684" y="262889"/>
                  </a:lnTo>
                  <a:close/>
                </a:path>
                <a:path w="708025" h="353060">
                  <a:moveTo>
                    <a:pt x="519684" y="308105"/>
                  </a:moveTo>
                  <a:lnTo>
                    <a:pt x="519684" y="262889"/>
                  </a:lnTo>
                  <a:lnTo>
                    <a:pt x="506730" y="262889"/>
                  </a:lnTo>
                  <a:lnTo>
                    <a:pt x="506730" y="352805"/>
                  </a:lnTo>
                  <a:lnTo>
                    <a:pt x="511302" y="348788"/>
                  </a:lnTo>
                  <a:lnTo>
                    <a:pt x="511302" y="315467"/>
                  </a:lnTo>
                  <a:lnTo>
                    <a:pt x="519684" y="308105"/>
                  </a:lnTo>
                  <a:close/>
                </a:path>
                <a:path w="708025" h="353060">
                  <a:moveTo>
                    <a:pt x="532638" y="56079"/>
                  </a:moveTo>
                  <a:lnTo>
                    <a:pt x="532638" y="27431"/>
                  </a:lnTo>
                  <a:lnTo>
                    <a:pt x="511302" y="37337"/>
                  </a:lnTo>
                  <a:lnTo>
                    <a:pt x="532638" y="56079"/>
                  </a:lnTo>
                  <a:close/>
                </a:path>
                <a:path w="708025" h="353060">
                  <a:moveTo>
                    <a:pt x="532638" y="115061"/>
                  </a:moveTo>
                  <a:lnTo>
                    <a:pt x="532638" y="56079"/>
                  </a:lnTo>
                  <a:lnTo>
                    <a:pt x="511302" y="37337"/>
                  </a:lnTo>
                  <a:lnTo>
                    <a:pt x="511302" y="89153"/>
                  </a:lnTo>
                  <a:lnTo>
                    <a:pt x="519684" y="89153"/>
                  </a:lnTo>
                  <a:lnTo>
                    <a:pt x="519684" y="115061"/>
                  </a:lnTo>
                  <a:lnTo>
                    <a:pt x="532638" y="115061"/>
                  </a:lnTo>
                  <a:close/>
                </a:path>
                <a:path w="708025" h="353060">
                  <a:moveTo>
                    <a:pt x="680466" y="200128"/>
                  </a:moveTo>
                  <a:lnTo>
                    <a:pt x="680466" y="185927"/>
                  </a:lnTo>
                  <a:lnTo>
                    <a:pt x="669622" y="176402"/>
                  </a:lnTo>
                  <a:lnTo>
                    <a:pt x="511302" y="315467"/>
                  </a:lnTo>
                  <a:lnTo>
                    <a:pt x="532638" y="324611"/>
                  </a:lnTo>
                  <a:lnTo>
                    <a:pt x="532638" y="330038"/>
                  </a:lnTo>
                  <a:lnTo>
                    <a:pt x="680466" y="200128"/>
                  </a:lnTo>
                  <a:close/>
                </a:path>
                <a:path w="708025" h="353060">
                  <a:moveTo>
                    <a:pt x="532638" y="330038"/>
                  </a:moveTo>
                  <a:lnTo>
                    <a:pt x="532638" y="324611"/>
                  </a:lnTo>
                  <a:lnTo>
                    <a:pt x="511302" y="315467"/>
                  </a:lnTo>
                  <a:lnTo>
                    <a:pt x="511302" y="348788"/>
                  </a:lnTo>
                  <a:lnTo>
                    <a:pt x="532638" y="330038"/>
                  </a:lnTo>
                  <a:close/>
                </a:path>
                <a:path w="708025" h="353060">
                  <a:moveTo>
                    <a:pt x="680466" y="185927"/>
                  </a:moveTo>
                  <a:lnTo>
                    <a:pt x="680466" y="166877"/>
                  </a:lnTo>
                  <a:lnTo>
                    <a:pt x="669622" y="176402"/>
                  </a:lnTo>
                  <a:lnTo>
                    <a:pt x="680466" y="185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20855" y="3317613"/>
            <a:ext cx="2056840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93872" indent="-182666">
              <a:spcBef>
                <a:spcPts val="84"/>
              </a:spcBef>
              <a:buFont typeface="Comic Sans MS"/>
              <a:buChar char="•"/>
              <a:tabLst>
                <a:tab pos="193872" algn="l"/>
              </a:tabLst>
            </a:pPr>
            <a:r>
              <a:rPr sz="1765" b="1" dirty="0">
                <a:latin typeface="Comic Sans MS"/>
                <a:cs typeface="Comic Sans MS"/>
              </a:rPr>
              <a:t>not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raining</a:t>
            </a:r>
            <a:r>
              <a:rPr sz="1765" b="1" spc="-13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today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8150" y="3182874"/>
            <a:ext cx="2421031" cy="78114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681">
              <a:lnSpc>
                <a:spcPct val="150000"/>
              </a:lnSpc>
              <a:spcBef>
                <a:spcPts val="88"/>
              </a:spcBef>
            </a:pPr>
            <a:r>
              <a:rPr sz="1765" b="1" dirty="0">
                <a:latin typeface="Comic Sans MS"/>
                <a:cs typeface="Comic Sans MS"/>
              </a:rPr>
              <a:t>20%</a:t>
            </a:r>
            <a:r>
              <a:rPr sz="1765" b="1" spc="-49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40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 </a:t>
            </a:r>
            <a:r>
              <a:rPr sz="1765" b="1" dirty="0">
                <a:latin typeface="Comic Sans MS"/>
                <a:cs typeface="Comic Sans MS"/>
              </a:rPr>
              <a:t>80%</a:t>
            </a:r>
            <a:r>
              <a:rPr sz="1765" b="1" spc="-35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no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dirty="0">
                <a:latin typeface="Comic Sans MS"/>
                <a:cs typeface="Comic Sans MS"/>
              </a:rPr>
              <a:t>rain</a:t>
            </a:r>
            <a:r>
              <a:rPr sz="1765" b="1" spc="-31" dirty="0">
                <a:latin typeface="Comic Sans MS"/>
                <a:cs typeface="Comic Sans MS"/>
              </a:rPr>
              <a:t> </a:t>
            </a:r>
            <a:r>
              <a:rPr sz="1765" b="1" spc="-9" dirty="0">
                <a:latin typeface="Comic Sans MS"/>
                <a:cs typeface="Comic Sans MS"/>
              </a:rPr>
              <a:t>tomorrow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70144" y="3334199"/>
            <a:ext cx="624728" cy="312084"/>
            <a:chOff x="3440429" y="3778758"/>
            <a:chExt cx="708025" cy="353695"/>
          </a:xfrm>
        </p:grpSpPr>
        <p:sp>
          <p:nvSpPr>
            <p:cNvPr id="17" name="object 17"/>
            <p:cNvSpPr/>
            <p:nvPr/>
          </p:nvSpPr>
          <p:spPr>
            <a:xfrm>
              <a:off x="3453383" y="3806952"/>
              <a:ext cx="676275" cy="297180"/>
            </a:xfrm>
            <a:custGeom>
              <a:avLst/>
              <a:gdLst/>
              <a:ahLst/>
              <a:cxnLst/>
              <a:rect l="l" t="t" r="r" b="b"/>
              <a:pathLst>
                <a:path w="676275" h="297179">
                  <a:moveTo>
                    <a:pt x="675894" y="148589"/>
                  </a:moveTo>
                  <a:lnTo>
                    <a:pt x="506730" y="0"/>
                  </a:lnTo>
                  <a:lnTo>
                    <a:pt x="506730" y="74675"/>
                  </a:lnTo>
                  <a:lnTo>
                    <a:pt x="0" y="74675"/>
                  </a:lnTo>
                  <a:lnTo>
                    <a:pt x="0" y="222503"/>
                  </a:lnTo>
                  <a:lnTo>
                    <a:pt x="506730" y="222503"/>
                  </a:lnTo>
                  <a:lnTo>
                    <a:pt x="506730" y="297179"/>
                  </a:lnTo>
                  <a:lnTo>
                    <a:pt x="675894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3440429" y="3778758"/>
              <a:ext cx="708025" cy="353695"/>
            </a:xfrm>
            <a:custGeom>
              <a:avLst/>
              <a:gdLst/>
              <a:ahLst/>
              <a:cxnLst/>
              <a:rect l="l" t="t" r="r" b="b"/>
              <a:pathLst>
                <a:path w="708025" h="353695">
                  <a:moveTo>
                    <a:pt x="519684" y="89915"/>
                  </a:moveTo>
                  <a:lnTo>
                    <a:pt x="0" y="89915"/>
                  </a:lnTo>
                  <a:lnTo>
                    <a:pt x="0" y="263651"/>
                  </a:lnTo>
                  <a:lnTo>
                    <a:pt x="12954" y="263651"/>
                  </a:lnTo>
                  <a:lnTo>
                    <a:pt x="12954" y="115061"/>
                  </a:lnTo>
                  <a:lnTo>
                    <a:pt x="25145" y="102869"/>
                  </a:lnTo>
                  <a:lnTo>
                    <a:pt x="25145" y="115061"/>
                  </a:lnTo>
                  <a:lnTo>
                    <a:pt x="507492" y="115061"/>
                  </a:lnTo>
                  <a:lnTo>
                    <a:pt x="507492" y="102869"/>
                  </a:lnTo>
                  <a:lnTo>
                    <a:pt x="519684" y="89915"/>
                  </a:lnTo>
                  <a:close/>
                </a:path>
                <a:path w="708025" h="353695">
                  <a:moveTo>
                    <a:pt x="25145" y="115061"/>
                  </a:moveTo>
                  <a:lnTo>
                    <a:pt x="25145" y="102869"/>
                  </a:lnTo>
                  <a:lnTo>
                    <a:pt x="12954" y="115061"/>
                  </a:lnTo>
                  <a:lnTo>
                    <a:pt x="25145" y="115061"/>
                  </a:lnTo>
                  <a:close/>
                </a:path>
                <a:path w="708025" h="353695">
                  <a:moveTo>
                    <a:pt x="25145" y="238505"/>
                  </a:moveTo>
                  <a:lnTo>
                    <a:pt x="25145" y="115061"/>
                  </a:lnTo>
                  <a:lnTo>
                    <a:pt x="12954" y="115061"/>
                  </a:lnTo>
                  <a:lnTo>
                    <a:pt x="12954" y="238505"/>
                  </a:lnTo>
                  <a:lnTo>
                    <a:pt x="25145" y="238505"/>
                  </a:lnTo>
                  <a:close/>
                </a:path>
                <a:path w="708025" h="353695">
                  <a:moveTo>
                    <a:pt x="532638" y="296823"/>
                  </a:moveTo>
                  <a:lnTo>
                    <a:pt x="532638" y="238505"/>
                  </a:lnTo>
                  <a:lnTo>
                    <a:pt x="12954" y="238505"/>
                  </a:lnTo>
                  <a:lnTo>
                    <a:pt x="25145" y="250697"/>
                  </a:lnTo>
                  <a:lnTo>
                    <a:pt x="25145" y="263651"/>
                  </a:lnTo>
                  <a:lnTo>
                    <a:pt x="507492" y="263651"/>
                  </a:lnTo>
                  <a:lnTo>
                    <a:pt x="507492" y="250697"/>
                  </a:lnTo>
                  <a:lnTo>
                    <a:pt x="519684" y="263651"/>
                  </a:lnTo>
                  <a:lnTo>
                    <a:pt x="519684" y="308143"/>
                  </a:lnTo>
                  <a:lnTo>
                    <a:pt x="532638" y="296823"/>
                  </a:lnTo>
                  <a:close/>
                </a:path>
                <a:path w="708025" h="353695">
                  <a:moveTo>
                    <a:pt x="25145" y="263651"/>
                  </a:moveTo>
                  <a:lnTo>
                    <a:pt x="25145" y="250697"/>
                  </a:lnTo>
                  <a:lnTo>
                    <a:pt x="12954" y="238505"/>
                  </a:lnTo>
                  <a:lnTo>
                    <a:pt x="12954" y="263651"/>
                  </a:lnTo>
                  <a:lnTo>
                    <a:pt x="25145" y="263651"/>
                  </a:lnTo>
                  <a:close/>
                </a:path>
                <a:path w="708025" h="353695">
                  <a:moveTo>
                    <a:pt x="707898" y="176783"/>
                  </a:moveTo>
                  <a:lnTo>
                    <a:pt x="507492" y="0"/>
                  </a:lnTo>
                  <a:lnTo>
                    <a:pt x="507492" y="89915"/>
                  </a:lnTo>
                  <a:lnTo>
                    <a:pt x="511302" y="89915"/>
                  </a:lnTo>
                  <a:lnTo>
                    <a:pt x="511302" y="38099"/>
                  </a:lnTo>
                  <a:lnTo>
                    <a:pt x="532638" y="28193"/>
                  </a:lnTo>
                  <a:lnTo>
                    <a:pt x="532638" y="56841"/>
                  </a:lnTo>
                  <a:lnTo>
                    <a:pt x="669594" y="177140"/>
                  </a:lnTo>
                  <a:lnTo>
                    <a:pt x="680466" y="167639"/>
                  </a:lnTo>
                  <a:lnTo>
                    <a:pt x="680466" y="200982"/>
                  </a:lnTo>
                  <a:lnTo>
                    <a:pt x="707898" y="176783"/>
                  </a:lnTo>
                  <a:close/>
                </a:path>
                <a:path w="708025" h="353695">
                  <a:moveTo>
                    <a:pt x="519684" y="115061"/>
                  </a:moveTo>
                  <a:lnTo>
                    <a:pt x="519684" y="89915"/>
                  </a:lnTo>
                  <a:lnTo>
                    <a:pt x="507492" y="102869"/>
                  </a:lnTo>
                  <a:lnTo>
                    <a:pt x="507492" y="115061"/>
                  </a:lnTo>
                  <a:lnTo>
                    <a:pt x="519684" y="115061"/>
                  </a:lnTo>
                  <a:close/>
                </a:path>
                <a:path w="708025" h="353695">
                  <a:moveTo>
                    <a:pt x="519684" y="263651"/>
                  </a:moveTo>
                  <a:lnTo>
                    <a:pt x="507492" y="250697"/>
                  </a:lnTo>
                  <a:lnTo>
                    <a:pt x="507492" y="263651"/>
                  </a:lnTo>
                  <a:lnTo>
                    <a:pt x="519684" y="263651"/>
                  </a:lnTo>
                  <a:close/>
                </a:path>
                <a:path w="708025" h="353695">
                  <a:moveTo>
                    <a:pt x="519684" y="308143"/>
                  </a:moveTo>
                  <a:lnTo>
                    <a:pt x="519684" y="263651"/>
                  </a:lnTo>
                  <a:lnTo>
                    <a:pt x="507492" y="263651"/>
                  </a:lnTo>
                  <a:lnTo>
                    <a:pt x="507492" y="353567"/>
                  </a:lnTo>
                  <a:lnTo>
                    <a:pt x="511302" y="350207"/>
                  </a:lnTo>
                  <a:lnTo>
                    <a:pt x="511302" y="315467"/>
                  </a:lnTo>
                  <a:lnTo>
                    <a:pt x="519684" y="308143"/>
                  </a:lnTo>
                  <a:close/>
                </a:path>
                <a:path w="708025" h="353695">
                  <a:moveTo>
                    <a:pt x="532638" y="56841"/>
                  </a:moveTo>
                  <a:lnTo>
                    <a:pt x="532638" y="28193"/>
                  </a:lnTo>
                  <a:lnTo>
                    <a:pt x="511302" y="38099"/>
                  </a:lnTo>
                  <a:lnTo>
                    <a:pt x="532638" y="56841"/>
                  </a:lnTo>
                  <a:close/>
                </a:path>
                <a:path w="708025" h="353695">
                  <a:moveTo>
                    <a:pt x="532638" y="115061"/>
                  </a:moveTo>
                  <a:lnTo>
                    <a:pt x="532638" y="56841"/>
                  </a:lnTo>
                  <a:lnTo>
                    <a:pt x="511302" y="38099"/>
                  </a:lnTo>
                  <a:lnTo>
                    <a:pt x="511302" y="89915"/>
                  </a:lnTo>
                  <a:lnTo>
                    <a:pt x="519684" y="89915"/>
                  </a:lnTo>
                  <a:lnTo>
                    <a:pt x="519684" y="115061"/>
                  </a:lnTo>
                  <a:lnTo>
                    <a:pt x="532638" y="115061"/>
                  </a:lnTo>
                  <a:close/>
                </a:path>
                <a:path w="708025" h="353695">
                  <a:moveTo>
                    <a:pt x="680466" y="200982"/>
                  </a:moveTo>
                  <a:lnTo>
                    <a:pt x="680466" y="186689"/>
                  </a:lnTo>
                  <a:lnTo>
                    <a:pt x="669594" y="177140"/>
                  </a:lnTo>
                  <a:lnTo>
                    <a:pt x="511302" y="315467"/>
                  </a:lnTo>
                  <a:lnTo>
                    <a:pt x="532638" y="325373"/>
                  </a:lnTo>
                  <a:lnTo>
                    <a:pt x="532638" y="331385"/>
                  </a:lnTo>
                  <a:lnTo>
                    <a:pt x="680466" y="200982"/>
                  </a:lnTo>
                  <a:close/>
                </a:path>
                <a:path w="708025" h="353695">
                  <a:moveTo>
                    <a:pt x="532638" y="331385"/>
                  </a:moveTo>
                  <a:lnTo>
                    <a:pt x="532638" y="325373"/>
                  </a:lnTo>
                  <a:lnTo>
                    <a:pt x="511302" y="315467"/>
                  </a:lnTo>
                  <a:lnTo>
                    <a:pt x="511302" y="350207"/>
                  </a:lnTo>
                  <a:lnTo>
                    <a:pt x="532638" y="331385"/>
                  </a:lnTo>
                  <a:close/>
                </a:path>
                <a:path w="708025" h="353695">
                  <a:moveTo>
                    <a:pt x="680466" y="186689"/>
                  </a:moveTo>
                  <a:lnTo>
                    <a:pt x="680466" y="167639"/>
                  </a:lnTo>
                  <a:lnTo>
                    <a:pt x="669594" y="177140"/>
                  </a:lnTo>
                  <a:lnTo>
                    <a:pt x="680466" y="186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181574" y="3695924"/>
            <a:ext cx="624728" cy="311524"/>
            <a:chOff x="3453383" y="4188714"/>
            <a:chExt cx="708025" cy="353060"/>
          </a:xfrm>
        </p:grpSpPr>
        <p:sp>
          <p:nvSpPr>
            <p:cNvPr id="20" name="object 20"/>
            <p:cNvSpPr/>
            <p:nvPr/>
          </p:nvSpPr>
          <p:spPr>
            <a:xfrm>
              <a:off x="3465575" y="4216908"/>
              <a:ext cx="676910" cy="157480"/>
            </a:xfrm>
            <a:custGeom>
              <a:avLst/>
              <a:gdLst/>
              <a:ahLst/>
              <a:cxnLst/>
              <a:rect l="l" t="t" r="r" b="b"/>
              <a:pathLst>
                <a:path w="676910" h="157479">
                  <a:moveTo>
                    <a:pt x="676655" y="148589"/>
                  </a:moveTo>
                  <a:lnTo>
                    <a:pt x="507491" y="0"/>
                  </a:lnTo>
                  <a:lnTo>
                    <a:pt x="507491" y="73913"/>
                  </a:lnTo>
                  <a:lnTo>
                    <a:pt x="0" y="73913"/>
                  </a:lnTo>
                  <a:lnTo>
                    <a:pt x="0" y="156971"/>
                  </a:lnTo>
                  <a:lnTo>
                    <a:pt x="667064" y="156971"/>
                  </a:lnTo>
                  <a:lnTo>
                    <a:pt x="676655" y="14858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453383" y="4188714"/>
              <a:ext cx="708025" cy="185420"/>
            </a:xfrm>
            <a:custGeom>
              <a:avLst/>
              <a:gdLst/>
              <a:ahLst/>
              <a:cxnLst/>
              <a:rect l="l" t="t" r="r" b="b"/>
              <a:pathLst>
                <a:path w="708025" h="185420">
                  <a:moveTo>
                    <a:pt x="519684" y="89915"/>
                  </a:moveTo>
                  <a:lnTo>
                    <a:pt x="0" y="89915"/>
                  </a:lnTo>
                  <a:lnTo>
                    <a:pt x="0" y="185165"/>
                  </a:lnTo>
                  <a:lnTo>
                    <a:pt x="12191" y="185165"/>
                  </a:lnTo>
                  <a:lnTo>
                    <a:pt x="12191" y="115062"/>
                  </a:lnTo>
                  <a:lnTo>
                    <a:pt x="25146" y="102107"/>
                  </a:lnTo>
                  <a:lnTo>
                    <a:pt x="25146" y="115062"/>
                  </a:lnTo>
                  <a:lnTo>
                    <a:pt x="506729" y="115062"/>
                  </a:lnTo>
                  <a:lnTo>
                    <a:pt x="506729" y="102107"/>
                  </a:lnTo>
                  <a:lnTo>
                    <a:pt x="519684" y="89915"/>
                  </a:lnTo>
                  <a:close/>
                </a:path>
                <a:path w="708025" h="185420">
                  <a:moveTo>
                    <a:pt x="25146" y="115062"/>
                  </a:moveTo>
                  <a:lnTo>
                    <a:pt x="25146" y="102107"/>
                  </a:lnTo>
                  <a:lnTo>
                    <a:pt x="12191" y="115062"/>
                  </a:lnTo>
                  <a:lnTo>
                    <a:pt x="25146" y="115062"/>
                  </a:lnTo>
                  <a:close/>
                </a:path>
                <a:path w="708025" h="185420">
                  <a:moveTo>
                    <a:pt x="25146" y="185165"/>
                  </a:moveTo>
                  <a:lnTo>
                    <a:pt x="25146" y="115062"/>
                  </a:lnTo>
                  <a:lnTo>
                    <a:pt x="12191" y="115062"/>
                  </a:lnTo>
                  <a:lnTo>
                    <a:pt x="12191" y="185165"/>
                  </a:lnTo>
                  <a:lnTo>
                    <a:pt x="25146" y="185165"/>
                  </a:lnTo>
                  <a:close/>
                </a:path>
                <a:path w="708025" h="185420">
                  <a:moveTo>
                    <a:pt x="707898" y="176783"/>
                  </a:moveTo>
                  <a:lnTo>
                    <a:pt x="506729" y="0"/>
                  </a:lnTo>
                  <a:lnTo>
                    <a:pt x="506729" y="89915"/>
                  </a:lnTo>
                  <a:lnTo>
                    <a:pt x="511301" y="89915"/>
                  </a:lnTo>
                  <a:lnTo>
                    <a:pt x="511301" y="37337"/>
                  </a:lnTo>
                  <a:lnTo>
                    <a:pt x="532638" y="28193"/>
                  </a:lnTo>
                  <a:lnTo>
                    <a:pt x="532638" y="56079"/>
                  </a:lnTo>
                  <a:lnTo>
                    <a:pt x="669622" y="176402"/>
                  </a:lnTo>
                  <a:lnTo>
                    <a:pt x="680465" y="166877"/>
                  </a:lnTo>
                  <a:lnTo>
                    <a:pt x="680465" y="185165"/>
                  </a:lnTo>
                  <a:lnTo>
                    <a:pt x="698318" y="185165"/>
                  </a:lnTo>
                  <a:lnTo>
                    <a:pt x="707898" y="176783"/>
                  </a:lnTo>
                  <a:close/>
                </a:path>
                <a:path w="708025" h="185420">
                  <a:moveTo>
                    <a:pt x="519684" y="115062"/>
                  </a:moveTo>
                  <a:lnTo>
                    <a:pt x="519684" y="89915"/>
                  </a:lnTo>
                  <a:lnTo>
                    <a:pt x="506729" y="102107"/>
                  </a:lnTo>
                  <a:lnTo>
                    <a:pt x="506729" y="115062"/>
                  </a:lnTo>
                  <a:lnTo>
                    <a:pt x="519684" y="115062"/>
                  </a:lnTo>
                  <a:close/>
                </a:path>
                <a:path w="708025" h="185420">
                  <a:moveTo>
                    <a:pt x="532638" y="56079"/>
                  </a:moveTo>
                  <a:lnTo>
                    <a:pt x="532638" y="28193"/>
                  </a:lnTo>
                  <a:lnTo>
                    <a:pt x="511301" y="37337"/>
                  </a:lnTo>
                  <a:lnTo>
                    <a:pt x="532638" y="56079"/>
                  </a:lnTo>
                  <a:close/>
                </a:path>
                <a:path w="708025" h="185420">
                  <a:moveTo>
                    <a:pt x="532638" y="115061"/>
                  </a:moveTo>
                  <a:lnTo>
                    <a:pt x="532638" y="56079"/>
                  </a:lnTo>
                  <a:lnTo>
                    <a:pt x="511301" y="37337"/>
                  </a:lnTo>
                  <a:lnTo>
                    <a:pt x="511301" y="89915"/>
                  </a:lnTo>
                  <a:lnTo>
                    <a:pt x="519684" y="89915"/>
                  </a:lnTo>
                  <a:lnTo>
                    <a:pt x="519684" y="115062"/>
                  </a:lnTo>
                  <a:lnTo>
                    <a:pt x="532638" y="115061"/>
                  </a:lnTo>
                  <a:close/>
                </a:path>
                <a:path w="708025" h="185420">
                  <a:moveTo>
                    <a:pt x="679598" y="185165"/>
                  </a:moveTo>
                  <a:lnTo>
                    <a:pt x="669622" y="176402"/>
                  </a:lnTo>
                  <a:lnTo>
                    <a:pt x="659645" y="185165"/>
                  </a:lnTo>
                  <a:lnTo>
                    <a:pt x="679598" y="185165"/>
                  </a:lnTo>
                  <a:close/>
                </a:path>
                <a:path w="708025" h="185420">
                  <a:moveTo>
                    <a:pt x="680465" y="185165"/>
                  </a:moveTo>
                  <a:lnTo>
                    <a:pt x="680465" y="166877"/>
                  </a:lnTo>
                  <a:lnTo>
                    <a:pt x="669622" y="176402"/>
                  </a:lnTo>
                  <a:lnTo>
                    <a:pt x="679598" y="185165"/>
                  </a:lnTo>
                  <a:lnTo>
                    <a:pt x="680465" y="185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465575" y="4373880"/>
              <a:ext cx="667385" cy="139700"/>
            </a:xfrm>
            <a:custGeom>
              <a:avLst/>
              <a:gdLst/>
              <a:ahLst/>
              <a:cxnLst/>
              <a:rect l="l" t="t" r="r" b="b"/>
              <a:pathLst>
                <a:path w="667385" h="139700">
                  <a:moveTo>
                    <a:pt x="667064" y="0"/>
                  </a:moveTo>
                  <a:lnTo>
                    <a:pt x="0" y="0"/>
                  </a:lnTo>
                  <a:lnTo>
                    <a:pt x="0" y="65532"/>
                  </a:lnTo>
                  <a:lnTo>
                    <a:pt x="507491" y="65532"/>
                  </a:lnTo>
                  <a:lnTo>
                    <a:pt x="507491" y="139446"/>
                  </a:lnTo>
                  <a:lnTo>
                    <a:pt x="66706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3453383" y="4373880"/>
              <a:ext cx="698500" cy="167640"/>
            </a:xfrm>
            <a:custGeom>
              <a:avLst/>
              <a:gdLst/>
              <a:ahLst/>
              <a:cxnLst/>
              <a:rect l="l" t="t" r="r" b="b"/>
              <a:pathLst>
                <a:path w="698500" h="167639">
                  <a:moveTo>
                    <a:pt x="25146" y="52577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78486"/>
                  </a:lnTo>
                  <a:lnTo>
                    <a:pt x="12191" y="78486"/>
                  </a:lnTo>
                  <a:lnTo>
                    <a:pt x="12191" y="52577"/>
                  </a:lnTo>
                  <a:lnTo>
                    <a:pt x="25146" y="52577"/>
                  </a:lnTo>
                  <a:close/>
                </a:path>
                <a:path w="698500" h="167639">
                  <a:moveTo>
                    <a:pt x="532638" y="111560"/>
                  </a:moveTo>
                  <a:lnTo>
                    <a:pt x="532638" y="52577"/>
                  </a:lnTo>
                  <a:lnTo>
                    <a:pt x="12191" y="52577"/>
                  </a:lnTo>
                  <a:lnTo>
                    <a:pt x="25146" y="65531"/>
                  </a:lnTo>
                  <a:lnTo>
                    <a:pt x="25146" y="78486"/>
                  </a:lnTo>
                  <a:lnTo>
                    <a:pt x="506729" y="78486"/>
                  </a:lnTo>
                  <a:lnTo>
                    <a:pt x="506729" y="65532"/>
                  </a:lnTo>
                  <a:lnTo>
                    <a:pt x="519684" y="78486"/>
                  </a:lnTo>
                  <a:lnTo>
                    <a:pt x="519684" y="122939"/>
                  </a:lnTo>
                  <a:lnTo>
                    <a:pt x="532638" y="111560"/>
                  </a:lnTo>
                  <a:close/>
                </a:path>
                <a:path w="698500" h="167639">
                  <a:moveTo>
                    <a:pt x="25146" y="78486"/>
                  </a:moveTo>
                  <a:lnTo>
                    <a:pt x="25146" y="65531"/>
                  </a:lnTo>
                  <a:lnTo>
                    <a:pt x="12191" y="52577"/>
                  </a:lnTo>
                  <a:lnTo>
                    <a:pt x="12191" y="78486"/>
                  </a:lnTo>
                  <a:lnTo>
                    <a:pt x="25146" y="78486"/>
                  </a:lnTo>
                  <a:close/>
                </a:path>
                <a:path w="698500" h="167639">
                  <a:moveTo>
                    <a:pt x="519684" y="78486"/>
                  </a:moveTo>
                  <a:lnTo>
                    <a:pt x="506729" y="65532"/>
                  </a:lnTo>
                  <a:lnTo>
                    <a:pt x="506729" y="78486"/>
                  </a:lnTo>
                  <a:lnTo>
                    <a:pt x="519684" y="78486"/>
                  </a:lnTo>
                  <a:close/>
                </a:path>
                <a:path w="698500" h="167639">
                  <a:moveTo>
                    <a:pt x="519684" y="122939"/>
                  </a:moveTo>
                  <a:lnTo>
                    <a:pt x="519684" y="78486"/>
                  </a:lnTo>
                  <a:lnTo>
                    <a:pt x="506729" y="78486"/>
                  </a:lnTo>
                  <a:lnTo>
                    <a:pt x="506729" y="167640"/>
                  </a:lnTo>
                  <a:lnTo>
                    <a:pt x="511301" y="163639"/>
                  </a:lnTo>
                  <a:lnTo>
                    <a:pt x="511301" y="130301"/>
                  </a:lnTo>
                  <a:lnTo>
                    <a:pt x="519684" y="122939"/>
                  </a:lnTo>
                  <a:close/>
                </a:path>
                <a:path w="698500" h="167639">
                  <a:moveTo>
                    <a:pt x="680465" y="15621"/>
                  </a:moveTo>
                  <a:lnTo>
                    <a:pt x="680465" y="761"/>
                  </a:lnTo>
                  <a:lnTo>
                    <a:pt x="679598" y="0"/>
                  </a:lnTo>
                  <a:lnTo>
                    <a:pt x="659645" y="0"/>
                  </a:lnTo>
                  <a:lnTo>
                    <a:pt x="511301" y="130301"/>
                  </a:lnTo>
                  <a:lnTo>
                    <a:pt x="532638" y="139446"/>
                  </a:lnTo>
                  <a:lnTo>
                    <a:pt x="532638" y="144970"/>
                  </a:lnTo>
                  <a:lnTo>
                    <a:pt x="680465" y="15621"/>
                  </a:lnTo>
                  <a:close/>
                </a:path>
                <a:path w="698500" h="167639">
                  <a:moveTo>
                    <a:pt x="532638" y="144970"/>
                  </a:moveTo>
                  <a:lnTo>
                    <a:pt x="532638" y="139446"/>
                  </a:lnTo>
                  <a:lnTo>
                    <a:pt x="511301" y="130301"/>
                  </a:lnTo>
                  <a:lnTo>
                    <a:pt x="511301" y="163639"/>
                  </a:lnTo>
                  <a:lnTo>
                    <a:pt x="532638" y="144970"/>
                  </a:lnTo>
                  <a:close/>
                </a:path>
                <a:path w="698500" h="167639">
                  <a:moveTo>
                    <a:pt x="698318" y="0"/>
                  </a:moveTo>
                  <a:lnTo>
                    <a:pt x="679598" y="0"/>
                  </a:lnTo>
                  <a:lnTo>
                    <a:pt x="680465" y="761"/>
                  </a:lnTo>
                  <a:lnTo>
                    <a:pt x="680465" y="15621"/>
                  </a:lnTo>
                  <a:lnTo>
                    <a:pt x="698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/>
          <p:nvPr/>
        </p:nvSpPr>
        <p:spPr>
          <a:xfrm>
            <a:off x="1210236" y="4437529"/>
            <a:ext cx="2380129" cy="285750"/>
          </a:xfrm>
          <a:custGeom>
            <a:avLst/>
            <a:gdLst/>
            <a:ahLst/>
            <a:cxnLst/>
            <a:rect l="l" t="t" r="r" b="b"/>
            <a:pathLst>
              <a:path w="2697479" h="323850">
                <a:moveTo>
                  <a:pt x="2697479" y="323850"/>
                </a:moveTo>
                <a:lnTo>
                  <a:pt x="2697479" y="0"/>
                </a:lnTo>
                <a:lnTo>
                  <a:pt x="0" y="0"/>
                </a:lnTo>
                <a:lnTo>
                  <a:pt x="0" y="323850"/>
                </a:lnTo>
                <a:lnTo>
                  <a:pt x="2697479" y="32385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 txBox="1"/>
          <p:nvPr/>
        </p:nvSpPr>
        <p:spPr>
          <a:xfrm>
            <a:off x="3934161" y="4561466"/>
            <a:ext cx="2136401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64175" indent="-152968">
              <a:spcBef>
                <a:spcPts val="84"/>
              </a:spcBef>
              <a:buChar char="•"/>
              <a:tabLst>
                <a:tab pos="164175" algn="l"/>
              </a:tabLst>
            </a:pP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Stochastic </a:t>
            </a:r>
            <a:r>
              <a:rPr sz="1765" spc="-9" dirty="0">
                <a:solidFill>
                  <a:srgbClr val="3333CC"/>
                </a:solidFill>
                <a:latin typeface="Comic Sans MS"/>
                <a:cs typeface="Comic Sans MS"/>
              </a:rPr>
              <a:t>matrix: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0770" y="4051822"/>
            <a:ext cx="2344831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dirty="0">
                <a:solidFill>
                  <a:srgbClr val="9A3300"/>
                </a:solidFill>
                <a:latin typeface="Comic Sans MS"/>
                <a:cs typeface="Comic Sans MS"/>
              </a:rPr>
              <a:t>The</a:t>
            </a:r>
            <a:r>
              <a:rPr sz="1765" spc="-75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9A3300"/>
                </a:solidFill>
                <a:latin typeface="Comic Sans MS"/>
                <a:cs typeface="Comic Sans MS"/>
              </a:rPr>
              <a:t>transition</a:t>
            </a:r>
            <a:r>
              <a:rPr sz="1765" spc="-66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spc="-9" dirty="0">
                <a:solidFill>
                  <a:srgbClr val="9A3300"/>
                </a:solidFill>
                <a:latin typeface="Comic Sans MS"/>
                <a:cs typeface="Comic Sans MS"/>
              </a:rPr>
              <a:t>matrix: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37883" y="4722607"/>
            <a:ext cx="8068235" cy="865094"/>
            <a:chOff x="457200" y="5352288"/>
            <a:chExt cx="9144000" cy="980440"/>
          </a:xfrm>
        </p:grpSpPr>
        <p:sp>
          <p:nvSpPr>
            <p:cNvPr id="28" name="object 28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19200" y="5352288"/>
              <a:ext cx="2697480" cy="834390"/>
            </a:xfrm>
            <a:custGeom>
              <a:avLst/>
              <a:gdLst/>
              <a:ahLst/>
              <a:cxnLst/>
              <a:rect l="l" t="t" r="r" b="b"/>
              <a:pathLst>
                <a:path w="2697479" h="834389">
                  <a:moveTo>
                    <a:pt x="2697480" y="834389"/>
                  </a:moveTo>
                  <a:lnTo>
                    <a:pt x="2697479" y="0"/>
                  </a:lnTo>
                  <a:lnTo>
                    <a:pt x="0" y="0"/>
                  </a:lnTo>
                  <a:lnTo>
                    <a:pt x="0" y="834389"/>
                  </a:lnTo>
                  <a:lnTo>
                    <a:pt x="2697480" y="83438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364006" y="5023822"/>
            <a:ext cx="153521" cy="422631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2647" spc="-44" dirty="0">
                <a:latin typeface="Symbol"/>
                <a:cs typeface="Symbol"/>
              </a:rPr>
              <a:t></a:t>
            </a:r>
            <a:endParaRPr sz="2647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72054" y="5023822"/>
            <a:ext cx="153521" cy="422631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2647" spc="-44" dirty="0">
                <a:latin typeface="Symbol"/>
                <a:cs typeface="Symbol"/>
              </a:rPr>
              <a:t></a:t>
            </a:r>
            <a:endParaRPr sz="2647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73875" y="4674871"/>
            <a:ext cx="643218" cy="682125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R="4483" algn="r">
              <a:lnSpc>
                <a:spcPts val="2643"/>
              </a:lnSpc>
              <a:spcBef>
                <a:spcPts val="119"/>
              </a:spcBef>
            </a:pPr>
            <a:r>
              <a:rPr sz="2647" spc="-44" dirty="0">
                <a:latin typeface="Symbol"/>
                <a:cs typeface="Symbol"/>
              </a:rPr>
              <a:t></a:t>
            </a:r>
            <a:endParaRPr sz="2647">
              <a:latin typeface="Symbol"/>
              <a:cs typeface="Symbol"/>
            </a:endParaRPr>
          </a:p>
          <a:p>
            <a:pPr marL="11206">
              <a:lnSpc>
                <a:spcPts val="2643"/>
              </a:lnSpc>
            </a:pPr>
            <a:r>
              <a:rPr sz="2647" spc="53" dirty="0">
                <a:latin typeface="Times New Roman"/>
                <a:cs typeface="Times New Roman"/>
              </a:rPr>
              <a:t>0.8</a:t>
            </a:r>
            <a:endParaRPr sz="264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72054" y="4431479"/>
            <a:ext cx="1645024" cy="422695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  <a:tabLst>
                <a:tab pos="1009144" algn="l"/>
              </a:tabLst>
            </a:pPr>
            <a:r>
              <a:rPr sz="3971" baseline="-3703" dirty="0">
                <a:latin typeface="Symbol"/>
                <a:cs typeface="Symbol"/>
              </a:rPr>
              <a:t></a:t>
            </a:r>
            <a:r>
              <a:rPr sz="3971" spc="-370" baseline="-3703" dirty="0">
                <a:latin typeface="Times New Roman"/>
                <a:cs typeface="Times New Roman"/>
              </a:rPr>
              <a:t> </a:t>
            </a:r>
            <a:r>
              <a:rPr sz="2647" spc="53" dirty="0">
                <a:latin typeface="Times New Roman"/>
                <a:cs typeface="Times New Roman"/>
              </a:rPr>
              <a:t>0.4</a:t>
            </a:r>
            <a:r>
              <a:rPr sz="2647" dirty="0">
                <a:latin typeface="Times New Roman"/>
                <a:cs typeface="Times New Roman"/>
              </a:rPr>
              <a:t>	</a:t>
            </a:r>
            <a:r>
              <a:rPr sz="2647" spc="75" dirty="0">
                <a:latin typeface="Times New Roman"/>
                <a:cs typeface="Times New Roman"/>
              </a:rPr>
              <a:t>0.6</a:t>
            </a:r>
            <a:r>
              <a:rPr sz="2647" spc="-326" dirty="0">
                <a:latin typeface="Times New Roman"/>
                <a:cs typeface="Times New Roman"/>
              </a:rPr>
              <a:t> </a:t>
            </a:r>
            <a:r>
              <a:rPr sz="3971" spc="-66" baseline="-3703" dirty="0">
                <a:latin typeface="Symbol"/>
                <a:cs typeface="Symbol"/>
              </a:rPr>
              <a:t></a:t>
            </a:r>
            <a:endParaRPr sz="3971" baseline="-3703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67610" y="4681595"/>
            <a:ext cx="1261222" cy="682125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lnSpc>
                <a:spcPts val="2616"/>
              </a:lnSpc>
              <a:spcBef>
                <a:spcPts val="119"/>
              </a:spcBef>
            </a:pPr>
            <a:r>
              <a:rPr sz="2647" i="1" dirty="0">
                <a:latin typeface="Times New Roman"/>
                <a:cs typeface="Times New Roman"/>
              </a:rPr>
              <a:t>P</a:t>
            </a:r>
            <a:r>
              <a:rPr sz="2647" i="1" spc="243" dirty="0">
                <a:latin typeface="Times New Roman"/>
                <a:cs typeface="Times New Roman"/>
              </a:rPr>
              <a:t> </a:t>
            </a:r>
            <a:r>
              <a:rPr sz="2647" dirty="0">
                <a:latin typeface="Symbol"/>
                <a:cs typeface="Symbol"/>
              </a:rPr>
              <a:t></a:t>
            </a:r>
            <a:r>
              <a:rPr sz="2647" spc="93" dirty="0">
                <a:latin typeface="Times New Roman"/>
                <a:cs typeface="Times New Roman"/>
              </a:rPr>
              <a:t> </a:t>
            </a:r>
            <a:r>
              <a:rPr sz="2647" spc="-44" dirty="0">
                <a:latin typeface="Symbol"/>
                <a:cs typeface="Symbol"/>
              </a:rPr>
              <a:t></a:t>
            </a:r>
            <a:endParaRPr sz="2647">
              <a:latin typeface="Symbol"/>
              <a:cs typeface="Symbol"/>
            </a:endParaRPr>
          </a:p>
          <a:p>
            <a:pPr marL="797901">
              <a:lnSpc>
                <a:spcPts val="2616"/>
              </a:lnSpc>
            </a:pPr>
            <a:r>
              <a:rPr sz="2647" spc="53" dirty="0">
                <a:latin typeface="Times New Roman"/>
                <a:cs typeface="Times New Roman"/>
              </a:rPr>
              <a:t>0.2</a:t>
            </a:r>
            <a:endParaRPr sz="264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37573" y="4830407"/>
            <a:ext cx="1772210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dirty="0">
                <a:latin typeface="Comic Sans MS"/>
                <a:cs typeface="Comic Sans MS"/>
              </a:rPr>
              <a:t>Rows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sum</a:t>
            </a:r>
            <a:r>
              <a:rPr sz="1765" spc="-13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up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to</a:t>
            </a:r>
            <a:r>
              <a:rPr sz="1765" spc="-13" dirty="0">
                <a:latin typeface="Comic Sans MS"/>
                <a:cs typeface="Comic Sans MS"/>
              </a:rPr>
              <a:t> </a:t>
            </a:r>
            <a:r>
              <a:rPr sz="1765" spc="-44" dirty="0">
                <a:latin typeface="Comic Sans MS"/>
                <a:cs typeface="Comic Sans MS"/>
              </a:rPr>
              <a:t>1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34161" y="5099348"/>
            <a:ext cx="3486709" cy="55397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64175" indent="-152968">
              <a:spcBef>
                <a:spcPts val="84"/>
              </a:spcBef>
              <a:buChar char="•"/>
              <a:tabLst>
                <a:tab pos="164175" algn="l"/>
              </a:tabLst>
            </a:pP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Double</a:t>
            </a:r>
            <a:r>
              <a:rPr sz="1765" spc="-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stochastic</a:t>
            </a:r>
            <a:r>
              <a:rPr sz="1765" spc="-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765" spc="-9" dirty="0">
                <a:solidFill>
                  <a:srgbClr val="3333CC"/>
                </a:solidFill>
                <a:latin typeface="Comic Sans MS"/>
                <a:cs typeface="Comic Sans MS"/>
              </a:rPr>
              <a:t>matrix:</a:t>
            </a:r>
            <a:endParaRPr sz="1765">
              <a:latin typeface="Comic Sans MS"/>
              <a:cs typeface="Comic Sans MS"/>
            </a:endParaRPr>
          </a:p>
          <a:p>
            <a:pPr marL="414079"/>
            <a:r>
              <a:rPr sz="1765" dirty="0">
                <a:latin typeface="Comic Sans MS"/>
                <a:cs typeface="Comic Sans MS"/>
              </a:rPr>
              <a:t>Rows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and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columns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sum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up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to</a:t>
            </a:r>
            <a:r>
              <a:rPr sz="1765" spc="-26" dirty="0">
                <a:latin typeface="Comic Sans MS"/>
                <a:cs typeface="Comic Sans MS"/>
              </a:rPr>
              <a:t> </a:t>
            </a:r>
            <a:r>
              <a:rPr sz="1765" spc="-44" dirty="0">
                <a:latin typeface="Comic Sans MS"/>
                <a:cs typeface="Comic Sans MS"/>
              </a:rPr>
              <a:t>1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  <p:transition spd="med">
    <p:split orient="vert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26393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753" y="1151292"/>
            <a:ext cx="6817659" cy="109720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Coke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vs.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Pepsi</a:t>
            </a:r>
            <a:r>
              <a:rPr sz="2824" spc="-40" dirty="0">
                <a:latin typeface="Arial MT"/>
                <a:cs typeface="Arial MT"/>
              </a:rPr>
              <a:t> </a:t>
            </a:r>
            <a:r>
              <a:rPr sz="2824" spc="-9" dirty="0">
                <a:latin typeface="Arial MT"/>
                <a:cs typeface="Arial MT"/>
              </a:rPr>
              <a:t>Example</a:t>
            </a:r>
            <a:endParaRPr sz="2824">
              <a:latin typeface="Arial MT"/>
              <a:cs typeface="Arial MT"/>
            </a:endParaRPr>
          </a:p>
          <a:p>
            <a:pPr marL="50429" marR="4483" indent="182105">
              <a:spcBef>
                <a:spcPts val="4"/>
              </a:spcBef>
              <a:buChar char="•"/>
              <a:tabLst>
                <a:tab pos="232534" algn="l"/>
              </a:tabLst>
            </a:pPr>
            <a:r>
              <a:rPr sz="2118" dirty="0">
                <a:latin typeface="Comic Sans MS"/>
                <a:cs typeface="Comic Sans MS"/>
              </a:rPr>
              <a:t>Given</a:t>
            </a:r>
            <a:r>
              <a:rPr sz="2118" spc="-18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person’s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last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cola</a:t>
            </a:r>
            <a:r>
              <a:rPr sz="2118" spc="-18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was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spc="-9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2118" spc="-9" dirty="0">
                <a:latin typeface="Comic Sans MS"/>
                <a:cs typeface="Comic Sans MS"/>
              </a:rPr>
              <a:t>, </a:t>
            </a:r>
            <a:r>
              <a:rPr sz="2118" dirty="0">
                <a:latin typeface="Comic Sans MS"/>
                <a:cs typeface="Comic Sans MS"/>
              </a:rPr>
              <a:t>there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90%</a:t>
            </a:r>
            <a:r>
              <a:rPr sz="2118" spc="-26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chance</a:t>
            </a:r>
            <a:r>
              <a:rPr sz="2118" spc="-9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his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next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cola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spc="-18" dirty="0">
                <a:latin typeface="Comic Sans MS"/>
                <a:cs typeface="Comic Sans MS"/>
              </a:rPr>
              <a:t>will</a:t>
            </a:r>
            <a:endParaRPr sz="2118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7883" y="2130685"/>
            <a:ext cx="8068235" cy="1729068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1048422" y="2065692"/>
            <a:ext cx="6798049" cy="1644659"/>
          </a:xfrm>
          <a:prstGeom prst="rect">
            <a:avLst/>
          </a:prstGeom>
        </p:spPr>
        <p:txBody>
          <a:bodyPr vert="horz" wrap="square" lIns="0" tIns="172571" rIns="0" bIns="0" rtlCol="0">
            <a:spAutoFit/>
          </a:bodyPr>
          <a:lstStyle/>
          <a:p>
            <a:pPr marL="11206">
              <a:spcBef>
                <a:spcPts val="1359"/>
              </a:spcBef>
            </a:pPr>
            <a:r>
              <a:rPr sz="2118" dirty="0">
                <a:latin typeface="Comic Sans MS"/>
                <a:cs typeface="Comic Sans MS"/>
              </a:rPr>
              <a:t>also</a:t>
            </a:r>
            <a:r>
              <a:rPr sz="2118" spc="-13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be</a:t>
            </a:r>
            <a:r>
              <a:rPr sz="2118" spc="-9" dirty="0">
                <a:latin typeface="Comic Sans MS"/>
                <a:cs typeface="Comic Sans MS"/>
              </a:rPr>
              <a:t> </a:t>
            </a:r>
            <a:r>
              <a:rPr sz="2118" spc="-9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2118" spc="-9" dirty="0">
                <a:latin typeface="Comic Sans MS"/>
                <a:cs typeface="Comic Sans MS"/>
              </a:rPr>
              <a:t>.</a:t>
            </a:r>
            <a:endParaRPr sz="2118">
              <a:latin typeface="Comic Sans MS"/>
              <a:cs typeface="Comic Sans MS"/>
            </a:endParaRPr>
          </a:p>
          <a:p>
            <a:pPr marL="11206" marR="4483" indent="182105">
              <a:spcBef>
                <a:spcPts val="1271"/>
              </a:spcBef>
              <a:buChar char="•"/>
              <a:tabLst>
                <a:tab pos="193312" algn="l"/>
              </a:tabLst>
            </a:pPr>
            <a:r>
              <a:rPr sz="2118" dirty="0">
                <a:latin typeface="Comic Sans MS"/>
                <a:cs typeface="Comic Sans MS"/>
              </a:rPr>
              <a:t>If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person’s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last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cola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was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2118" dirty="0">
                <a:latin typeface="Comic Sans MS"/>
                <a:cs typeface="Comic Sans MS"/>
              </a:rPr>
              <a:t>,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there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spc="-22" dirty="0">
                <a:latin typeface="Comic Sans MS"/>
                <a:cs typeface="Comic Sans MS"/>
              </a:rPr>
              <a:t>is </a:t>
            </a:r>
            <a:r>
              <a:rPr sz="2118" dirty="0">
                <a:latin typeface="Comic Sans MS"/>
                <a:cs typeface="Comic Sans MS"/>
              </a:rPr>
              <a:t>an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80%</a:t>
            </a:r>
            <a:r>
              <a:rPr sz="2118" spc="-31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chance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his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next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cola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will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also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spc="-22" dirty="0">
                <a:latin typeface="Comic Sans MS"/>
                <a:cs typeface="Comic Sans MS"/>
              </a:rPr>
              <a:t>be </a:t>
            </a:r>
            <a:r>
              <a:rPr sz="2118" spc="-9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2118" spc="-9" dirty="0">
                <a:latin typeface="Comic Sans MS"/>
                <a:cs typeface="Comic Sans MS"/>
              </a:rPr>
              <a:t>.</a:t>
            </a:r>
            <a:endParaRPr sz="2118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73641" y="4377958"/>
            <a:ext cx="3110193" cy="345701"/>
            <a:chOff x="4804393" y="4961685"/>
            <a:chExt cx="3524885" cy="391795"/>
          </a:xfrm>
        </p:grpSpPr>
        <p:sp>
          <p:nvSpPr>
            <p:cNvPr id="7" name="object 7"/>
            <p:cNvSpPr/>
            <p:nvPr/>
          </p:nvSpPr>
          <p:spPr>
            <a:xfrm>
              <a:off x="5123448" y="5204460"/>
              <a:ext cx="866775" cy="148590"/>
            </a:xfrm>
            <a:custGeom>
              <a:avLst/>
              <a:gdLst/>
              <a:ahLst/>
              <a:cxnLst/>
              <a:rect l="l" t="t" r="r" b="b"/>
              <a:pathLst>
                <a:path w="866775" h="148589">
                  <a:moveTo>
                    <a:pt x="866294" y="148589"/>
                  </a:moveTo>
                  <a:lnTo>
                    <a:pt x="832129" y="118649"/>
                  </a:lnTo>
                  <a:lnTo>
                    <a:pt x="794719" y="92773"/>
                  </a:lnTo>
                  <a:lnTo>
                    <a:pt x="752981" y="69579"/>
                  </a:lnTo>
                  <a:lnTo>
                    <a:pt x="707298" y="49305"/>
                  </a:lnTo>
                  <a:lnTo>
                    <a:pt x="658051" y="32186"/>
                  </a:lnTo>
                  <a:lnTo>
                    <a:pt x="605622" y="18459"/>
                  </a:lnTo>
                  <a:lnTo>
                    <a:pt x="550392" y="8362"/>
                  </a:lnTo>
                  <a:lnTo>
                    <a:pt x="492742" y="2129"/>
                  </a:lnTo>
                  <a:lnTo>
                    <a:pt x="433055" y="0"/>
                  </a:lnTo>
                  <a:lnTo>
                    <a:pt x="373508" y="2129"/>
                  </a:lnTo>
                  <a:lnTo>
                    <a:pt x="315958" y="8362"/>
                  </a:lnTo>
                  <a:lnTo>
                    <a:pt x="260790" y="18459"/>
                  </a:lnTo>
                  <a:lnTo>
                    <a:pt x="208391" y="32186"/>
                  </a:lnTo>
                  <a:lnTo>
                    <a:pt x="159148" y="49305"/>
                  </a:lnTo>
                  <a:lnTo>
                    <a:pt x="113448" y="69579"/>
                  </a:lnTo>
                  <a:lnTo>
                    <a:pt x="71676" y="92773"/>
                  </a:lnTo>
                  <a:lnTo>
                    <a:pt x="34220" y="118649"/>
                  </a:lnTo>
                  <a:lnTo>
                    <a:pt x="1466" y="146972"/>
                  </a:lnTo>
                  <a:lnTo>
                    <a:pt x="0" y="148589"/>
                  </a:lnTo>
                  <a:lnTo>
                    <a:pt x="866294" y="14858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106727" y="5191700"/>
              <a:ext cx="900430" cy="161925"/>
            </a:xfrm>
            <a:custGeom>
              <a:avLst/>
              <a:gdLst/>
              <a:ahLst/>
              <a:cxnLst/>
              <a:rect l="l" t="t" r="r" b="b"/>
              <a:pathLst>
                <a:path w="900429" h="161925">
                  <a:moveTo>
                    <a:pt x="900023" y="161349"/>
                  </a:moveTo>
                  <a:lnTo>
                    <a:pt x="867353" y="130107"/>
                  </a:lnTo>
                  <a:lnTo>
                    <a:pt x="835349" y="105723"/>
                  </a:lnTo>
                  <a:lnTo>
                    <a:pt x="795182" y="81225"/>
                  </a:lnTo>
                  <a:lnTo>
                    <a:pt x="752398" y="60055"/>
                  </a:lnTo>
                  <a:lnTo>
                    <a:pt x="707400" y="42162"/>
                  </a:lnTo>
                  <a:lnTo>
                    <a:pt x="660590" y="27492"/>
                  </a:lnTo>
                  <a:lnTo>
                    <a:pt x="612371" y="15992"/>
                  </a:lnTo>
                  <a:lnTo>
                    <a:pt x="563147" y="7611"/>
                  </a:lnTo>
                  <a:lnTo>
                    <a:pt x="513318" y="2294"/>
                  </a:lnTo>
                  <a:lnTo>
                    <a:pt x="463493" y="0"/>
                  </a:lnTo>
                  <a:lnTo>
                    <a:pt x="423869" y="509"/>
                  </a:lnTo>
                  <a:lnTo>
                    <a:pt x="364239" y="4208"/>
                  </a:lnTo>
                  <a:lnTo>
                    <a:pt x="316024" y="10625"/>
                  </a:lnTo>
                  <a:lnTo>
                    <a:pt x="269218" y="19843"/>
                  </a:lnTo>
                  <a:lnTo>
                    <a:pt x="224225" y="31809"/>
                  </a:lnTo>
                  <a:lnTo>
                    <a:pt x="180029" y="46287"/>
                  </a:lnTo>
                  <a:lnTo>
                    <a:pt x="137481" y="64477"/>
                  </a:lnTo>
                  <a:lnTo>
                    <a:pt x="95258" y="86671"/>
                  </a:lnTo>
                  <a:lnTo>
                    <a:pt x="54771" y="112880"/>
                  </a:lnTo>
                  <a:lnTo>
                    <a:pt x="17432" y="143118"/>
                  </a:lnTo>
                  <a:lnTo>
                    <a:pt x="0" y="161349"/>
                  </a:lnTo>
                  <a:lnTo>
                    <a:pt x="36345" y="161349"/>
                  </a:lnTo>
                  <a:lnTo>
                    <a:pt x="46669" y="151396"/>
                  </a:lnTo>
                  <a:lnTo>
                    <a:pt x="85236" y="122635"/>
                  </a:lnTo>
                  <a:lnTo>
                    <a:pt x="126514" y="98222"/>
                  </a:lnTo>
                  <a:lnTo>
                    <a:pt x="168829" y="78311"/>
                  </a:lnTo>
                  <a:lnTo>
                    <a:pt x="210509" y="63051"/>
                  </a:lnTo>
                  <a:lnTo>
                    <a:pt x="253943" y="49335"/>
                  </a:lnTo>
                  <a:lnTo>
                    <a:pt x="301425" y="38806"/>
                  </a:lnTo>
                  <a:lnTo>
                    <a:pt x="350683" y="31211"/>
                  </a:lnTo>
                  <a:lnTo>
                    <a:pt x="401243" y="26650"/>
                  </a:lnTo>
                  <a:lnTo>
                    <a:pt x="449777" y="25302"/>
                  </a:lnTo>
                  <a:lnTo>
                    <a:pt x="455349" y="25317"/>
                  </a:lnTo>
                  <a:lnTo>
                    <a:pt x="503117" y="26982"/>
                  </a:lnTo>
                  <a:lnTo>
                    <a:pt x="556009" y="32162"/>
                  </a:lnTo>
                  <a:lnTo>
                    <a:pt x="607050" y="40728"/>
                  </a:lnTo>
                  <a:lnTo>
                    <a:pt x="657029" y="52824"/>
                  </a:lnTo>
                  <a:lnTo>
                    <a:pt x="705474" y="68548"/>
                  </a:lnTo>
                  <a:lnTo>
                    <a:pt x="751911" y="88001"/>
                  </a:lnTo>
                  <a:lnTo>
                    <a:pt x="795868" y="111282"/>
                  </a:lnTo>
                  <a:lnTo>
                    <a:pt x="836873" y="138489"/>
                  </a:lnTo>
                  <a:lnTo>
                    <a:pt x="864209" y="161349"/>
                  </a:lnTo>
                  <a:lnTo>
                    <a:pt x="900023" y="1613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7066584" y="5213604"/>
              <a:ext cx="925194" cy="139700"/>
            </a:xfrm>
            <a:custGeom>
              <a:avLst/>
              <a:gdLst/>
              <a:ahLst/>
              <a:cxnLst/>
              <a:rect l="l" t="t" r="r" b="b"/>
              <a:pathLst>
                <a:path w="925195" h="139700">
                  <a:moveTo>
                    <a:pt x="924755" y="139445"/>
                  </a:moveTo>
                  <a:lnTo>
                    <a:pt x="877849" y="104948"/>
                  </a:lnTo>
                  <a:lnTo>
                    <a:pt x="837363" y="81944"/>
                  </a:lnTo>
                  <a:lnTo>
                    <a:pt x="792933" y="61374"/>
                  </a:lnTo>
                  <a:lnTo>
                    <a:pt x="744903" y="43434"/>
                  </a:lnTo>
                  <a:lnTo>
                    <a:pt x="693615" y="28317"/>
                  </a:lnTo>
                  <a:lnTo>
                    <a:pt x="639411" y="16221"/>
                  </a:lnTo>
                  <a:lnTo>
                    <a:pt x="582636" y="7339"/>
                  </a:lnTo>
                  <a:lnTo>
                    <a:pt x="523630" y="1867"/>
                  </a:lnTo>
                  <a:lnTo>
                    <a:pt x="462737" y="0"/>
                  </a:lnTo>
                  <a:lnTo>
                    <a:pt x="401702" y="1867"/>
                  </a:lnTo>
                  <a:lnTo>
                    <a:pt x="342573" y="7339"/>
                  </a:lnTo>
                  <a:lnTo>
                    <a:pt x="285691" y="16221"/>
                  </a:lnTo>
                  <a:lnTo>
                    <a:pt x="231398" y="28317"/>
                  </a:lnTo>
                  <a:lnTo>
                    <a:pt x="180035" y="43434"/>
                  </a:lnTo>
                  <a:lnTo>
                    <a:pt x="131944" y="61374"/>
                  </a:lnTo>
                  <a:lnTo>
                    <a:pt x="87465" y="81944"/>
                  </a:lnTo>
                  <a:lnTo>
                    <a:pt x="46941" y="104948"/>
                  </a:lnTo>
                  <a:lnTo>
                    <a:pt x="10713" y="130192"/>
                  </a:lnTo>
                  <a:lnTo>
                    <a:pt x="0" y="139446"/>
                  </a:lnTo>
                  <a:lnTo>
                    <a:pt x="924755" y="13944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4384" y="4961686"/>
              <a:ext cx="3524885" cy="391795"/>
            </a:xfrm>
            <a:custGeom>
              <a:avLst/>
              <a:gdLst/>
              <a:ahLst/>
              <a:cxnLst/>
              <a:rect l="l" t="t" r="r" b="b"/>
              <a:pathLst>
                <a:path w="3524884" h="391795">
                  <a:moveTo>
                    <a:pt x="402348" y="324307"/>
                  </a:moveTo>
                  <a:lnTo>
                    <a:pt x="397484" y="259753"/>
                  </a:lnTo>
                  <a:lnTo>
                    <a:pt x="389839" y="222427"/>
                  </a:lnTo>
                  <a:lnTo>
                    <a:pt x="378155" y="184010"/>
                  </a:lnTo>
                  <a:lnTo>
                    <a:pt x="362724" y="145897"/>
                  </a:lnTo>
                  <a:lnTo>
                    <a:pt x="343789" y="109512"/>
                  </a:lnTo>
                  <a:lnTo>
                    <a:pt x="321627" y="76238"/>
                  </a:lnTo>
                  <a:lnTo>
                    <a:pt x="296494" y="47485"/>
                  </a:lnTo>
                  <a:lnTo>
                    <a:pt x="238391" y="9156"/>
                  </a:lnTo>
                  <a:lnTo>
                    <a:pt x="205955" y="2387"/>
                  </a:lnTo>
                  <a:lnTo>
                    <a:pt x="171627" y="5740"/>
                  </a:lnTo>
                  <a:lnTo>
                    <a:pt x="135661" y="20637"/>
                  </a:lnTo>
                  <a:lnTo>
                    <a:pt x="98310" y="48463"/>
                  </a:lnTo>
                  <a:lnTo>
                    <a:pt x="54698" y="101130"/>
                  </a:lnTo>
                  <a:lnTo>
                    <a:pt x="32651" y="140220"/>
                  </a:lnTo>
                  <a:lnTo>
                    <a:pt x="16167" y="181127"/>
                  </a:lnTo>
                  <a:lnTo>
                    <a:pt x="5270" y="223291"/>
                  </a:lnTo>
                  <a:lnTo>
                    <a:pt x="0" y="266103"/>
                  </a:lnTo>
                  <a:lnTo>
                    <a:pt x="355" y="308978"/>
                  </a:lnTo>
                  <a:lnTo>
                    <a:pt x="6375" y="351320"/>
                  </a:lnTo>
                  <a:lnTo>
                    <a:pt x="17729" y="391363"/>
                  </a:lnTo>
                  <a:lnTo>
                    <a:pt x="45618" y="391363"/>
                  </a:lnTo>
                  <a:lnTo>
                    <a:pt x="37287" y="369862"/>
                  </a:lnTo>
                  <a:lnTo>
                    <a:pt x="27901" y="328002"/>
                  </a:lnTo>
                  <a:lnTo>
                    <a:pt x="24726" y="285254"/>
                  </a:lnTo>
                  <a:lnTo>
                    <a:pt x="27736" y="242290"/>
                  </a:lnTo>
                  <a:lnTo>
                    <a:pt x="36918" y="199809"/>
                  </a:lnTo>
                  <a:lnTo>
                    <a:pt x="52260" y="158470"/>
                  </a:lnTo>
                  <a:lnTo>
                    <a:pt x="73748" y="118973"/>
                  </a:lnTo>
                  <a:lnTo>
                    <a:pt x="101358" y="81991"/>
                  </a:lnTo>
                  <a:lnTo>
                    <a:pt x="150482" y="40881"/>
                  </a:lnTo>
                  <a:lnTo>
                    <a:pt x="184277" y="29057"/>
                  </a:lnTo>
                  <a:lnTo>
                    <a:pt x="216230" y="29540"/>
                  </a:lnTo>
                  <a:lnTo>
                    <a:pt x="273456" y="60325"/>
                  </a:lnTo>
                  <a:lnTo>
                    <a:pt x="320027" y="119126"/>
                  </a:lnTo>
                  <a:lnTo>
                    <a:pt x="338632" y="154622"/>
                  </a:lnTo>
                  <a:lnTo>
                    <a:pt x="353783" y="191833"/>
                  </a:lnTo>
                  <a:lnTo>
                    <a:pt x="365175" y="228993"/>
                  </a:lnTo>
                  <a:lnTo>
                    <a:pt x="375678" y="296113"/>
                  </a:lnTo>
                  <a:lnTo>
                    <a:pt x="376440" y="309829"/>
                  </a:lnTo>
                  <a:lnTo>
                    <a:pt x="376440" y="324307"/>
                  </a:lnTo>
                  <a:lnTo>
                    <a:pt x="402348" y="324307"/>
                  </a:lnTo>
                  <a:close/>
                </a:path>
                <a:path w="3524884" h="391795">
                  <a:moveTo>
                    <a:pt x="3524466" y="274561"/>
                  </a:moveTo>
                  <a:lnTo>
                    <a:pt x="3518865" y="231863"/>
                  </a:lnTo>
                  <a:lnTo>
                    <a:pt x="3507498" y="189776"/>
                  </a:lnTo>
                  <a:lnTo>
                    <a:pt x="3490391" y="148882"/>
                  </a:lnTo>
                  <a:lnTo>
                    <a:pt x="3467531" y="109715"/>
                  </a:lnTo>
                  <a:lnTo>
                    <a:pt x="3438931" y="72847"/>
                  </a:lnTo>
                  <a:lnTo>
                    <a:pt x="3384029" y="29400"/>
                  </a:lnTo>
                  <a:lnTo>
                    <a:pt x="3347250" y="14566"/>
                  </a:lnTo>
                  <a:lnTo>
                    <a:pt x="3312071" y="11023"/>
                  </a:lnTo>
                  <a:lnTo>
                    <a:pt x="3278771" y="17437"/>
                  </a:lnTo>
                  <a:lnTo>
                    <a:pt x="3218942" y="54762"/>
                  </a:lnTo>
                  <a:lnTo>
                    <a:pt x="3192932" y="83032"/>
                  </a:lnTo>
                  <a:lnTo>
                    <a:pt x="3169907" y="115912"/>
                  </a:lnTo>
                  <a:lnTo>
                    <a:pt x="3150133" y="152082"/>
                  </a:lnTo>
                  <a:lnTo>
                    <a:pt x="3133877" y="190207"/>
                  </a:lnTo>
                  <a:lnTo>
                    <a:pt x="3121418" y="228955"/>
                  </a:lnTo>
                  <a:lnTo>
                    <a:pt x="3113036" y="266992"/>
                  </a:lnTo>
                  <a:lnTo>
                    <a:pt x="3108223" y="318211"/>
                  </a:lnTo>
                  <a:lnTo>
                    <a:pt x="3108223" y="324675"/>
                  </a:lnTo>
                  <a:lnTo>
                    <a:pt x="3078149" y="309600"/>
                  </a:lnTo>
                  <a:lnTo>
                    <a:pt x="3031782" y="290626"/>
                  </a:lnTo>
                  <a:lnTo>
                    <a:pt x="2983560" y="274739"/>
                  </a:lnTo>
                  <a:lnTo>
                    <a:pt x="2933839" y="261874"/>
                  </a:lnTo>
                  <a:lnTo>
                    <a:pt x="2882976" y="251968"/>
                  </a:lnTo>
                  <a:lnTo>
                    <a:pt x="2831338" y="244944"/>
                  </a:lnTo>
                  <a:lnTo>
                    <a:pt x="2779293" y="240741"/>
                  </a:lnTo>
                  <a:lnTo>
                    <a:pt x="2737891" y="239585"/>
                  </a:lnTo>
                  <a:lnTo>
                    <a:pt x="2711221" y="239674"/>
                  </a:lnTo>
                  <a:lnTo>
                    <a:pt x="2680512" y="240411"/>
                  </a:lnTo>
                  <a:lnTo>
                    <a:pt x="2675445" y="240525"/>
                  </a:lnTo>
                  <a:lnTo>
                    <a:pt x="2624353" y="244373"/>
                  </a:lnTo>
                  <a:lnTo>
                    <a:pt x="2574302" y="250786"/>
                  </a:lnTo>
                  <a:lnTo>
                    <a:pt x="2525674" y="259664"/>
                  </a:lnTo>
                  <a:lnTo>
                    <a:pt x="2479116" y="270903"/>
                  </a:lnTo>
                  <a:lnTo>
                    <a:pt x="2430043" y="286219"/>
                  </a:lnTo>
                  <a:lnTo>
                    <a:pt x="2385669" y="303072"/>
                  </a:lnTo>
                  <a:lnTo>
                    <a:pt x="2340673" y="324243"/>
                  </a:lnTo>
                  <a:lnTo>
                    <a:pt x="2329700" y="330619"/>
                  </a:lnTo>
                  <a:lnTo>
                    <a:pt x="2345461" y="248869"/>
                  </a:lnTo>
                  <a:lnTo>
                    <a:pt x="2320785" y="255816"/>
                  </a:lnTo>
                  <a:lnTo>
                    <a:pt x="2320315" y="254203"/>
                  </a:lnTo>
                  <a:lnTo>
                    <a:pt x="2320315" y="253441"/>
                  </a:lnTo>
                  <a:lnTo>
                    <a:pt x="2319553" y="252679"/>
                  </a:lnTo>
                  <a:lnTo>
                    <a:pt x="2319553" y="251155"/>
                  </a:lnTo>
                  <a:lnTo>
                    <a:pt x="2314981" y="243535"/>
                  </a:lnTo>
                  <a:lnTo>
                    <a:pt x="2282075" y="202234"/>
                  </a:lnTo>
                  <a:lnTo>
                    <a:pt x="2249868" y="171157"/>
                  </a:lnTo>
                  <a:lnTo>
                    <a:pt x="2213559" y="142684"/>
                  </a:lnTo>
                  <a:lnTo>
                    <a:pt x="2173655" y="116814"/>
                  </a:lnTo>
                  <a:lnTo>
                    <a:pt x="2130691" y="93548"/>
                  </a:lnTo>
                  <a:lnTo>
                    <a:pt x="2085200" y="72859"/>
                  </a:lnTo>
                  <a:lnTo>
                    <a:pt x="2037715" y="54762"/>
                  </a:lnTo>
                  <a:lnTo>
                    <a:pt x="1988743" y="39243"/>
                  </a:lnTo>
                  <a:lnTo>
                    <a:pt x="1938820" y="26301"/>
                  </a:lnTo>
                  <a:lnTo>
                    <a:pt x="1888477" y="15925"/>
                  </a:lnTo>
                  <a:lnTo>
                    <a:pt x="1838236" y="8115"/>
                  </a:lnTo>
                  <a:lnTo>
                    <a:pt x="1788629" y="2857"/>
                  </a:lnTo>
                  <a:lnTo>
                    <a:pt x="1740192" y="152"/>
                  </a:lnTo>
                  <a:lnTo>
                    <a:pt x="1699577" y="25"/>
                  </a:lnTo>
                  <a:lnTo>
                    <a:pt x="1693430" y="0"/>
                  </a:lnTo>
                  <a:lnTo>
                    <a:pt x="1648879" y="2400"/>
                  </a:lnTo>
                  <a:lnTo>
                    <a:pt x="1607083" y="7315"/>
                  </a:lnTo>
                  <a:lnTo>
                    <a:pt x="1550695" y="15697"/>
                  </a:lnTo>
                  <a:lnTo>
                    <a:pt x="1472222" y="32880"/>
                  </a:lnTo>
                  <a:lnTo>
                    <a:pt x="1427010" y="46418"/>
                  </a:lnTo>
                  <a:lnTo>
                    <a:pt x="1379778" y="63195"/>
                  </a:lnTo>
                  <a:lnTo>
                    <a:pt x="1331950" y="83134"/>
                  </a:lnTo>
                  <a:lnTo>
                    <a:pt x="1285011" y="106197"/>
                  </a:lnTo>
                  <a:lnTo>
                    <a:pt x="1240396" y="132321"/>
                  </a:lnTo>
                  <a:lnTo>
                    <a:pt x="1199591" y="161442"/>
                  </a:lnTo>
                  <a:lnTo>
                    <a:pt x="1164018" y="193509"/>
                  </a:lnTo>
                  <a:lnTo>
                    <a:pt x="1135164" y="228460"/>
                  </a:lnTo>
                  <a:lnTo>
                    <a:pt x="1114463" y="266230"/>
                  </a:lnTo>
                  <a:lnTo>
                    <a:pt x="1103401" y="306781"/>
                  </a:lnTo>
                  <a:lnTo>
                    <a:pt x="1102639" y="315163"/>
                  </a:lnTo>
                  <a:lnTo>
                    <a:pt x="1102639" y="322021"/>
                  </a:lnTo>
                  <a:lnTo>
                    <a:pt x="1127785" y="322783"/>
                  </a:lnTo>
                  <a:lnTo>
                    <a:pt x="1127785" y="315925"/>
                  </a:lnTo>
                  <a:lnTo>
                    <a:pt x="1128547" y="309067"/>
                  </a:lnTo>
                  <a:lnTo>
                    <a:pt x="1141501" y="268516"/>
                  </a:lnTo>
                  <a:lnTo>
                    <a:pt x="1165085" y="230936"/>
                  </a:lnTo>
                  <a:lnTo>
                    <a:pt x="1197470" y="196430"/>
                  </a:lnTo>
                  <a:lnTo>
                    <a:pt x="1236840" y="165074"/>
                  </a:lnTo>
                  <a:lnTo>
                    <a:pt x="1281404" y="136956"/>
                  </a:lnTo>
                  <a:lnTo>
                    <a:pt x="1329321" y="112166"/>
                  </a:lnTo>
                  <a:lnTo>
                    <a:pt x="1378800" y="90766"/>
                  </a:lnTo>
                  <a:lnTo>
                    <a:pt x="1428026" y="72847"/>
                  </a:lnTo>
                  <a:lnTo>
                    <a:pt x="1475181" y="58496"/>
                  </a:lnTo>
                  <a:lnTo>
                    <a:pt x="1518450" y="47802"/>
                  </a:lnTo>
                  <a:lnTo>
                    <a:pt x="1556029" y="40843"/>
                  </a:lnTo>
                  <a:lnTo>
                    <a:pt x="1610893" y="32461"/>
                  </a:lnTo>
                  <a:lnTo>
                    <a:pt x="1653705" y="27635"/>
                  </a:lnTo>
                  <a:lnTo>
                    <a:pt x="1699577" y="25514"/>
                  </a:lnTo>
                  <a:lnTo>
                    <a:pt x="1740192" y="26022"/>
                  </a:lnTo>
                  <a:lnTo>
                    <a:pt x="1747875" y="26111"/>
                  </a:lnTo>
                  <a:lnTo>
                    <a:pt x="1797977" y="29451"/>
                  </a:lnTo>
                  <a:lnTo>
                    <a:pt x="1849259" y="35547"/>
                  </a:lnTo>
                  <a:lnTo>
                    <a:pt x="1901088" y="44399"/>
                  </a:lnTo>
                  <a:lnTo>
                    <a:pt x="1952840" y="56019"/>
                  </a:lnTo>
                  <a:lnTo>
                    <a:pt x="2003894" y="70434"/>
                  </a:lnTo>
                  <a:lnTo>
                    <a:pt x="2053628" y="87655"/>
                  </a:lnTo>
                  <a:lnTo>
                    <a:pt x="2101405" y="107670"/>
                  </a:lnTo>
                  <a:lnTo>
                    <a:pt x="2146604" y="130517"/>
                  </a:lnTo>
                  <a:lnTo>
                    <a:pt x="2188591" y="156210"/>
                  </a:lnTo>
                  <a:lnTo>
                    <a:pt x="2226741" y="184734"/>
                  </a:lnTo>
                  <a:lnTo>
                    <a:pt x="2260447" y="216128"/>
                  </a:lnTo>
                  <a:lnTo>
                    <a:pt x="2289073" y="250393"/>
                  </a:lnTo>
                  <a:lnTo>
                    <a:pt x="2296617" y="262610"/>
                  </a:lnTo>
                  <a:lnTo>
                    <a:pt x="2296477" y="262648"/>
                  </a:lnTo>
                  <a:lnTo>
                    <a:pt x="2295931" y="261823"/>
                  </a:lnTo>
                  <a:lnTo>
                    <a:pt x="2296185" y="262737"/>
                  </a:lnTo>
                  <a:lnTo>
                    <a:pt x="2297455" y="267004"/>
                  </a:lnTo>
                  <a:lnTo>
                    <a:pt x="2299741" y="274777"/>
                  </a:lnTo>
                  <a:lnTo>
                    <a:pt x="2296185" y="262737"/>
                  </a:lnTo>
                  <a:lnTo>
                    <a:pt x="2272309" y="269443"/>
                  </a:lnTo>
                  <a:lnTo>
                    <a:pt x="2324125" y="326097"/>
                  </a:lnTo>
                  <a:lnTo>
                    <a:pt x="2328761" y="331177"/>
                  </a:lnTo>
                  <a:lnTo>
                    <a:pt x="2296782" y="349758"/>
                  </a:lnTo>
                  <a:lnTo>
                    <a:pt x="2255710" y="379666"/>
                  </a:lnTo>
                  <a:lnTo>
                    <a:pt x="2243251" y="391375"/>
                  </a:lnTo>
                  <a:lnTo>
                    <a:pt x="2282533" y="391375"/>
                  </a:lnTo>
                  <a:lnTo>
                    <a:pt x="2315387" y="368134"/>
                  </a:lnTo>
                  <a:lnTo>
                    <a:pt x="2356739" y="344614"/>
                  </a:lnTo>
                  <a:lnTo>
                    <a:pt x="2398598" y="325183"/>
                  </a:lnTo>
                  <a:lnTo>
                    <a:pt x="2439187" y="309841"/>
                  </a:lnTo>
                  <a:lnTo>
                    <a:pt x="2485669" y="295363"/>
                  </a:lnTo>
                  <a:lnTo>
                    <a:pt x="2531580" y="284314"/>
                  </a:lnTo>
                  <a:lnTo>
                    <a:pt x="2579649" y="275666"/>
                  </a:lnTo>
                  <a:lnTo>
                    <a:pt x="2629446" y="269468"/>
                  </a:lnTo>
                  <a:lnTo>
                    <a:pt x="2680512" y="265849"/>
                  </a:lnTo>
                  <a:lnTo>
                    <a:pt x="2711221" y="265264"/>
                  </a:lnTo>
                  <a:lnTo>
                    <a:pt x="2715793" y="265176"/>
                  </a:lnTo>
                  <a:lnTo>
                    <a:pt x="2720594" y="265087"/>
                  </a:lnTo>
                  <a:lnTo>
                    <a:pt x="2737891" y="265049"/>
                  </a:lnTo>
                  <a:lnTo>
                    <a:pt x="2779293" y="266433"/>
                  </a:lnTo>
                  <a:lnTo>
                    <a:pt x="2782849" y="266547"/>
                  </a:lnTo>
                  <a:lnTo>
                    <a:pt x="2837027" y="271195"/>
                  </a:lnTo>
                  <a:lnTo>
                    <a:pt x="2888843" y="278688"/>
                  </a:lnTo>
                  <a:lnTo>
                    <a:pt x="2939758" y="289191"/>
                  </a:lnTo>
                  <a:lnTo>
                    <a:pt x="2989021" y="302704"/>
                  </a:lnTo>
                  <a:lnTo>
                    <a:pt x="2989313" y="302780"/>
                  </a:lnTo>
                  <a:lnTo>
                    <a:pt x="3037103" y="319557"/>
                  </a:lnTo>
                  <a:lnTo>
                    <a:pt x="3082658" y="339598"/>
                  </a:lnTo>
                  <a:lnTo>
                    <a:pt x="3125559" y="362991"/>
                  </a:lnTo>
                  <a:lnTo>
                    <a:pt x="3165373" y="389851"/>
                  </a:lnTo>
                  <a:lnTo>
                    <a:pt x="3167278" y="391375"/>
                  </a:lnTo>
                  <a:lnTo>
                    <a:pt x="3207372" y="391375"/>
                  </a:lnTo>
                  <a:lnTo>
                    <a:pt x="3196615" y="382231"/>
                  </a:lnTo>
                  <a:lnTo>
                    <a:pt x="3180613" y="369277"/>
                  </a:lnTo>
                  <a:lnTo>
                    <a:pt x="3163849" y="357085"/>
                  </a:lnTo>
                  <a:lnTo>
                    <a:pt x="3124682" y="333197"/>
                  </a:lnTo>
                  <a:lnTo>
                    <a:pt x="3133369" y="333451"/>
                  </a:lnTo>
                  <a:lnTo>
                    <a:pt x="3138322" y="271386"/>
                  </a:lnTo>
                  <a:lnTo>
                    <a:pt x="3158426" y="197637"/>
                  </a:lnTo>
                  <a:lnTo>
                    <a:pt x="3174466" y="160375"/>
                  </a:lnTo>
                  <a:lnTo>
                    <a:pt x="3194100" y="125120"/>
                  </a:lnTo>
                  <a:lnTo>
                    <a:pt x="3216986" y="93548"/>
                  </a:lnTo>
                  <a:lnTo>
                    <a:pt x="3271316" y="48196"/>
                  </a:lnTo>
                  <a:lnTo>
                    <a:pt x="3302127" y="37782"/>
                  </a:lnTo>
                  <a:lnTo>
                    <a:pt x="3334956" y="37807"/>
                  </a:lnTo>
                  <a:lnTo>
                    <a:pt x="3405403" y="75895"/>
                  </a:lnTo>
                  <a:lnTo>
                    <a:pt x="3448951" y="127482"/>
                  </a:lnTo>
                  <a:lnTo>
                    <a:pt x="3471037" y="167030"/>
                  </a:lnTo>
                  <a:lnTo>
                    <a:pt x="3486861" y="208343"/>
                  </a:lnTo>
                  <a:lnTo>
                    <a:pt x="3496437" y="250774"/>
                  </a:lnTo>
                  <a:lnTo>
                    <a:pt x="3499739" y="293662"/>
                  </a:lnTo>
                  <a:lnTo>
                    <a:pt x="3496754" y="336372"/>
                  </a:lnTo>
                  <a:lnTo>
                    <a:pt x="3487470" y="378218"/>
                  </a:lnTo>
                  <a:lnTo>
                    <a:pt x="3482378" y="391363"/>
                  </a:lnTo>
                  <a:lnTo>
                    <a:pt x="3509403" y="391363"/>
                  </a:lnTo>
                  <a:lnTo>
                    <a:pt x="3518408" y="359575"/>
                  </a:lnTo>
                  <a:lnTo>
                    <a:pt x="3524326" y="317322"/>
                  </a:lnTo>
                  <a:lnTo>
                    <a:pt x="3524466" y="274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722619" y="4104266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0.1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43450" y="4186966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0.9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9908" y="4217887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0.8</a:t>
            </a:r>
            <a:endParaRPr sz="1588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7883" y="4407273"/>
            <a:ext cx="8068235" cy="1179979"/>
            <a:chOff x="457200" y="4994909"/>
            <a:chExt cx="9144000" cy="1337310"/>
          </a:xfrm>
        </p:grpSpPr>
        <p:sp>
          <p:nvSpPr>
            <p:cNvPr id="15" name="object 15"/>
            <p:cNvSpPr/>
            <p:nvPr/>
          </p:nvSpPr>
          <p:spPr>
            <a:xfrm>
              <a:off x="1424177" y="4994909"/>
              <a:ext cx="2784475" cy="358140"/>
            </a:xfrm>
            <a:custGeom>
              <a:avLst/>
              <a:gdLst/>
              <a:ahLst/>
              <a:cxnLst/>
              <a:rect l="l" t="t" r="r" b="b"/>
              <a:pathLst>
                <a:path w="2784475" h="358139">
                  <a:moveTo>
                    <a:pt x="2784347" y="358139"/>
                  </a:moveTo>
                  <a:lnTo>
                    <a:pt x="2784347" y="0"/>
                  </a:lnTo>
                  <a:lnTo>
                    <a:pt x="0" y="0"/>
                  </a:lnTo>
                  <a:lnTo>
                    <a:pt x="0" y="358139"/>
                  </a:lnTo>
                  <a:lnTo>
                    <a:pt x="2784347" y="35813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535228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66978" y="0"/>
                  </a:moveTo>
                  <a:lnTo>
                    <a:pt x="0" y="0"/>
                  </a:lnTo>
                  <a:lnTo>
                    <a:pt x="0" y="979944"/>
                  </a:lnTo>
                  <a:lnTo>
                    <a:pt x="966978" y="979944"/>
                  </a:lnTo>
                  <a:lnTo>
                    <a:pt x="966978" y="0"/>
                  </a:lnTo>
                  <a:close/>
                </a:path>
                <a:path w="9144000" h="980439">
                  <a:moveTo>
                    <a:pt x="9144000" y="0"/>
                  </a:moveTo>
                  <a:lnTo>
                    <a:pt x="3751326" y="0"/>
                  </a:lnTo>
                  <a:lnTo>
                    <a:pt x="3751326" y="979944"/>
                  </a:lnTo>
                  <a:lnTo>
                    <a:pt x="9144000" y="9799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45201" y="5353049"/>
              <a:ext cx="1022985" cy="486409"/>
            </a:xfrm>
            <a:custGeom>
              <a:avLst/>
              <a:gdLst/>
              <a:ahLst/>
              <a:cxnLst/>
              <a:rect l="l" t="t" r="r" b="b"/>
              <a:pathLst>
                <a:path w="1022985" h="486410">
                  <a:moveTo>
                    <a:pt x="1022603" y="168402"/>
                  </a:moveTo>
                  <a:lnTo>
                    <a:pt x="1009116" y="95658"/>
                  </a:lnTo>
                  <a:lnTo>
                    <a:pt x="970690" y="28913"/>
                  </a:lnTo>
                  <a:lnTo>
                    <a:pt x="944541" y="0"/>
                  </a:lnTo>
                  <a:lnTo>
                    <a:pt x="78246" y="0"/>
                  </a:lnTo>
                  <a:lnTo>
                    <a:pt x="52047" y="28913"/>
                  </a:lnTo>
                  <a:lnTo>
                    <a:pt x="29856" y="61418"/>
                  </a:lnTo>
                  <a:lnTo>
                    <a:pt x="3446" y="131398"/>
                  </a:lnTo>
                  <a:lnTo>
                    <a:pt x="0" y="168402"/>
                  </a:lnTo>
                  <a:lnTo>
                    <a:pt x="3446" y="205416"/>
                  </a:lnTo>
                  <a:lnTo>
                    <a:pt x="29856" y="275475"/>
                  </a:lnTo>
                  <a:lnTo>
                    <a:pt x="52047" y="308041"/>
                  </a:lnTo>
                  <a:lnTo>
                    <a:pt x="79712" y="338644"/>
                  </a:lnTo>
                  <a:lnTo>
                    <a:pt x="112467" y="367044"/>
                  </a:lnTo>
                  <a:lnTo>
                    <a:pt x="149923" y="393001"/>
                  </a:lnTo>
                  <a:lnTo>
                    <a:pt x="191695" y="416276"/>
                  </a:lnTo>
                  <a:lnTo>
                    <a:pt x="237395" y="436628"/>
                  </a:lnTo>
                  <a:lnTo>
                    <a:pt x="286638" y="453818"/>
                  </a:lnTo>
                  <a:lnTo>
                    <a:pt x="339037" y="467606"/>
                  </a:lnTo>
                  <a:lnTo>
                    <a:pt x="394205" y="477751"/>
                  </a:lnTo>
                  <a:lnTo>
                    <a:pt x="451755" y="484014"/>
                  </a:lnTo>
                  <a:lnTo>
                    <a:pt x="511301" y="486156"/>
                  </a:lnTo>
                  <a:lnTo>
                    <a:pt x="570989" y="484014"/>
                  </a:lnTo>
                  <a:lnTo>
                    <a:pt x="628638" y="477751"/>
                  </a:lnTo>
                  <a:lnTo>
                    <a:pt x="683869" y="467606"/>
                  </a:lnTo>
                  <a:lnTo>
                    <a:pt x="736298" y="453818"/>
                  </a:lnTo>
                  <a:lnTo>
                    <a:pt x="785545" y="436628"/>
                  </a:lnTo>
                  <a:lnTo>
                    <a:pt x="831228" y="416276"/>
                  </a:lnTo>
                  <a:lnTo>
                    <a:pt x="872966" y="393001"/>
                  </a:lnTo>
                  <a:lnTo>
                    <a:pt x="910376" y="367044"/>
                  </a:lnTo>
                  <a:lnTo>
                    <a:pt x="943078" y="338644"/>
                  </a:lnTo>
                  <a:lnTo>
                    <a:pt x="970690" y="308041"/>
                  </a:lnTo>
                  <a:lnTo>
                    <a:pt x="992830" y="275475"/>
                  </a:lnTo>
                  <a:lnTo>
                    <a:pt x="1019168" y="205416"/>
                  </a:lnTo>
                  <a:lnTo>
                    <a:pt x="1022603" y="16840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33010" y="5353049"/>
              <a:ext cx="1047115" cy="499109"/>
            </a:xfrm>
            <a:custGeom>
              <a:avLst/>
              <a:gdLst/>
              <a:ahLst/>
              <a:cxnLst/>
              <a:rect l="l" t="t" r="r" b="b"/>
              <a:pathLst>
                <a:path w="1047114" h="499110">
                  <a:moveTo>
                    <a:pt x="110062" y="0"/>
                  </a:moveTo>
                  <a:lnTo>
                    <a:pt x="73716" y="0"/>
                  </a:lnTo>
                  <a:lnTo>
                    <a:pt x="58371" y="16048"/>
                  </a:lnTo>
                  <a:lnTo>
                    <a:pt x="31566" y="54380"/>
                  </a:lnTo>
                  <a:lnTo>
                    <a:pt x="12146" y="96779"/>
                  </a:lnTo>
                  <a:lnTo>
                    <a:pt x="1524" y="143256"/>
                  </a:lnTo>
                  <a:lnTo>
                    <a:pt x="0" y="160020"/>
                  </a:lnTo>
                  <a:lnTo>
                    <a:pt x="0" y="177546"/>
                  </a:lnTo>
                  <a:lnTo>
                    <a:pt x="762" y="185928"/>
                  </a:lnTo>
                  <a:lnTo>
                    <a:pt x="9144" y="230012"/>
                  </a:lnTo>
                  <a:lnTo>
                    <a:pt x="25040" y="270575"/>
                  </a:lnTo>
                  <a:lnTo>
                    <a:pt x="25040" y="161832"/>
                  </a:lnTo>
                  <a:lnTo>
                    <a:pt x="26670" y="145542"/>
                  </a:lnTo>
                  <a:lnTo>
                    <a:pt x="37671" y="100903"/>
                  </a:lnTo>
                  <a:lnTo>
                    <a:pt x="58072" y="60007"/>
                  </a:lnTo>
                  <a:lnTo>
                    <a:pt x="86201" y="23004"/>
                  </a:lnTo>
                  <a:lnTo>
                    <a:pt x="110062" y="0"/>
                  </a:lnTo>
                  <a:close/>
                </a:path>
                <a:path w="1047114" h="499110">
                  <a:moveTo>
                    <a:pt x="518160" y="473202"/>
                  </a:moveTo>
                  <a:lnTo>
                    <a:pt x="456728" y="471341"/>
                  </a:lnTo>
                  <a:lnTo>
                    <a:pt x="412866" y="466331"/>
                  </a:lnTo>
                  <a:lnTo>
                    <a:pt x="367024" y="458101"/>
                  </a:lnTo>
                  <a:lnTo>
                    <a:pt x="320233" y="446584"/>
                  </a:lnTo>
                  <a:lnTo>
                    <a:pt x="273518" y="431709"/>
                  </a:lnTo>
                  <a:lnTo>
                    <a:pt x="227909" y="413410"/>
                  </a:lnTo>
                  <a:lnTo>
                    <a:pt x="184432" y="391617"/>
                  </a:lnTo>
                  <a:lnTo>
                    <a:pt x="144115" y="366261"/>
                  </a:lnTo>
                  <a:lnTo>
                    <a:pt x="107987" y="337275"/>
                  </a:lnTo>
                  <a:lnTo>
                    <a:pt x="77074" y="304588"/>
                  </a:lnTo>
                  <a:lnTo>
                    <a:pt x="52405" y="268132"/>
                  </a:lnTo>
                  <a:lnTo>
                    <a:pt x="35007" y="227840"/>
                  </a:lnTo>
                  <a:lnTo>
                    <a:pt x="25908" y="183642"/>
                  </a:lnTo>
                  <a:lnTo>
                    <a:pt x="25040" y="174971"/>
                  </a:lnTo>
                  <a:lnTo>
                    <a:pt x="25040" y="270575"/>
                  </a:lnTo>
                  <a:lnTo>
                    <a:pt x="47613" y="307661"/>
                  </a:lnTo>
                  <a:lnTo>
                    <a:pt x="76023" y="341312"/>
                  </a:lnTo>
                  <a:lnTo>
                    <a:pt x="109433" y="371571"/>
                  </a:lnTo>
                  <a:lnTo>
                    <a:pt x="147004" y="398482"/>
                  </a:lnTo>
                  <a:lnTo>
                    <a:pt x="187899" y="422086"/>
                  </a:lnTo>
                  <a:lnTo>
                    <a:pt x="231280" y="442426"/>
                  </a:lnTo>
                  <a:lnTo>
                    <a:pt x="276307" y="459547"/>
                  </a:lnTo>
                  <a:lnTo>
                    <a:pt x="322144" y="473490"/>
                  </a:lnTo>
                  <a:lnTo>
                    <a:pt x="367953" y="484299"/>
                  </a:lnTo>
                  <a:lnTo>
                    <a:pt x="412866" y="492011"/>
                  </a:lnTo>
                  <a:lnTo>
                    <a:pt x="456130" y="496685"/>
                  </a:lnTo>
                  <a:lnTo>
                    <a:pt x="496824" y="498348"/>
                  </a:lnTo>
                  <a:lnTo>
                    <a:pt x="509777" y="498718"/>
                  </a:lnTo>
                  <a:lnTo>
                    <a:pt x="509777" y="486156"/>
                  </a:lnTo>
                  <a:lnTo>
                    <a:pt x="512063" y="481584"/>
                  </a:lnTo>
                  <a:lnTo>
                    <a:pt x="513588" y="476250"/>
                  </a:lnTo>
                  <a:lnTo>
                    <a:pt x="518160" y="473202"/>
                  </a:lnTo>
                  <a:close/>
                </a:path>
                <a:path w="1047114" h="499110">
                  <a:moveTo>
                    <a:pt x="523493" y="473202"/>
                  </a:moveTo>
                  <a:lnTo>
                    <a:pt x="518160" y="473202"/>
                  </a:lnTo>
                  <a:lnTo>
                    <a:pt x="513588" y="476250"/>
                  </a:lnTo>
                  <a:lnTo>
                    <a:pt x="512063" y="481584"/>
                  </a:lnTo>
                  <a:lnTo>
                    <a:pt x="509777" y="486156"/>
                  </a:lnTo>
                  <a:lnTo>
                    <a:pt x="511301" y="491490"/>
                  </a:lnTo>
                  <a:lnTo>
                    <a:pt x="514350" y="495300"/>
                  </a:lnTo>
                  <a:lnTo>
                    <a:pt x="523493" y="473202"/>
                  </a:lnTo>
                  <a:close/>
                </a:path>
                <a:path w="1047114" h="499110">
                  <a:moveTo>
                    <a:pt x="1020794" y="270837"/>
                  </a:moveTo>
                  <a:lnTo>
                    <a:pt x="1020794" y="146321"/>
                  </a:lnTo>
                  <a:lnTo>
                    <a:pt x="1020649" y="190413"/>
                  </a:lnTo>
                  <a:lnTo>
                    <a:pt x="1009650" y="236220"/>
                  </a:lnTo>
                  <a:lnTo>
                    <a:pt x="1006601" y="243078"/>
                  </a:lnTo>
                  <a:lnTo>
                    <a:pt x="1003553" y="250698"/>
                  </a:lnTo>
                  <a:lnTo>
                    <a:pt x="979813" y="290776"/>
                  </a:lnTo>
                  <a:lnTo>
                    <a:pt x="949632" y="326423"/>
                  </a:lnTo>
                  <a:lnTo>
                    <a:pt x="914039" y="357790"/>
                  </a:lnTo>
                  <a:lnTo>
                    <a:pt x="874061" y="385027"/>
                  </a:lnTo>
                  <a:lnTo>
                    <a:pt x="830727" y="408284"/>
                  </a:lnTo>
                  <a:lnTo>
                    <a:pt x="785065" y="427713"/>
                  </a:lnTo>
                  <a:lnTo>
                    <a:pt x="738102" y="443463"/>
                  </a:lnTo>
                  <a:lnTo>
                    <a:pt x="690868" y="455686"/>
                  </a:lnTo>
                  <a:lnTo>
                    <a:pt x="644389" y="464533"/>
                  </a:lnTo>
                  <a:lnTo>
                    <a:pt x="599693" y="470154"/>
                  </a:lnTo>
                  <a:lnTo>
                    <a:pt x="550163" y="473155"/>
                  </a:lnTo>
                  <a:lnTo>
                    <a:pt x="523493" y="473202"/>
                  </a:lnTo>
                  <a:lnTo>
                    <a:pt x="514350" y="495300"/>
                  </a:lnTo>
                  <a:lnTo>
                    <a:pt x="511301" y="491490"/>
                  </a:lnTo>
                  <a:lnTo>
                    <a:pt x="509777" y="486156"/>
                  </a:lnTo>
                  <a:lnTo>
                    <a:pt x="509777" y="498718"/>
                  </a:lnTo>
                  <a:lnTo>
                    <a:pt x="523493" y="499110"/>
                  </a:lnTo>
                  <a:lnTo>
                    <a:pt x="532638" y="477012"/>
                  </a:lnTo>
                  <a:lnTo>
                    <a:pt x="536448" y="480822"/>
                  </a:lnTo>
                  <a:lnTo>
                    <a:pt x="537210" y="486156"/>
                  </a:lnTo>
                  <a:lnTo>
                    <a:pt x="537210" y="498718"/>
                  </a:lnTo>
                  <a:lnTo>
                    <a:pt x="549401" y="498369"/>
                  </a:lnTo>
                  <a:lnTo>
                    <a:pt x="602741" y="495300"/>
                  </a:lnTo>
                  <a:lnTo>
                    <a:pt x="646315" y="489952"/>
                  </a:lnTo>
                  <a:lnTo>
                    <a:pt x="690868" y="481715"/>
                  </a:lnTo>
                  <a:lnTo>
                    <a:pt x="691514" y="481596"/>
                  </a:lnTo>
                  <a:lnTo>
                    <a:pt x="737484" y="470121"/>
                  </a:lnTo>
                  <a:lnTo>
                    <a:pt x="783367" y="455419"/>
                  </a:lnTo>
                  <a:lnTo>
                    <a:pt x="828308" y="437381"/>
                  </a:lnTo>
                  <a:lnTo>
                    <a:pt x="871451" y="415897"/>
                  </a:lnTo>
                  <a:lnTo>
                    <a:pt x="911940" y="390860"/>
                  </a:lnTo>
                  <a:lnTo>
                    <a:pt x="948917" y="362158"/>
                  </a:lnTo>
                  <a:lnTo>
                    <a:pt x="981528" y="329685"/>
                  </a:lnTo>
                  <a:lnTo>
                    <a:pt x="1008915" y="293329"/>
                  </a:lnTo>
                  <a:lnTo>
                    <a:pt x="1020794" y="270837"/>
                  </a:lnTo>
                  <a:close/>
                </a:path>
                <a:path w="1047114" h="499110">
                  <a:moveTo>
                    <a:pt x="537210" y="486156"/>
                  </a:moveTo>
                  <a:lnTo>
                    <a:pt x="536448" y="480822"/>
                  </a:lnTo>
                  <a:lnTo>
                    <a:pt x="532638" y="477012"/>
                  </a:lnTo>
                  <a:lnTo>
                    <a:pt x="523493" y="499110"/>
                  </a:lnTo>
                  <a:lnTo>
                    <a:pt x="526350" y="499028"/>
                  </a:lnTo>
                  <a:lnTo>
                    <a:pt x="529066" y="498950"/>
                  </a:lnTo>
                  <a:lnTo>
                    <a:pt x="533400" y="496062"/>
                  </a:lnTo>
                  <a:lnTo>
                    <a:pt x="534924" y="490728"/>
                  </a:lnTo>
                  <a:lnTo>
                    <a:pt x="537210" y="486156"/>
                  </a:lnTo>
                  <a:close/>
                </a:path>
                <a:path w="1047114" h="499110">
                  <a:moveTo>
                    <a:pt x="529066" y="498950"/>
                  </a:moveTo>
                  <a:lnTo>
                    <a:pt x="526350" y="499028"/>
                  </a:lnTo>
                  <a:lnTo>
                    <a:pt x="528827" y="499110"/>
                  </a:lnTo>
                  <a:lnTo>
                    <a:pt x="529066" y="498950"/>
                  </a:lnTo>
                  <a:close/>
                </a:path>
                <a:path w="1047114" h="499110">
                  <a:moveTo>
                    <a:pt x="537210" y="498718"/>
                  </a:moveTo>
                  <a:lnTo>
                    <a:pt x="537210" y="486156"/>
                  </a:lnTo>
                  <a:lnTo>
                    <a:pt x="534924" y="490728"/>
                  </a:lnTo>
                  <a:lnTo>
                    <a:pt x="533400" y="496062"/>
                  </a:lnTo>
                  <a:lnTo>
                    <a:pt x="529066" y="498950"/>
                  </a:lnTo>
                  <a:lnTo>
                    <a:pt x="533400" y="498826"/>
                  </a:lnTo>
                  <a:lnTo>
                    <a:pt x="537210" y="498718"/>
                  </a:lnTo>
                  <a:close/>
                </a:path>
                <a:path w="1047114" h="499110">
                  <a:moveTo>
                    <a:pt x="1047045" y="183489"/>
                  </a:moveTo>
                  <a:lnTo>
                    <a:pt x="1044178" y="131579"/>
                  </a:lnTo>
                  <a:lnTo>
                    <a:pt x="1029244" y="81878"/>
                  </a:lnTo>
                  <a:lnTo>
                    <a:pt x="1003764" y="35777"/>
                  </a:lnTo>
                  <a:lnTo>
                    <a:pt x="973740" y="0"/>
                  </a:lnTo>
                  <a:lnTo>
                    <a:pt x="937926" y="0"/>
                  </a:lnTo>
                  <a:lnTo>
                    <a:pt x="938784" y="762"/>
                  </a:lnTo>
                  <a:lnTo>
                    <a:pt x="951738" y="12954"/>
                  </a:lnTo>
                  <a:lnTo>
                    <a:pt x="963930" y="25908"/>
                  </a:lnTo>
                  <a:lnTo>
                    <a:pt x="991652" y="63911"/>
                  </a:lnTo>
                  <a:lnTo>
                    <a:pt x="1010867" y="104102"/>
                  </a:lnTo>
                  <a:lnTo>
                    <a:pt x="1020794" y="146321"/>
                  </a:lnTo>
                  <a:lnTo>
                    <a:pt x="1020794" y="270837"/>
                  </a:lnTo>
                  <a:lnTo>
                    <a:pt x="1030224" y="252984"/>
                  </a:lnTo>
                  <a:lnTo>
                    <a:pt x="1034034" y="244602"/>
                  </a:lnTo>
                  <a:lnTo>
                    <a:pt x="1036319" y="236220"/>
                  </a:lnTo>
                  <a:lnTo>
                    <a:pt x="1047045" y="1834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771912" y="4689887"/>
            <a:ext cx="530599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18" dirty="0">
                <a:latin typeface="Times New Roman"/>
                <a:cs typeface="Times New Roman"/>
              </a:rPr>
              <a:t>coke</a:t>
            </a:r>
            <a:endParaRPr sz="2118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73052" y="4723279"/>
            <a:ext cx="1009650" cy="448795"/>
            <a:chOff x="6957059" y="5353050"/>
            <a:chExt cx="1144270" cy="508634"/>
          </a:xfrm>
        </p:grpSpPr>
        <p:sp>
          <p:nvSpPr>
            <p:cNvPr id="21" name="object 21"/>
            <p:cNvSpPr/>
            <p:nvPr/>
          </p:nvSpPr>
          <p:spPr>
            <a:xfrm>
              <a:off x="6969251" y="5353050"/>
              <a:ext cx="1119505" cy="495300"/>
            </a:xfrm>
            <a:custGeom>
              <a:avLst/>
              <a:gdLst/>
              <a:ahLst/>
              <a:cxnLst/>
              <a:rect l="l" t="t" r="r" b="b"/>
              <a:pathLst>
                <a:path w="1119504" h="495300">
                  <a:moveTo>
                    <a:pt x="1119377" y="178307"/>
                  </a:moveTo>
                  <a:lnTo>
                    <a:pt x="1106464" y="110211"/>
                  </a:lnTo>
                  <a:lnTo>
                    <a:pt x="1069551" y="47170"/>
                  </a:lnTo>
                  <a:lnTo>
                    <a:pt x="1042952" y="18033"/>
                  </a:lnTo>
                  <a:lnTo>
                    <a:pt x="1022087" y="0"/>
                  </a:lnTo>
                  <a:lnTo>
                    <a:pt x="97332" y="0"/>
                  </a:lnTo>
                  <a:lnTo>
                    <a:pt x="49840" y="47170"/>
                  </a:lnTo>
                  <a:lnTo>
                    <a:pt x="12915" y="110211"/>
                  </a:lnTo>
                  <a:lnTo>
                    <a:pt x="0" y="178307"/>
                  </a:lnTo>
                  <a:lnTo>
                    <a:pt x="3285" y="212880"/>
                  </a:lnTo>
                  <a:lnTo>
                    <a:pt x="28547" y="278575"/>
                  </a:lnTo>
                  <a:lnTo>
                    <a:pt x="76453" y="338384"/>
                  </a:lnTo>
                  <a:lnTo>
                    <a:pt x="108045" y="365601"/>
                  </a:lnTo>
                  <a:lnTo>
                    <a:pt x="144274" y="390770"/>
                  </a:lnTo>
                  <a:lnTo>
                    <a:pt x="184798" y="413698"/>
                  </a:lnTo>
                  <a:lnTo>
                    <a:pt x="229276" y="434193"/>
                  </a:lnTo>
                  <a:lnTo>
                    <a:pt x="277368" y="452063"/>
                  </a:lnTo>
                  <a:lnTo>
                    <a:pt x="328730" y="467115"/>
                  </a:lnTo>
                  <a:lnTo>
                    <a:pt x="383023" y="479157"/>
                  </a:lnTo>
                  <a:lnTo>
                    <a:pt x="439905" y="487997"/>
                  </a:lnTo>
                  <a:lnTo>
                    <a:pt x="499034" y="493442"/>
                  </a:lnTo>
                  <a:lnTo>
                    <a:pt x="560070" y="495300"/>
                  </a:lnTo>
                  <a:lnTo>
                    <a:pt x="620962" y="493442"/>
                  </a:lnTo>
                  <a:lnTo>
                    <a:pt x="679968" y="487997"/>
                  </a:lnTo>
                  <a:lnTo>
                    <a:pt x="736744" y="479157"/>
                  </a:lnTo>
                  <a:lnTo>
                    <a:pt x="790947" y="467115"/>
                  </a:lnTo>
                  <a:lnTo>
                    <a:pt x="842235" y="452063"/>
                  </a:lnTo>
                  <a:lnTo>
                    <a:pt x="890265" y="434193"/>
                  </a:lnTo>
                  <a:lnTo>
                    <a:pt x="934695" y="413698"/>
                  </a:lnTo>
                  <a:lnTo>
                    <a:pt x="975181" y="390770"/>
                  </a:lnTo>
                  <a:lnTo>
                    <a:pt x="1011381" y="365601"/>
                  </a:lnTo>
                  <a:lnTo>
                    <a:pt x="1042952" y="338384"/>
                  </a:lnTo>
                  <a:lnTo>
                    <a:pt x="1069551" y="309311"/>
                  </a:lnTo>
                  <a:lnTo>
                    <a:pt x="1106464" y="246367"/>
                  </a:lnTo>
                  <a:lnTo>
                    <a:pt x="1119377" y="17830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6957059" y="5353050"/>
              <a:ext cx="1144270" cy="508634"/>
            </a:xfrm>
            <a:custGeom>
              <a:avLst/>
              <a:gdLst/>
              <a:ahLst/>
              <a:cxnLst/>
              <a:rect l="l" t="t" r="r" b="b"/>
              <a:pathLst>
                <a:path w="1144270" h="508635">
                  <a:moveTo>
                    <a:pt x="129862" y="0"/>
                  </a:moveTo>
                  <a:lnTo>
                    <a:pt x="90578" y="0"/>
                  </a:lnTo>
                  <a:lnTo>
                    <a:pt x="66513" y="22613"/>
                  </a:lnTo>
                  <a:lnTo>
                    <a:pt x="36268" y="61382"/>
                  </a:lnTo>
                  <a:lnTo>
                    <a:pt x="14029" y="104633"/>
                  </a:lnTo>
                  <a:lnTo>
                    <a:pt x="1524" y="152400"/>
                  </a:lnTo>
                  <a:lnTo>
                    <a:pt x="0" y="169925"/>
                  </a:lnTo>
                  <a:lnTo>
                    <a:pt x="0" y="187451"/>
                  </a:lnTo>
                  <a:lnTo>
                    <a:pt x="761" y="195833"/>
                  </a:lnTo>
                  <a:lnTo>
                    <a:pt x="10025" y="238811"/>
                  </a:lnTo>
                  <a:lnTo>
                    <a:pt x="25146" y="274762"/>
                  </a:lnTo>
                  <a:lnTo>
                    <a:pt x="25146" y="169925"/>
                  </a:lnTo>
                  <a:lnTo>
                    <a:pt x="25907" y="162306"/>
                  </a:lnTo>
                  <a:lnTo>
                    <a:pt x="26603" y="156044"/>
                  </a:lnTo>
                  <a:lnTo>
                    <a:pt x="26603" y="155694"/>
                  </a:lnTo>
                  <a:lnTo>
                    <a:pt x="38478" y="111580"/>
                  </a:lnTo>
                  <a:lnTo>
                    <a:pt x="59783" y="71772"/>
                  </a:lnTo>
                  <a:lnTo>
                    <a:pt x="88789" y="36030"/>
                  </a:lnTo>
                  <a:lnTo>
                    <a:pt x="123701" y="4357"/>
                  </a:lnTo>
                  <a:lnTo>
                    <a:pt x="129862" y="0"/>
                  </a:lnTo>
                  <a:close/>
                </a:path>
                <a:path w="1144270" h="508635">
                  <a:moveTo>
                    <a:pt x="567693" y="483106"/>
                  </a:moveTo>
                  <a:lnTo>
                    <a:pt x="563118" y="482867"/>
                  </a:lnTo>
                  <a:lnTo>
                    <a:pt x="543305" y="482345"/>
                  </a:lnTo>
                  <a:lnTo>
                    <a:pt x="504919" y="481217"/>
                  </a:lnTo>
                  <a:lnTo>
                    <a:pt x="462651" y="477392"/>
                  </a:lnTo>
                  <a:lnTo>
                    <a:pt x="418476" y="470932"/>
                  </a:lnTo>
                  <a:lnTo>
                    <a:pt x="417776" y="470830"/>
                  </a:lnTo>
                  <a:lnTo>
                    <a:pt x="371025" y="461409"/>
                  </a:lnTo>
                  <a:lnTo>
                    <a:pt x="323491" y="449062"/>
                  </a:lnTo>
                  <a:lnTo>
                    <a:pt x="276177" y="433706"/>
                  </a:lnTo>
                  <a:lnTo>
                    <a:pt x="230085" y="415261"/>
                  </a:lnTo>
                  <a:lnTo>
                    <a:pt x="186219" y="393644"/>
                  </a:lnTo>
                  <a:lnTo>
                    <a:pt x="145581" y="368775"/>
                  </a:lnTo>
                  <a:lnTo>
                    <a:pt x="109174" y="340571"/>
                  </a:lnTo>
                  <a:lnTo>
                    <a:pt x="78001" y="308952"/>
                  </a:lnTo>
                  <a:lnTo>
                    <a:pt x="53063" y="273836"/>
                  </a:lnTo>
                  <a:lnTo>
                    <a:pt x="35365" y="235141"/>
                  </a:lnTo>
                  <a:lnTo>
                    <a:pt x="25907" y="192785"/>
                  </a:lnTo>
                  <a:lnTo>
                    <a:pt x="25146" y="185927"/>
                  </a:lnTo>
                  <a:lnTo>
                    <a:pt x="25146" y="274762"/>
                  </a:lnTo>
                  <a:lnTo>
                    <a:pt x="49695" y="314178"/>
                  </a:lnTo>
                  <a:lnTo>
                    <a:pt x="78500" y="346749"/>
                  </a:lnTo>
                  <a:lnTo>
                    <a:pt x="112217" y="376035"/>
                  </a:lnTo>
                  <a:lnTo>
                    <a:pt x="150044" y="402126"/>
                  </a:lnTo>
                  <a:lnTo>
                    <a:pt x="191181" y="425114"/>
                  </a:lnTo>
                  <a:lnTo>
                    <a:pt x="234827" y="445090"/>
                  </a:lnTo>
                  <a:lnTo>
                    <a:pt x="280180" y="462145"/>
                  </a:lnTo>
                  <a:lnTo>
                    <a:pt x="326135" y="476277"/>
                  </a:lnTo>
                  <a:lnTo>
                    <a:pt x="326440" y="476371"/>
                  </a:lnTo>
                  <a:lnTo>
                    <a:pt x="372806" y="487858"/>
                  </a:lnTo>
                  <a:lnTo>
                    <a:pt x="418476" y="496699"/>
                  </a:lnTo>
                  <a:lnTo>
                    <a:pt x="462651" y="502984"/>
                  </a:lnTo>
                  <a:lnTo>
                    <a:pt x="504527" y="506805"/>
                  </a:lnTo>
                  <a:lnTo>
                    <a:pt x="543305" y="508253"/>
                  </a:lnTo>
                  <a:lnTo>
                    <a:pt x="558546" y="508253"/>
                  </a:lnTo>
                  <a:lnTo>
                    <a:pt x="558546" y="493013"/>
                  </a:lnTo>
                  <a:lnTo>
                    <a:pt x="563118" y="485394"/>
                  </a:lnTo>
                  <a:lnTo>
                    <a:pt x="567693" y="483106"/>
                  </a:lnTo>
                  <a:close/>
                </a:path>
                <a:path w="1144270" h="508635">
                  <a:moveTo>
                    <a:pt x="572261" y="483107"/>
                  </a:moveTo>
                  <a:lnTo>
                    <a:pt x="567693" y="483106"/>
                  </a:lnTo>
                  <a:lnTo>
                    <a:pt x="563118" y="485394"/>
                  </a:lnTo>
                  <a:lnTo>
                    <a:pt x="558546" y="493013"/>
                  </a:lnTo>
                  <a:lnTo>
                    <a:pt x="558546" y="497585"/>
                  </a:lnTo>
                  <a:lnTo>
                    <a:pt x="560831" y="501395"/>
                  </a:lnTo>
                  <a:lnTo>
                    <a:pt x="572261" y="483107"/>
                  </a:lnTo>
                  <a:close/>
                </a:path>
                <a:path w="1144270" h="508635">
                  <a:moveTo>
                    <a:pt x="1117760" y="276187"/>
                  </a:moveTo>
                  <a:lnTo>
                    <a:pt x="1117760" y="158137"/>
                  </a:lnTo>
                  <a:lnTo>
                    <a:pt x="1117356" y="201078"/>
                  </a:lnTo>
                  <a:lnTo>
                    <a:pt x="1105661" y="245363"/>
                  </a:lnTo>
                  <a:lnTo>
                    <a:pt x="1074807" y="297280"/>
                  </a:lnTo>
                  <a:lnTo>
                    <a:pt x="1044751" y="330802"/>
                  </a:lnTo>
                  <a:lnTo>
                    <a:pt x="1009570" y="360546"/>
                  </a:lnTo>
                  <a:lnTo>
                    <a:pt x="970203" y="386653"/>
                  </a:lnTo>
                  <a:lnTo>
                    <a:pt x="927586" y="409263"/>
                  </a:lnTo>
                  <a:lnTo>
                    <a:pt x="882655" y="428514"/>
                  </a:lnTo>
                  <a:lnTo>
                    <a:pt x="836648" y="444444"/>
                  </a:lnTo>
                  <a:lnTo>
                    <a:pt x="789599" y="457503"/>
                  </a:lnTo>
                  <a:lnTo>
                    <a:pt x="743347" y="467520"/>
                  </a:lnTo>
                  <a:lnTo>
                    <a:pt x="698529" y="474738"/>
                  </a:lnTo>
                  <a:lnTo>
                    <a:pt x="656081" y="479297"/>
                  </a:lnTo>
                  <a:lnTo>
                    <a:pt x="585216" y="482742"/>
                  </a:lnTo>
                  <a:lnTo>
                    <a:pt x="580644" y="482864"/>
                  </a:lnTo>
                  <a:lnTo>
                    <a:pt x="576072" y="482986"/>
                  </a:lnTo>
                  <a:lnTo>
                    <a:pt x="572261" y="483107"/>
                  </a:lnTo>
                  <a:lnTo>
                    <a:pt x="560831" y="501395"/>
                  </a:lnTo>
                  <a:lnTo>
                    <a:pt x="558546" y="497585"/>
                  </a:lnTo>
                  <a:lnTo>
                    <a:pt x="558546" y="508253"/>
                  </a:lnTo>
                  <a:lnTo>
                    <a:pt x="572261" y="508253"/>
                  </a:lnTo>
                  <a:lnTo>
                    <a:pt x="583692" y="489965"/>
                  </a:lnTo>
                  <a:lnTo>
                    <a:pt x="585216" y="493775"/>
                  </a:lnTo>
                  <a:lnTo>
                    <a:pt x="585216" y="507913"/>
                  </a:lnTo>
                  <a:lnTo>
                    <a:pt x="626628" y="506823"/>
                  </a:lnTo>
                  <a:lnTo>
                    <a:pt x="703586" y="499744"/>
                  </a:lnTo>
                  <a:lnTo>
                    <a:pt x="751427" y="491971"/>
                  </a:lnTo>
                  <a:lnTo>
                    <a:pt x="800832" y="480997"/>
                  </a:lnTo>
                  <a:lnTo>
                    <a:pt x="850744" y="466697"/>
                  </a:lnTo>
                  <a:lnTo>
                    <a:pt x="900105" y="448945"/>
                  </a:lnTo>
                  <a:lnTo>
                    <a:pt x="947857" y="427615"/>
                  </a:lnTo>
                  <a:lnTo>
                    <a:pt x="992944" y="402581"/>
                  </a:lnTo>
                  <a:lnTo>
                    <a:pt x="1034306" y="373718"/>
                  </a:lnTo>
                  <a:lnTo>
                    <a:pt x="1070887" y="340898"/>
                  </a:lnTo>
                  <a:lnTo>
                    <a:pt x="1101629" y="303998"/>
                  </a:lnTo>
                  <a:lnTo>
                    <a:pt x="1117760" y="276187"/>
                  </a:lnTo>
                  <a:close/>
                </a:path>
                <a:path w="1144270" h="508635">
                  <a:moveTo>
                    <a:pt x="585216" y="498347"/>
                  </a:moveTo>
                  <a:lnTo>
                    <a:pt x="585216" y="493775"/>
                  </a:lnTo>
                  <a:lnTo>
                    <a:pt x="583692" y="489965"/>
                  </a:lnTo>
                  <a:lnTo>
                    <a:pt x="572261" y="508253"/>
                  </a:lnTo>
                  <a:lnTo>
                    <a:pt x="576283" y="508148"/>
                  </a:lnTo>
                  <a:lnTo>
                    <a:pt x="580644" y="505968"/>
                  </a:lnTo>
                  <a:lnTo>
                    <a:pt x="585216" y="498347"/>
                  </a:lnTo>
                  <a:close/>
                </a:path>
                <a:path w="1144270" h="508635">
                  <a:moveTo>
                    <a:pt x="585216" y="507913"/>
                  </a:moveTo>
                  <a:lnTo>
                    <a:pt x="585216" y="498347"/>
                  </a:lnTo>
                  <a:lnTo>
                    <a:pt x="580644" y="505968"/>
                  </a:lnTo>
                  <a:lnTo>
                    <a:pt x="576283" y="508148"/>
                  </a:lnTo>
                  <a:lnTo>
                    <a:pt x="580644" y="508033"/>
                  </a:lnTo>
                  <a:lnTo>
                    <a:pt x="585216" y="507913"/>
                  </a:lnTo>
                  <a:close/>
                </a:path>
                <a:path w="1144270" h="508635">
                  <a:moveTo>
                    <a:pt x="1143759" y="196809"/>
                  </a:moveTo>
                  <a:lnTo>
                    <a:pt x="1141907" y="147681"/>
                  </a:lnTo>
                  <a:lnTo>
                    <a:pt x="1128398" y="100352"/>
                  </a:lnTo>
                  <a:lnTo>
                    <a:pt x="1104853" y="56430"/>
                  </a:lnTo>
                  <a:lnTo>
                    <a:pt x="1072896" y="17525"/>
                  </a:lnTo>
                  <a:lnTo>
                    <a:pt x="1054697" y="0"/>
                  </a:lnTo>
                  <a:lnTo>
                    <a:pt x="1014602" y="0"/>
                  </a:lnTo>
                  <a:lnTo>
                    <a:pt x="1027938" y="10667"/>
                  </a:lnTo>
                  <a:lnTo>
                    <a:pt x="1042416" y="22859"/>
                  </a:lnTo>
                  <a:lnTo>
                    <a:pt x="1088487" y="78099"/>
                  </a:lnTo>
                  <a:lnTo>
                    <a:pt x="1107821" y="116993"/>
                  </a:lnTo>
                  <a:lnTo>
                    <a:pt x="1117760" y="158137"/>
                  </a:lnTo>
                  <a:lnTo>
                    <a:pt x="1117760" y="276187"/>
                  </a:lnTo>
                  <a:lnTo>
                    <a:pt x="1125474" y="262889"/>
                  </a:lnTo>
                  <a:lnTo>
                    <a:pt x="1129283" y="254507"/>
                  </a:lnTo>
                  <a:lnTo>
                    <a:pt x="1132331" y="246125"/>
                  </a:lnTo>
                  <a:lnTo>
                    <a:pt x="1143759" y="196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82379" y="4697954"/>
            <a:ext cx="591110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9" dirty="0">
                <a:latin typeface="Times New Roman"/>
                <a:cs typeface="Times New Roman"/>
              </a:rPr>
              <a:t>pepsi</a:t>
            </a:r>
            <a:endParaRPr sz="2118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89278" y="4723280"/>
            <a:ext cx="3081057" cy="649941"/>
            <a:chOff x="4822114" y="5353050"/>
            <a:chExt cx="3491865" cy="736600"/>
          </a:xfrm>
        </p:grpSpPr>
        <p:sp>
          <p:nvSpPr>
            <p:cNvPr id="25" name="object 25"/>
            <p:cNvSpPr/>
            <p:nvPr/>
          </p:nvSpPr>
          <p:spPr>
            <a:xfrm>
              <a:off x="5903214" y="5757672"/>
              <a:ext cx="1243965" cy="332105"/>
            </a:xfrm>
            <a:custGeom>
              <a:avLst/>
              <a:gdLst/>
              <a:ahLst/>
              <a:cxnLst/>
              <a:rect l="l" t="t" r="r" b="b"/>
              <a:pathLst>
                <a:path w="1243965" h="332104">
                  <a:moveTo>
                    <a:pt x="73152" y="62484"/>
                  </a:moveTo>
                  <a:lnTo>
                    <a:pt x="16002" y="0"/>
                  </a:lnTo>
                  <a:lnTo>
                    <a:pt x="0" y="83820"/>
                  </a:lnTo>
                  <a:lnTo>
                    <a:pt x="21336" y="77597"/>
                  </a:lnTo>
                  <a:lnTo>
                    <a:pt x="21336" y="64770"/>
                  </a:lnTo>
                  <a:lnTo>
                    <a:pt x="45720" y="57150"/>
                  </a:lnTo>
                  <a:lnTo>
                    <a:pt x="49332" y="69431"/>
                  </a:lnTo>
                  <a:lnTo>
                    <a:pt x="73152" y="62484"/>
                  </a:lnTo>
                  <a:close/>
                </a:path>
                <a:path w="1243965" h="332104">
                  <a:moveTo>
                    <a:pt x="49332" y="69431"/>
                  </a:moveTo>
                  <a:lnTo>
                    <a:pt x="45720" y="57150"/>
                  </a:lnTo>
                  <a:lnTo>
                    <a:pt x="21336" y="64770"/>
                  </a:lnTo>
                  <a:lnTo>
                    <a:pt x="24810" y="76583"/>
                  </a:lnTo>
                  <a:lnTo>
                    <a:pt x="48006" y="69818"/>
                  </a:lnTo>
                  <a:lnTo>
                    <a:pt x="48006" y="67818"/>
                  </a:lnTo>
                  <a:lnTo>
                    <a:pt x="49122" y="69492"/>
                  </a:lnTo>
                  <a:lnTo>
                    <a:pt x="49332" y="69431"/>
                  </a:lnTo>
                  <a:close/>
                </a:path>
                <a:path w="1243965" h="332104">
                  <a:moveTo>
                    <a:pt x="24810" y="76583"/>
                  </a:moveTo>
                  <a:lnTo>
                    <a:pt x="21336" y="64770"/>
                  </a:lnTo>
                  <a:lnTo>
                    <a:pt x="21336" y="77597"/>
                  </a:lnTo>
                  <a:lnTo>
                    <a:pt x="24810" y="76583"/>
                  </a:lnTo>
                  <a:close/>
                </a:path>
                <a:path w="1243965" h="332104">
                  <a:moveTo>
                    <a:pt x="1243584" y="9906"/>
                  </a:moveTo>
                  <a:lnTo>
                    <a:pt x="1217676" y="9144"/>
                  </a:lnTo>
                  <a:lnTo>
                    <a:pt x="1217676" y="16002"/>
                  </a:lnTo>
                  <a:lnTo>
                    <a:pt x="1216914" y="22860"/>
                  </a:lnTo>
                  <a:lnTo>
                    <a:pt x="1204362" y="63197"/>
                  </a:lnTo>
                  <a:lnTo>
                    <a:pt x="1180965" y="100669"/>
                  </a:lnTo>
                  <a:lnTo>
                    <a:pt x="1148583" y="135167"/>
                  </a:lnTo>
                  <a:lnTo>
                    <a:pt x="1109077" y="166584"/>
                  </a:lnTo>
                  <a:lnTo>
                    <a:pt x="1064310" y="194810"/>
                  </a:lnTo>
                  <a:lnTo>
                    <a:pt x="1016141" y="219736"/>
                  </a:lnTo>
                  <a:lnTo>
                    <a:pt x="966434" y="241255"/>
                  </a:lnTo>
                  <a:lnTo>
                    <a:pt x="917047" y="259258"/>
                  </a:lnTo>
                  <a:lnTo>
                    <a:pt x="869844" y="273636"/>
                  </a:lnTo>
                  <a:lnTo>
                    <a:pt x="826685" y="284281"/>
                  </a:lnTo>
                  <a:lnTo>
                    <a:pt x="762762" y="295656"/>
                  </a:lnTo>
                  <a:lnTo>
                    <a:pt x="691213" y="304177"/>
                  </a:lnTo>
                  <a:lnTo>
                    <a:pt x="645036" y="306246"/>
                  </a:lnTo>
                  <a:lnTo>
                    <a:pt x="604555" y="305746"/>
                  </a:lnTo>
                  <a:lnTo>
                    <a:pt x="546577" y="302358"/>
                  </a:lnTo>
                  <a:lnTo>
                    <a:pt x="495474" y="296353"/>
                  </a:lnTo>
                  <a:lnTo>
                    <a:pt x="443910" y="287606"/>
                  </a:lnTo>
                  <a:lnTo>
                    <a:pt x="392474" y="276095"/>
                  </a:lnTo>
                  <a:lnTo>
                    <a:pt x="341756" y="261795"/>
                  </a:lnTo>
                  <a:lnTo>
                    <a:pt x="292345" y="244680"/>
                  </a:lnTo>
                  <a:lnTo>
                    <a:pt x="244833" y="224727"/>
                  </a:lnTo>
                  <a:lnTo>
                    <a:pt x="199808" y="201912"/>
                  </a:lnTo>
                  <a:lnTo>
                    <a:pt x="157862" y="176209"/>
                  </a:lnTo>
                  <a:lnTo>
                    <a:pt x="119582" y="147595"/>
                  </a:lnTo>
                  <a:lnTo>
                    <a:pt x="85561" y="116044"/>
                  </a:lnTo>
                  <a:lnTo>
                    <a:pt x="56388" y="81534"/>
                  </a:lnTo>
                  <a:lnTo>
                    <a:pt x="48962" y="69539"/>
                  </a:lnTo>
                  <a:lnTo>
                    <a:pt x="25146" y="76485"/>
                  </a:lnTo>
                  <a:lnTo>
                    <a:pt x="24810" y="76583"/>
                  </a:lnTo>
                  <a:lnTo>
                    <a:pt x="25146" y="77724"/>
                  </a:lnTo>
                  <a:lnTo>
                    <a:pt x="25146" y="78486"/>
                  </a:lnTo>
                  <a:lnTo>
                    <a:pt x="25908" y="79248"/>
                  </a:lnTo>
                  <a:lnTo>
                    <a:pt x="30480" y="88392"/>
                  </a:lnTo>
                  <a:lnTo>
                    <a:pt x="35814" y="96012"/>
                  </a:lnTo>
                  <a:lnTo>
                    <a:pt x="63869" y="129956"/>
                  </a:lnTo>
                  <a:lnTo>
                    <a:pt x="96379" y="161202"/>
                  </a:lnTo>
                  <a:lnTo>
                    <a:pt x="132843" y="189766"/>
                  </a:lnTo>
                  <a:lnTo>
                    <a:pt x="172759" y="215664"/>
                  </a:lnTo>
                  <a:lnTo>
                    <a:pt x="215624" y="238913"/>
                  </a:lnTo>
                  <a:lnTo>
                    <a:pt x="260939" y="259531"/>
                  </a:lnTo>
                  <a:lnTo>
                    <a:pt x="308200" y="277533"/>
                  </a:lnTo>
                  <a:lnTo>
                    <a:pt x="356906" y="292936"/>
                  </a:lnTo>
                  <a:lnTo>
                    <a:pt x="406556" y="305757"/>
                  </a:lnTo>
                  <a:lnTo>
                    <a:pt x="456647" y="316013"/>
                  </a:lnTo>
                  <a:lnTo>
                    <a:pt x="506678" y="323721"/>
                  </a:lnTo>
                  <a:lnTo>
                    <a:pt x="556148" y="328896"/>
                  </a:lnTo>
                  <a:lnTo>
                    <a:pt x="604555" y="331556"/>
                  </a:lnTo>
                  <a:lnTo>
                    <a:pt x="645036" y="331696"/>
                  </a:lnTo>
                  <a:lnTo>
                    <a:pt x="651396" y="331718"/>
                  </a:lnTo>
                  <a:lnTo>
                    <a:pt x="696171" y="329397"/>
                  </a:lnTo>
                  <a:lnTo>
                    <a:pt x="738378" y="324612"/>
                  </a:lnTo>
                  <a:lnTo>
                    <a:pt x="794766" y="316230"/>
                  </a:lnTo>
                  <a:lnTo>
                    <a:pt x="873001" y="299141"/>
                  </a:lnTo>
                  <a:lnTo>
                    <a:pt x="918208" y="285592"/>
                  </a:lnTo>
                  <a:lnTo>
                    <a:pt x="965507" y="268794"/>
                  </a:lnTo>
                  <a:lnTo>
                    <a:pt x="1013421" y="248809"/>
                  </a:lnTo>
                  <a:lnTo>
                    <a:pt x="1060475" y="225704"/>
                  </a:lnTo>
                  <a:lnTo>
                    <a:pt x="1105192" y="199542"/>
                  </a:lnTo>
                  <a:lnTo>
                    <a:pt x="1146095" y="170388"/>
                  </a:lnTo>
                  <a:lnTo>
                    <a:pt x="1181710" y="138307"/>
                  </a:lnTo>
                  <a:lnTo>
                    <a:pt x="1210560" y="103363"/>
                  </a:lnTo>
                  <a:lnTo>
                    <a:pt x="1231168" y="65621"/>
                  </a:lnTo>
                  <a:lnTo>
                    <a:pt x="1242060" y="25146"/>
                  </a:lnTo>
                  <a:lnTo>
                    <a:pt x="1242822" y="16764"/>
                  </a:lnTo>
                  <a:lnTo>
                    <a:pt x="1243584" y="9906"/>
                  </a:lnTo>
                  <a:close/>
                </a:path>
                <a:path w="1243965" h="332104">
                  <a:moveTo>
                    <a:pt x="49122" y="69492"/>
                  </a:moveTo>
                  <a:lnTo>
                    <a:pt x="48006" y="67818"/>
                  </a:lnTo>
                  <a:lnTo>
                    <a:pt x="48962" y="69539"/>
                  </a:lnTo>
                  <a:lnTo>
                    <a:pt x="49122" y="69492"/>
                  </a:lnTo>
                  <a:close/>
                </a:path>
                <a:path w="1243965" h="332104">
                  <a:moveTo>
                    <a:pt x="48962" y="69539"/>
                  </a:moveTo>
                  <a:lnTo>
                    <a:pt x="48006" y="67818"/>
                  </a:lnTo>
                  <a:lnTo>
                    <a:pt x="48006" y="69818"/>
                  </a:lnTo>
                  <a:lnTo>
                    <a:pt x="48962" y="69539"/>
                  </a:lnTo>
                  <a:close/>
                </a:path>
                <a:path w="1243965" h="332104">
                  <a:moveTo>
                    <a:pt x="49530" y="70104"/>
                  </a:moveTo>
                  <a:lnTo>
                    <a:pt x="49332" y="69431"/>
                  </a:lnTo>
                  <a:lnTo>
                    <a:pt x="49122" y="69492"/>
                  </a:lnTo>
                  <a:lnTo>
                    <a:pt x="49530" y="70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1584" y="5353050"/>
              <a:ext cx="212210" cy="1943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2114" y="5353050"/>
              <a:ext cx="210133" cy="18592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740773" y="5349462"/>
            <a:ext cx="27454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22" dirty="0">
                <a:latin typeface="Times New Roman"/>
                <a:cs typeface="Times New Roman"/>
              </a:rPr>
              <a:t>0.2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391098" y="4722607"/>
            <a:ext cx="2456890" cy="863973"/>
          </a:xfrm>
          <a:custGeom>
            <a:avLst/>
            <a:gdLst/>
            <a:ahLst/>
            <a:cxnLst/>
            <a:rect l="l" t="t" r="r" b="b"/>
            <a:pathLst>
              <a:path w="2784475" h="979170">
                <a:moveTo>
                  <a:pt x="2784348" y="979169"/>
                </a:moveTo>
                <a:lnTo>
                  <a:pt x="2784347" y="0"/>
                </a:lnTo>
                <a:lnTo>
                  <a:pt x="0" y="0"/>
                </a:lnTo>
                <a:lnTo>
                  <a:pt x="0" y="979169"/>
                </a:lnTo>
                <a:lnTo>
                  <a:pt x="2784348" y="979169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 txBox="1"/>
          <p:nvPr/>
        </p:nvSpPr>
        <p:spPr>
          <a:xfrm>
            <a:off x="2069054" y="4992017"/>
            <a:ext cx="1750919" cy="59697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44826">
              <a:lnSpc>
                <a:spcPts val="2224"/>
              </a:lnSpc>
              <a:spcBef>
                <a:spcPts val="93"/>
              </a:spcBef>
              <a:tabLst>
                <a:tab pos="1051728" algn="l"/>
              </a:tabLst>
            </a:pPr>
            <a:r>
              <a:rPr sz="4633" spc="-26" baseline="26190" dirty="0">
                <a:latin typeface="Symbol"/>
                <a:cs typeface="Symbol"/>
              </a:rPr>
              <a:t></a:t>
            </a:r>
            <a:r>
              <a:rPr sz="3088" spc="-18" dirty="0">
                <a:latin typeface="Times New Roman"/>
                <a:cs typeface="Times New Roman"/>
              </a:rPr>
              <a:t>0.2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18" dirty="0">
                <a:latin typeface="Times New Roman"/>
                <a:cs typeface="Times New Roman"/>
              </a:rPr>
              <a:t>0.8</a:t>
            </a:r>
            <a:r>
              <a:rPr sz="4633" spc="-26" baseline="26190" dirty="0">
                <a:latin typeface="Symbol"/>
                <a:cs typeface="Symbol"/>
              </a:rPr>
              <a:t></a:t>
            </a:r>
            <a:endParaRPr sz="4633" baseline="26190">
              <a:latin typeface="Symbol"/>
              <a:cs typeface="Symbol"/>
            </a:endParaRPr>
          </a:p>
          <a:p>
            <a:pPr marL="44826">
              <a:lnSpc>
                <a:spcPts val="2224"/>
              </a:lnSpc>
              <a:tabLst>
                <a:tab pos="1543131" algn="l"/>
              </a:tabLst>
            </a:pPr>
            <a:r>
              <a:rPr sz="3088" spc="-44" dirty="0">
                <a:latin typeface="Symbol"/>
                <a:cs typeface="Symbol"/>
              </a:rPr>
              <a:t>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44" dirty="0">
                <a:latin typeface="Symbol"/>
                <a:cs typeface="Symbol"/>
              </a:rPr>
              <a:t></a:t>
            </a:r>
            <a:endParaRPr sz="3088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9789" y="3972794"/>
            <a:ext cx="2808754" cy="920180"/>
          </a:xfrm>
          <a:prstGeom prst="rect">
            <a:avLst/>
          </a:prstGeom>
        </p:spPr>
        <p:txBody>
          <a:bodyPr vert="horz" wrap="square" lIns="0" tIns="54348" rIns="0" bIns="0" rtlCol="0">
            <a:spAutoFit/>
          </a:bodyPr>
          <a:lstStyle/>
          <a:p>
            <a:pPr marL="33619">
              <a:spcBef>
                <a:spcPts val="427"/>
              </a:spcBef>
            </a:pPr>
            <a:r>
              <a:rPr sz="2118" dirty="0">
                <a:solidFill>
                  <a:srgbClr val="9A3300"/>
                </a:solidFill>
                <a:latin typeface="Comic Sans MS"/>
                <a:cs typeface="Comic Sans MS"/>
              </a:rPr>
              <a:t>transition</a:t>
            </a:r>
            <a:r>
              <a:rPr sz="2118" spc="-44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spc="-9" dirty="0">
                <a:solidFill>
                  <a:srgbClr val="9A3300"/>
                </a:solidFill>
                <a:latin typeface="Comic Sans MS"/>
                <a:cs typeface="Comic Sans MS"/>
              </a:rPr>
              <a:t>matrix:</a:t>
            </a:r>
            <a:endParaRPr sz="2118">
              <a:latin typeface="Comic Sans MS"/>
              <a:cs typeface="Comic Sans MS"/>
            </a:endParaRPr>
          </a:p>
          <a:p>
            <a:pPr marL="418001" algn="ctr">
              <a:spcBef>
                <a:spcPts val="507"/>
              </a:spcBef>
              <a:tabLst>
                <a:tab pos="2088328" algn="l"/>
              </a:tabLst>
            </a:pPr>
            <a:r>
              <a:rPr sz="4633" i="1" baseline="-40476" dirty="0">
                <a:latin typeface="Times New Roman"/>
                <a:cs typeface="Times New Roman"/>
              </a:rPr>
              <a:t>P</a:t>
            </a:r>
            <a:r>
              <a:rPr sz="4633" i="1" spc="-26" baseline="-40476" dirty="0">
                <a:latin typeface="Times New Roman"/>
                <a:cs typeface="Times New Roman"/>
              </a:rPr>
              <a:t> </a:t>
            </a:r>
            <a:r>
              <a:rPr sz="4633" baseline="-40476" dirty="0">
                <a:latin typeface="Symbol"/>
                <a:cs typeface="Symbol"/>
              </a:rPr>
              <a:t></a:t>
            </a:r>
            <a:r>
              <a:rPr sz="4633" spc="-6" baseline="-40476" dirty="0">
                <a:latin typeface="Times New Roman"/>
                <a:cs typeface="Times New Roman"/>
              </a:rPr>
              <a:t> </a:t>
            </a:r>
            <a:r>
              <a:rPr sz="4633" spc="-26" baseline="-3968" dirty="0">
                <a:latin typeface="Symbol"/>
                <a:cs typeface="Symbol"/>
              </a:rPr>
              <a:t></a:t>
            </a:r>
            <a:r>
              <a:rPr sz="3088" spc="-18" dirty="0">
                <a:latin typeface="Times New Roman"/>
                <a:cs typeface="Times New Roman"/>
              </a:rPr>
              <a:t>0.9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18" dirty="0">
                <a:latin typeface="Times New Roman"/>
                <a:cs typeface="Times New Roman"/>
              </a:rPr>
              <a:t>0.1</a:t>
            </a:r>
            <a:r>
              <a:rPr sz="4633" spc="-26" baseline="-3968" dirty="0">
                <a:latin typeface="Symbol"/>
                <a:cs typeface="Symbol"/>
              </a:rPr>
              <a:t></a:t>
            </a:r>
            <a:endParaRPr sz="4633" baseline="-3968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  <p:transition spd="med">
    <p:split orient="vert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26393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6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08753" y="1151293"/>
            <a:ext cx="6805331" cy="289198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Coke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vs.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Pepsi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Example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(cont)</a:t>
            </a:r>
            <a:endParaRPr sz="2118">
              <a:latin typeface="Arial MT"/>
              <a:cs typeface="Arial MT"/>
            </a:endParaRPr>
          </a:p>
          <a:p>
            <a:pPr marL="50429" marR="4483">
              <a:spcBef>
                <a:spcPts val="1769"/>
              </a:spcBef>
            </a:pPr>
            <a:r>
              <a:rPr sz="2118" dirty="0">
                <a:latin typeface="Comic Sans MS"/>
                <a:cs typeface="Comic Sans MS"/>
              </a:rPr>
              <a:t>Given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person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currently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2118" spc="-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118" spc="-9" dirty="0">
                <a:latin typeface="Comic Sans MS"/>
                <a:cs typeface="Comic Sans MS"/>
              </a:rPr>
              <a:t>purchaser, </a:t>
            </a:r>
            <a:r>
              <a:rPr sz="2118" dirty="0">
                <a:latin typeface="Comic Sans MS"/>
                <a:cs typeface="Comic Sans MS"/>
              </a:rPr>
              <a:t>what</a:t>
            </a:r>
            <a:r>
              <a:rPr sz="2118" spc="-49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the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probability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he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will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53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2118" spc="-31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2118" spc="-22" dirty="0">
                <a:latin typeface="Comic Sans MS"/>
                <a:cs typeface="Comic Sans MS"/>
              </a:rPr>
              <a:t>two </a:t>
            </a:r>
            <a:r>
              <a:rPr sz="2118" dirty="0">
                <a:latin typeface="Comic Sans MS"/>
                <a:cs typeface="Comic Sans MS"/>
              </a:rPr>
              <a:t>purchases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from </a:t>
            </a:r>
            <a:r>
              <a:rPr sz="2118" spc="-18" dirty="0">
                <a:latin typeface="Comic Sans MS"/>
                <a:cs typeface="Comic Sans MS"/>
              </a:rPr>
              <a:t>now?</a:t>
            </a:r>
            <a:endParaRPr sz="2118">
              <a:latin typeface="Comic Sans MS"/>
              <a:cs typeface="Comic Sans MS"/>
            </a:endParaRPr>
          </a:p>
          <a:p>
            <a:pPr marL="50429">
              <a:spcBef>
                <a:spcPts val="1085"/>
              </a:spcBef>
            </a:pPr>
            <a:r>
              <a:rPr sz="1765" dirty="0">
                <a:latin typeface="Times New Roman"/>
                <a:cs typeface="Times New Roman"/>
              </a:rPr>
              <a:t>Pr</a:t>
            </a:r>
            <a:r>
              <a:rPr sz="1765" dirty="0">
                <a:latin typeface="Comic Sans MS"/>
                <a:cs typeface="Comic Sans MS"/>
              </a:rPr>
              <a:t>[</a:t>
            </a:r>
            <a:r>
              <a:rPr sz="1765" spc="-53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latin typeface="Comic Sans MS"/>
                <a:cs typeface="Comic Sans MS"/>
              </a:rPr>
              <a:t>?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spc="-26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]</a:t>
            </a:r>
            <a:r>
              <a:rPr sz="1765" spc="-40" dirty="0">
                <a:latin typeface="Comic Sans MS"/>
                <a:cs typeface="Comic Sans MS"/>
              </a:rPr>
              <a:t> </a:t>
            </a:r>
            <a:r>
              <a:rPr sz="1765" spc="-44" dirty="0">
                <a:latin typeface="Times New Roman"/>
                <a:cs typeface="Times New Roman"/>
              </a:rPr>
              <a:t>=</a:t>
            </a:r>
            <a:endParaRPr sz="1765">
              <a:latin typeface="Times New Roman"/>
              <a:cs typeface="Times New Roman"/>
            </a:endParaRPr>
          </a:p>
          <a:p>
            <a:pPr marL="50429">
              <a:spcBef>
                <a:spcPts val="1059"/>
              </a:spcBef>
            </a:pPr>
            <a:r>
              <a:rPr sz="1765" dirty="0">
                <a:latin typeface="Times New Roman"/>
                <a:cs typeface="Times New Roman"/>
              </a:rPr>
              <a:t>Pr</a:t>
            </a:r>
            <a:r>
              <a:rPr sz="1765" dirty="0">
                <a:latin typeface="Comic Sans MS"/>
                <a:cs typeface="Comic Sans MS"/>
              </a:rPr>
              <a:t>[</a:t>
            </a:r>
            <a:r>
              <a:rPr sz="1765" spc="-40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spc="-9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]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+</a:t>
            </a:r>
            <a:r>
              <a:rPr sz="1765" spc="53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Pr</a:t>
            </a:r>
            <a:r>
              <a:rPr sz="1765" dirty="0">
                <a:latin typeface="Comic Sans MS"/>
                <a:cs typeface="Comic Sans MS"/>
              </a:rPr>
              <a:t>[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spc="75" dirty="0">
                <a:latin typeface="Times New Roman"/>
                <a:cs typeface="Times New Roman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1765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Wingdings"/>
                <a:cs typeface="Wingdings"/>
              </a:rPr>
              <a:t>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spc="-26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]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spc="-44" dirty="0">
                <a:latin typeface="Times New Roman"/>
                <a:cs typeface="Times New Roman"/>
              </a:rPr>
              <a:t>=</a:t>
            </a:r>
            <a:endParaRPr sz="1765">
              <a:latin typeface="Times New Roman"/>
              <a:cs typeface="Times New Roman"/>
            </a:endParaRPr>
          </a:p>
          <a:p>
            <a:pPr marL="890355">
              <a:spcBef>
                <a:spcPts val="1081"/>
              </a:spcBef>
              <a:tabLst>
                <a:tab pos="1618775" algn="l"/>
                <a:tab pos="2627359" algn="l"/>
                <a:tab pos="3649951" algn="l"/>
                <a:tab pos="4154242" algn="l"/>
                <a:tab pos="4547029" algn="l"/>
                <a:tab pos="5499020" algn="l"/>
              </a:tabLst>
            </a:pPr>
            <a:r>
              <a:rPr sz="1765" dirty="0">
                <a:latin typeface="Times New Roman"/>
                <a:cs typeface="Times New Roman"/>
              </a:rPr>
              <a:t>0.2</a:t>
            </a:r>
            <a:r>
              <a:rPr sz="1765" spc="410" dirty="0">
                <a:latin typeface="Times New Roman"/>
                <a:cs typeface="Times New Roman"/>
              </a:rPr>
              <a:t> </a:t>
            </a:r>
            <a:r>
              <a:rPr sz="1765" spc="-44" dirty="0">
                <a:latin typeface="Times New Roman"/>
                <a:cs typeface="Times New Roman"/>
              </a:rPr>
              <a:t>*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22" dirty="0">
                <a:latin typeface="Times New Roman"/>
                <a:cs typeface="Times New Roman"/>
              </a:rPr>
              <a:t>0.9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44" dirty="0">
                <a:latin typeface="Times New Roman"/>
                <a:cs typeface="Times New Roman"/>
              </a:rPr>
              <a:t>+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22" dirty="0">
                <a:latin typeface="Times New Roman"/>
                <a:cs typeface="Times New Roman"/>
              </a:rPr>
              <a:t>0.8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44" dirty="0">
                <a:latin typeface="Times New Roman"/>
                <a:cs typeface="Times New Roman"/>
              </a:rPr>
              <a:t>*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22" dirty="0">
                <a:latin typeface="Times New Roman"/>
                <a:cs typeface="Times New Roman"/>
              </a:rPr>
              <a:t>0.2</a:t>
            </a:r>
            <a:r>
              <a:rPr sz="1765" dirty="0">
                <a:latin typeface="Times New Roman"/>
                <a:cs typeface="Times New Roman"/>
              </a:rPr>
              <a:t>	=</a:t>
            </a:r>
            <a:r>
              <a:rPr sz="1765" spc="-4" dirty="0">
                <a:latin typeface="Times New Roman"/>
                <a:cs typeface="Times New Roman"/>
              </a:rPr>
              <a:t> </a:t>
            </a:r>
            <a:r>
              <a:rPr sz="1765" spc="-18" dirty="0">
                <a:latin typeface="Times New Roman"/>
                <a:cs typeface="Times New Roman"/>
              </a:rPr>
              <a:t>0.34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9970" y="4174640"/>
            <a:ext cx="6782360" cy="549088"/>
          </a:xfrm>
          <a:custGeom>
            <a:avLst/>
            <a:gdLst/>
            <a:ahLst/>
            <a:cxnLst/>
            <a:rect l="l" t="t" r="r" b="b"/>
            <a:pathLst>
              <a:path w="7686675" h="622300">
                <a:moveTo>
                  <a:pt x="7686294" y="621791"/>
                </a:moveTo>
                <a:lnTo>
                  <a:pt x="7686294" y="0"/>
                </a:lnTo>
                <a:lnTo>
                  <a:pt x="0" y="0"/>
                </a:lnTo>
                <a:lnTo>
                  <a:pt x="0" y="621792"/>
                </a:lnTo>
                <a:lnTo>
                  <a:pt x="7686294" y="621791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1438836" y="4207044"/>
            <a:ext cx="2208119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8"/>
              </a:lnSpc>
              <a:tabLst>
                <a:tab pos="1577872" algn="l"/>
              </a:tabLst>
            </a:pPr>
            <a:r>
              <a:rPr sz="2713" baseline="-27100" dirty="0">
                <a:latin typeface="Times New Roman"/>
                <a:cs typeface="Times New Roman"/>
              </a:rPr>
              <a:t>2</a:t>
            </a:r>
            <a:r>
              <a:rPr sz="2713" spc="86" baseline="-27100" dirty="0">
                <a:latin typeface="Times New Roman"/>
                <a:cs typeface="Times New Roman"/>
              </a:rPr>
              <a:t>  </a:t>
            </a:r>
            <a:r>
              <a:rPr sz="4633" baseline="-40476" dirty="0">
                <a:latin typeface="Symbol"/>
                <a:cs typeface="Symbol"/>
              </a:rPr>
              <a:t></a:t>
            </a:r>
            <a:r>
              <a:rPr sz="4633" spc="-19" baseline="-40476" dirty="0">
                <a:latin typeface="Times New Roman"/>
                <a:cs typeface="Times New Roman"/>
              </a:rPr>
              <a:t> </a:t>
            </a:r>
            <a:r>
              <a:rPr sz="4633" spc="-26" baseline="-3968" dirty="0">
                <a:latin typeface="Symbol"/>
                <a:cs typeface="Symbol"/>
              </a:rPr>
              <a:t></a:t>
            </a:r>
            <a:r>
              <a:rPr sz="3088" spc="-18" dirty="0">
                <a:latin typeface="Times New Roman"/>
                <a:cs typeface="Times New Roman"/>
              </a:rPr>
              <a:t>0.9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35" dirty="0">
                <a:latin typeface="Times New Roman"/>
                <a:cs typeface="Times New Roman"/>
              </a:rPr>
              <a:t>0.1</a:t>
            </a:r>
            <a:r>
              <a:rPr sz="4633" spc="-53" baseline="-3968" dirty="0">
                <a:latin typeface="Symbol"/>
                <a:cs typeface="Symbol"/>
              </a:rPr>
              <a:t></a:t>
            </a:r>
            <a:endParaRPr sz="4633" baseline="-3968">
              <a:latin typeface="Symbol"/>
              <a:cs typeface="Symbo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7883" y="4171949"/>
            <a:ext cx="8068235" cy="1415303"/>
            <a:chOff x="457200" y="4728209"/>
            <a:chExt cx="9144000" cy="1604010"/>
          </a:xfrm>
        </p:grpSpPr>
        <p:sp>
          <p:nvSpPr>
            <p:cNvPr id="8" name="object 8"/>
            <p:cNvSpPr/>
            <p:nvPr/>
          </p:nvSpPr>
          <p:spPr>
            <a:xfrm>
              <a:off x="4758689" y="4858511"/>
              <a:ext cx="59055" cy="494665"/>
            </a:xfrm>
            <a:custGeom>
              <a:avLst/>
              <a:gdLst/>
              <a:ahLst/>
              <a:cxnLst/>
              <a:rect l="l" t="t" r="r" b="b"/>
              <a:pathLst>
                <a:path w="59054" h="494664">
                  <a:moveTo>
                    <a:pt x="58829" y="494538"/>
                  </a:moveTo>
                  <a:lnTo>
                    <a:pt x="57912" y="481584"/>
                  </a:lnTo>
                  <a:lnTo>
                    <a:pt x="57912" y="96012"/>
                  </a:lnTo>
                  <a:lnTo>
                    <a:pt x="55543" y="74624"/>
                  </a:lnTo>
                  <a:lnTo>
                    <a:pt x="50906" y="52901"/>
                  </a:lnTo>
                  <a:lnTo>
                    <a:pt x="43104" y="32350"/>
                  </a:lnTo>
                  <a:lnTo>
                    <a:pt x="31241" y="14478"/>
                  </a:lnTo>
                  <a:lnTo>
                    <a:pt x="25908" y="9906"/>
                  </a:lnTo>
                  <a:lnTo>
                    <a:pt x="22098" y="6096"/>
                  </a:lnTo>
                  <a:lnTo>
                    <a:pt x="20574" y="6096"/>
                  </a:lnTo>
                  <a:lnTo>
                    <a:pt x="20574" y="5334"/>
                  </a:lnTo>
                  <a:lnTo>
                    <a:pt x="16001" y="3048"/>
                  </a:lnTo>
                  <a:lnTo>
                    <a:pt x="15239" y="3048"/>
                  </a:lnTo>
                  <a:lnTo>
                    <a:pt x="14477" y="2286"/>
                  </a:lnTo>
                  <a:lnTo>
                    <a:pt x="13715" y="2286"/>
                  </a:lnTo>
                  <a:lnTo>
                    <a:pt x="9144" y="762"/>
                  </a:lnTo>
                  <a:lnTo>
                    <a:pt x="8382" y="762"/>
                  </a:lnTo>
                  <a:lnTo>
                    <a:pt x="7620" y="0"/>
                  </a:lnTo>
                  <a:lnTo>
                    <a:pt x="2286" y="0"/>
                  </a:lnTo>
                  <a:lnTo>
                    <a:pt x="0" y="25146"/>
                  </a:lnTo>
                  <a:lnTo>
                    <a:pt x="4572" y="25146"/>
                  </a:lnTo>
                  <a:lnTo>
                    <a:pt x="4572" y="25527"/>
                  </a:lnTo>
                  <a:lnTo>
                    <a:pt x="8382" y="27432"/>
                  </a:lnTo>
                  <a:lnTo>
                    <a:pt x="8382" y="27889"/>
                  </a:lnTo>
                  <a:lnTo>
                    <a:pt x="10668" y="29718"/>
                  </a:lnTo>
                  <a:lnTo>
                    <a:pt x="28741" y="67841"/>
                  </a:lnTo>
                  <a:lnTo>
                    <a:pt x="32765" y="106680"/>
                  </a:lnTo>
                  <a:lnTo>
                    <a:pt x="32765" y="491490"/>
                  </a:lnTo>
                  <a:lnTo>
                    <a:pt x="33123" y="494538"/>
                  </a:lnTo>
                  <a:lnTo>
                    <a:pt x="58829" y="494538"/>
                  </a:lnTo>
                  <a:close/>
                </a:path>
                <a:path w="59054" h="494664">
                  <a:moveTo>
                    <a:pt x="6096" y="26670"/>
                  </a:moveTo>
                  <a:lnTo>
                    <a:pt x="3810" y="25146"/>
                  </a:lnTo>
                  <a:lnTo>
                    <a:pt x="1524" y="25146"/>
                  </a:lnTo>
                  <a:lnTo>
                    <a:pt x="6096" y="26670"/>
                  </a:lnTo>
                  <a:close/>
                </a:path>
                <a:path w="59054" h="494664">
                  <a:moveTo>
                    <a:pt x="4572" y="25527"/>
                  </a:moveTo>
                  <a:lnTo>
                    <a:pt x="4572" y="25146"/>
                  </a:lnTo>
                  <a:lnTo>
                    <a:pt x="3810" y="25146"/>
                  </a:lnTo>
                  <a:lnTo>
                    <a:pt x="4572" y="25527"/>
                  </a:lnTo>
                  <a:close/>
                </a:path>
                <a:path w="59054" h="494664">
                  <a:moveTo>
                    <a:pt x="8382" y="27889"/>
                  </a:moveTo>
                  <a:lnTo>
                    <a:pt x="8382" y="27432"/>
                  </a:lnTo>
                  <a:lnTo>
                    <a:pt x="6858" y="26670"/>
                  </a:lnTo>
                  <a:lnTo>
                    <a:pt x="8382" y="278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1117854" y="4728209"/>
              <a:ext cx="2849880" cy="624840"/>
            </a:xfrm>
            <a:custGeom>
              <a:avLst/>
              <a:gdLst/>
              <a:ahLst/>
              <a:cxnLst/>
              <a:rect l="l" t="t" r="r" b="b"/>
              <a:pathLst>
                <a:path w="2849879" h="624839">
                  <a:moveTo>
                    <a:pt x="2849879" y="624839"/>
                  </a:moveTo>
                  <a:lnTo>
                    <a:pt x="2849879" y="0"/>
                  </a:lnTo>
                  <a:lnTo>
                    <a:pt x="0" y="0"/>
                  </a:lnTo>
                  <a:lnTo>
                    <a:pt x="0" y="624839"/>
                  </a:lnTo>
                  <a:lnTo>
                    <a:pt x="2849879" y="62483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535228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231" y="5352287"/>
              <a:ext cx="7686675" cy="715645"/>
            </a:xfrm>
            <a:custGeom>
              <a:avLst/>
              <a:gdLst/>
              <a:ahLst/>
              <a:cxnLst/>
              <a:rect l="l" t="t" r="r" b="b"/>
              <a:pathLst>
                <a:path w="7686675" h="715645">
                  <a:moveTo>
                    <a:pt x="7686294" y="715517"/>
                  </a:moveTo>
                  <a:lnTo>
                    <a:pt x="7686294" y="0"/>
                  </a:lnTo>
                  <a:lnTo>
                    <a:pt x="0" y="0"/>
                  </a:lnTo>
                  <a:lnTo>
                    <a:pt x="0" y="715518"/>
                  </a:lnTo>
                  <a:lnTo>
                    <a:pt x="7686294" y="715517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71912" y="4512159"/>
            <a:ext cx="2474819" cy="750677"/>
          </a:xfrm>
          <a:prstGeom prst="rect">
            <a:avLst/>
          </a:prstGeom>
        </p:spPr>
        <p:txBody>
          <a:bodyPr vert="horz" wrap="square" lIns="0" tIns="75079" rIns="0" bIns="0" rtlCol="0">
            <a:spAutoFit/>
          </a:bodyPr>
          <a:lstStyle/>
          <a:p>
            <a:pPr>
              <a:lnSpc>
                <a:spcPts val="2577"/>
              </a:lnSpc>
              <a:spcBef>
                <a:spcPts val="591"/>
              </a:spcBef>
              <a:tabLst>
                <a:tab pos="824796" algn="l"/>
                <a:tab pos="2323664" algn="l"/>
              </a:tabLst>
            </a:pPr>
            <a:r>
              <a:rPr sz="4633" i="1" spc="-66" baseline="16666" dirty="0">
                <a:latin typeface="Times New Roman"/>
                <a:cs typeface="Times New Roman"/>
              </a:rPr>
              <a:t>P</a:t>
            </a:r>
            <a:r>
              <a:rPr sz="4633" i="1" baseline="16666" dirty="0">
                <a:latin typeface="Times New Roman"/>
                <a:cs typeface="Times New Roman"/>
              </a:rPr>
              <a:t>	</a:t>
            </a:r>
            <a:r>
              <a:rPr sz="3088" spc="-44" dirty="0">
                <a:latin typeface="Symbol"/>
                <a:cs typeface="Symbol"/>
              </a:rPr>
              <a:t>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44" dirty="0">
                <a:latin typeface="Symbol"/>
                <a:cs typeface="Symbol"/>
              </a:rPr>
              <a:t></a:t>
            </a:r>
            <a:endParaRPr sz="3088">
              <a:latin typeface="Symbol"/>
              <a:cs typeface="Symbol"/>
            </a:endParaRPr>
          </a:p>
          <a:p>
            <a:pPr marL="824796">
              <a:lnSpc>
                <a:spcPts val="2577"/>
              </a:lnSpc>
              <a:tabLst>
                <a:tab pos="1832259" algn="l"/>
              </a:tabLst>
            </a:pPr>
            <a:r>
              <a:rPr sz="4633" spc="-26" baseline="-13492" dirty="0">
                <a:latin typeface="Symbol"/>
                <a:cs typeface="Symbol"/>
              </a:rPr>
              <a:t></a:t>
            </a:r>
            <a:r>
              <a:rPr sz="3088" spc="-18" dirty="0">
                <a:latin typeface="Times New Roman"/>
                <a:cs typeface="Times New Roman"/>
              </a:rPr>
              <a:t>0.2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18" dirty="0">
                <a:latin typeface="Times New Roman"/>
                <a:cs typeface="Times New Roman"/>
              </a:rPr>
              <a:t>0.8</a:t>
            </a:r>
            <a:r>
              <a:rPr sz="4633" spc="-26" baseline="-13492" dirty="0">
                <a:latin typeface="Symbol"/>
                <a:cs typeface="Symbol"/>
              </a:rPr>
              <a:t></a:t>
            </a:r>
            <a:endParaRPr sz="4633" baseline="-13492">
              <a:latin typeface="Symbol"/>
              <a:cs typeface="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20812" y="4722607"/>
            <a:ext cx="5582210" cy="865094"/>
            <a:chOff x="1117853" y="5352288"/>
            <a:chExt cx="6326505" cy="980440"/>
          </a:xfrm>
        </p:grpSpPr>
        <p:sp>
          <p:nvSpPr>
            <p:cNvPr id="14" name="object 14"/>
            <p:cNvSpPr/>
            <p:nvPr/>
          </p:nvSpPr>
          <p:spPr>
            <a:xfrm>
              <a:off x="6467856" y="5366004"/>
              <a:ext cx="976630" cy="715010"/>
            </a:xfrm>
            <a:custGeom>
              <a:avLst/>
              <a:gdLst/>
              <a:ahLst/>
              <a:cxnLst/>
              <a:rect l="l" t="t" r="r" b="b"/>
              <a:pathLst>
                <a:path w="976629" h="715010">
                  <a:moveTo>
                    <a:pt x="493776" y="25907"/>
                  </a:moveTo>
                  <a:lnTo>
                    <a:pt x="493776" y="1523"/>
                  </a:lnTo>
                  <a:lnTo>
                    <a:pt x="488442" y="0"/>
                  </a:lnTo>
                  <a:lnTo>
                    <a:pt x="486290" y="42"/>
                  </a:lnTo>
                  <a:lnTo>
                    <a:pt x="464058" y="715"/>
                  </a:lnTo>
                  <a:lnTo>
                    <a:pt x="462534" y="761"/>
                  </a:lnTo>
                  <a:lnTo>
                    <a:pt x="420987" y="3245"/>
                  </a:lnTo>
                  <a:lnTo>
                    <a:pt x="419325" y="3344"/>
                  </a:lnTo>
                  <a:lnTo>
                    <a:pt x="375097" y="9449"/>
                  </a:lnTo>
                  <a:lnTo>
                    <a:pt x="330942" y="18954"/>
                  </a:lnTo>
                  <a:lnTo>
                    <a:pt x="330497" y="19050"/>
                  </a:lnTo>
                  <a:lnTo>
                    <a:pt x="286170" y="32122"/>
                  </a:lnTo>
                  <a:lnTo>
                    <a:pt x="242762" y="48641"/>
                  </a:lnTo>
                  <a:lnTo>
                    <a:pt x="200919" y="68580"/>
                  </a:lnTo>
                  <a:lnTo>
                    <a:pt x="161286" y="91916"/>
                  </a:lnTo>
                  <a:lnTo>
                    <a:pt x="124510" y="118622"/>
                  </a:lnTo>
                  <a:lnTo>
                    <a:pt x="91236" y="148673"/>
                  </a:lnTo>
                  <a:lnTo>
                    <a:pt x="62109" y="182045"/>
                  </a:lnTo>
                  <a:lnTo>
                    <a:pt x="37777" y="218712"/>
                  </a:lnTo>
                  <a:lnTo>
                    <a:pt x="18884" y="258650"/>
                  </a:lnTo>
                  <a:lnTo>
                    <a:pt x="6076" y="301832"/>
                  </a:lnTo>
                  <a:lnTo>
                    <a:pt x="0" y="348233"/>
                  </a:lnTo>
                  <a:lnTo>
                    <a:pt x="0" y="366521"/>
                  </a:lnTo>
                  <a:lnTo>
                    <a:pt x="762" y="376427"/>
                  </a:lnTo>
                  <a:lnTo>
                    <a:pt x="8285" y="421616"/>
                  </a:lnTo>
                  <a:lnTo>
                    <a:pt x="22166" y="463628"/>
                  </a:lnTo>
                  <a:lnTo>
                    <a:pt x="25146" y="469520"/>
                  </a:lnTo>
                  <a:lnTo>
                    <a:pt x="25146" y="357377"/>
                  </a:lnTo>
                  <a:lnTo>
                    <a:pt x="25908" y="348233"/>
                  </a:lnTo>
                  <a:lnTo>
                    <a:pt x="32396" y="301778"/>
                  </a:lnTo>
                  <a:lnTo>
                    <a:pt x="46356" y="258849"/>
                  </a:lnTo>
                  <a:lnTo>
                    <a:pt x="66988" y="219468"/>
                  </a:lnTo>
                  <a:lnTo>
                    <a:pt x="93490" y="183660"/>
                  </a:lnTo>
                  <a:lnTo>
                    <a:pt x="125062" y="151447"/>
                  </a:lnTo>
                  <a:lnTo>
                    <a:pt x="160903" y="122852"/>
                  </a:lnTo>
                  <a:lnTo>
                    <a:pt x="200213" y="97897"/>
                  </a:lnTo>
                  <a:lnTo>
                    <a:pt x="242189" y="76606"/>
                  </a:lnTo>
                  <a:lnTo>
                    <a:pt x="286033" y="59002"/>
                  </a:lnTo>
                  <a:lnTo>
                    <a:pt x="330942" y="45107"/>
                  </a:lnTo>
                  <a:lnTo>
                    <a:pt x="376116" y="34944"/>
                  </a:lnTo>
                  <a:lnTo>
                    <a:pt x="420553" y="28566"/>
                  </a:lnTo>
                  <a:lnTo>
                    <a:pt x="462534" y="26000"/>
                  </a:lnTo>
                  <a:lnTo>
                    <a:pt x="478536" y="25455"/>
                  </a:lnTo>
                  <a:lnTo>
                    <a:pt x="482345" y="25336"/>
                  </a:lnTo>
                  <a:lnTo>
                    <a:pt x="482345" y="24383"/>
                  </a:lnTo>
                  <a:lnTo>
                    <a:pt x="487680" y="25050"/>
                  </a:lnTo>
                  <a:lnTo>
                    <a:pt x="488442" y="25145"/>
                  </a:lnTo>
                  <a:lnTo>
                    <a:pt x="488442" y="25907"/>
                  </a:lnTo>
                  <a:lnTo>
                    <a:pt x="493776" y="25907"/>
                  </a:lnTo>
                  <a:close/>
                </a:path>
                <a:path w="976629" h="715010">
                  <a:moveTo>
                    <a:pt x="482345" y="688847"/>
                  </a:moveTo>
                  <a:lnTo>
                    <a:pt x="420987" y="686015"/>
                  </a:lnTo>
                  <a:lnTo>
                    <a:pt x="376766" y="679611"/>
                  </a:lnTo>
                  <a:lnTo>
                    <a:pt x="332136" y="669639"/>
                  </a:lnTo>
                  <a:lnTo>
                    <a:pt x="287836" y="656101"/>
                  </a:lnTo>
                  <a:lnTo>
                    <a:pt x="244603" y="638998"/>
                  </a:lnTo>
                  <a:lnTo>
                    <a:pt x="203178" y="618333"/>
                  </a:lnTo>
                  <a:lnTo>
                    <a:pt x="164300" y="594109"/>
                  </a:lnTo>
                  <a:lnTo>
                    <a:pt x="128708" y="566327"/>
                  </a:lnTo>
                  <a:lnTo>
                    <a:pt x="97141" y="534991"/>
                  </a:lnTo>
                  <a:lnTo>
                    <a:pt x="70338" y="500102"/>
                  </a:lnTo>
                  <a:lnTo>
                    <a:pt x="49039" y="461662"/>
                  </a:lnTo>
                  <a:lnTo>
                    <a:pt x="33982" y="419675"/>
                  </a:lnTo>
                  <a:lnTo>
                    <a:pt x="25908" y="374141"/>
                  </a:lnTo>
                  <a:lnTo>
                    <a:pt x="25146" y="365759"/>
                  </a:lnTo>
                  <a:lnTo>
                    <a:pt x="25146" y="469520"/>
                  </a:lnTo>
                  <a:lnTo>
                    <a:pt x="66569" y="538058"/>
                  </a:lnTo>
                  <a:lnTo>
                    <a:pt x="95875" y="570443"/>
                  </a:lnTo>
                  <a:lnTo>
                    <a:pt x="129105" y="599585"/>
                  </a:lnTo>
                  <a:lnTo>
                    <a:pt x="165654" y="625468"/>
                  </a:lnTo>
                  <a:lnTo>
                    <a:pt x="204911" y="648075"/>
                  </a:lnTo>
                  <a:lnTo>
                    <a:pt x="246269" y="667390"/>
                  </a:lnTo>
                  <a:lnTo>
                    <a:pt x="289121" y="683396"/>
                  </a:lnTo>
                  <a:lnTo>
                    <a:pt x="332857" y="696076"/>
                  </a:lnTo>
                  <a:lnTo>
                    <a:pt x="376766" y="705391"/>
                  </a:lnTo>
                  <a:lnTo>
                    <a:pt x="420553" y="711391"/>
                  </a:lnTo>
                  <a:lnTo>
                    <a:pt x="462534" y="713947"/>
                  </a:lnTo>
                  <a:lnTo>
                    <a:pt x="474726" y="714351"/>
                  </a:lnTo>
                  <a:lnTo>
                    <a:pt x="474726" y="701801"/>
                  </a:lnTo>
                  <a:lnTo>
                    <a:pt x="476250" y="697229"/>
                  </a:lnTo>
                  <a:lnTo>
                    <a:pt x="478536" y="691895"/>
                  </a:lnTo>
                  <a:lnTo>
                    <a:pt x="482345" y="688847"/>
                  </a:lnTo>
                  <a:close/>
                </a:path>
                <a:path w="976629" h="715010">
                  <a:moveTo>
                    <a:pt x="488442" y="688847"/>
                  </a:moveTo>
                  <a:lnTo>
                    <a:pt x="482345" y="688847"/>
                  </a:lnTo>
                  <a:lnTo>
                    <a:pt x="478536" y="691895"/>
                  </a:lnTo>
                  <a:lnTo>
                    <a:pt x="476250" y="697229"/>
                  </a:lnTo>
                  <a:lnTo>
                    <a:pt x="474726" y="701801"/>
                  </a:lnTo>
                  <a:lnTo>
                    <a:pt x="475488" y="707135"/>
                  </a:lnTo>
                  <a:lnTo>
                    <a:pt x="479298" y="710945"/>
                  </a:lnTo>
                  <a:lnTo>
                    <a:pt x="488442" y="688847"/>
                  </a:lnTo>
                  <a:close/>
                </a:path>
                <a:path w="976629" h="715010">
                  <a:moveTo>
                    <a:pt x="950976" y="469560"/>
                  </a:moveTo>
                  <a:lnTo>
                    <a:pt x="950976" y="365759"/>
                  </a:lnTo>
                  <a:lnTo>
                    <a:pt x="943745" y="414803"/>
                  </a:lnTo>
                  <a:lnTo>
                    <a:pt x="943745" y="414548"/>
                  </a:lnTo>
                  <a:lnTo>
                    <a:pt x="928534" y="459384"/>
                  </a:lnTo>
                  <a:lnTo>
                    <a:pt x="928534" y="459250"/>
                  </a:lnTo>
                  <a:lnTo>
                    <a:pt x="906405" y="499779"/>
                  </a:lnTo>
                  <a:lnTo>
                    <a:pt x="877965" y="536583"/>
                  </a:lnTo>
                  <a:lnTo>
                    <a:pt x="844234" y="569429"/>
                  </a:lnTo>
                  <a:lnTo>
                    <a:pt x="806115" y="598303"/>
                  </a:lnTo>
                  <a:lnTo>
                    <a:pt x="764507" y="623190"/>
                  </a:lnTo>
                  <a:lnTo>
                    <a:pt x="720312" y="644076"/>
                  </a:lnTo>
                  <a:lnTo>
                    <a:pt x="674432" y="660946"/>
                  </a:lnTo>
                  <a:lnTo>
                    <a:pt x="627654" y="673809"/>
                  </a:lnTo>
                  <a:lnTo>
                    <a:pt x="581156" y="682591"/>
                  </a:lnTo>
                  <a:lnTo>
                    <a:pt x="535686" y="687323"/>
                  </a:lnTo>
                  <a:lnTo>
                    <a:pt x="488442" y="688847"/>
                  </a:lnTo>
                  <a:lnTo>
                    <a:pt x="479298" y="710945"/>
                  </a:lnTo>
                  <a:lnTo>
                    <a:pt x="475488" y="707135"/>
                  </a:lnTo>
                  <a:lnTo>
                    <a:pt x="474726" y="701801"/>
                  </a:lnTo>
                  <a:lnTo>
                    <a:pt x="474726" y="714351"/>
                  </a:lnTo>
                  <a:lnTo>
                    <a:pt x="478536" y="714470"/>
                  </a:lnTo>
                  <a:lnTo>
                    <a:pt x="482345" y="714589"/>
                  </a:lnTo>
                  <a:lnTo>
                    <a:pt x="486290" y="714712"/>
                  </a:lnTo>
                  <a:lnTo>
                    <a:pt x="488442" y="714755"/>
                  </a:lnTo>
                  <a:lnTo>
                    <a:pt x="496823" y="692657"/>
                  </a:lnTo>
                  <a:lnTo>
                    <a:pt x="500634" y="696467"/>
                  </a:lnTo>
                  <a:lnTo>
                    <a:pt x="502158" y="701801"/>
                  </a:lnTo>
                  <a:lnTo>
                    <a:pt x="502158" y="714327"/>
                  </a:lnTo>
                  <a:lnTo>
                    <a:pt x="512064" y="714017"/>
                  </a:lnTo>
                  <a:lnTo>
                    <a:pt x="581156" y="708263"/>
                  </a:lnTo>
                  <a:lnTo>
                    <a:pt x="582024" y="708178"/>
                  </a:lnTo>
                  <a:lnTo>
                    <a:pt x="628461" y="699862"/>
                  </a:lnTo>
                  <a:lnTo>
                    <a:pt x="674260" y="687790"/>
                  </a:lnTo>
                  <a:lnTo>
                    <a:pt x="719442" y="671934"/>
                  </a:lnTo>
                  <a:lnTo>
                    <a:pt x="763266" y="652339"/>
                  </a:lnTo>
                  <a:lnTo>
                    <a:pt x="804991" y="629052"/>
                  </a:lnTo>
                  <a:lnTo>
                    <a:pt x="843878" y="602119"/>
                  </a:lnTo>
                  <a:lnTo>
                    <a:pt x="879186" y="571585"/>
                  </a:lnTo>
                  <a:lnTo>
                    <a:pt x="910174" y="537497"/>
                  </a:lnTo>
                  <a:lnTo>
                    <a:pt x="936102" y="499901"/>
                  </a:lnTo>
                  <a:lnTo>
                    <a:pt x="950976" y="469560"/>
                  </a:lnTo>
                  <a:close/>
                </a:path>
                <a:path w="976629" h="715010">
                  <a:moveTo>
                    <a:pt x="487680" y="25145"/>
                  </a:moveTo>
                  <a:lnTo>
                    <a:pt x="486290" y="24877"/>
                  </a:lnTo>
                  <a:lnTo>
                    <a:pt x="482345" y="24383"/>
                  </a:lnTo>
                  <a:lnTo>
                    <a:pt x="483870" y="25145"/>
                  </a:lnTo>
                  <a:lnTo>
                    <a:pt x="487680" y="25145"/>
                  </a:lnTo>
                  <a:close/>
                </a:path>
                <a:path w="976629" h="715010">
                  <a:moveTo>
                    <a:pt x="486158" y="25217"/>
                  </a:moveTo>
                  <a:lnTo>
                    <a:pt x="483870" y="25145"/>
                  </a:lnTo>
                  <a:lnTo>
                    <a:pt x="482345" y="24383"/>
                  </a:lnTo>
                  <a:lnTo>
                    <a:pt x="482345" y="25336"/>
                  </a:lnTo>
                  <a:lnTo>
                    <a:pt x="486158" y="25217"/>
                  </a:lnTo>
                  <a:close/>
                </a:path>
                <a:path w="976629" h="715010">
                  <a:moveTo>
                    <a:pt x="488442" y="25907"/>
                  </a:moveTo>
                  <a:lnTo>
                    <a:pt x="488442" y="25145"/>
                  </a:lnTo>
                  <a:lnTo>
                    <a:pt x="486290" y="25213"/>
                  </a:lnTo>
                  <a:lnTo>
                    <a:pt x="487680" y="25907"/>
                  </a:lnTo>
                  <a:lnTo>
                    <a:pt x="488442" y="25907"/>
                  </a:lnTo>
                  <a:close/>
                </a:path>
                <a:path w="976629" h="715010">
                  <a:moveTo>
                    <a:pt x="491461" y="862"/>
                  </a:moveTo>
                  <a:lnTo>
                    <a:pt x="489966" y="47"/>
                  </a:lnTo>
                  <a:lnTo>
                    <a:pt x="488442" y="0"/>
                  </a:lnTo>
                  <a:lnTo>
                    <a:pt x="491461" y="862"/>
                  </a:lnTo>
                  <a:close/>
                </a:path>
                <a:path w="976629" h="715010">
                  <a:moveTo>
                    <a:pt x="502158" y="701801"/>
                  </a:moveTo>
                  <a:lnTo>
                    <a:pt x="500634" y="696467"/>
                  </a:lnTo>
                  <a:lnTo>
                    <a:pt x="496823" y="692657"/>
                  </a:lnTo>
                  <a:lnTo>
                    <a:pt x="488442" y="714755"/>
                  </a:lnTo>
                  <a:lnTo>
                    <a:pt x="491997" y="714644"/>
                  </a:lnTo>
                  <a:lnTo>
                    <a:pt x="493238" y="714606"/>
                  </a:lnTo>
                  <a:lnTo>
                    <a:pt x="497586" y="711707"/>
                  </a:lnTo>
                  <a:lnTo>
                    <a:pt x="499872" y="707135"/>
                  </a:lnTo>
                  <a:lnTo>
                    <a:pt x="502158" y="701801"/>
                  </a:lnTo>
                  <a:close/>
                </a:path>
                <a:path w="976629" h="715010">
                  <a:moveTo>
                    <a:pt x="976122" y="366521"/>
                  </a:moveTo>
                  <a:lnTo>
                    <a:pt x="976122" y="347471"/>
                  </a:lnTo>
                  <a:lnTo>
                    <a:pt x="969753" y="299597"/>
                  </a:lnTo>
                  <a:lnTo>
                    <a:pt x="956095" y="255127"/>
                  </a:lnTo>
                  <a:lnTo>
                    <a:pt x="935890" y="214101"/>
                  </a:lnTo>
                  <a:lnTo>
                    <a:pt x="909882" y="176560"/>
                  </a:lnTo>
                  <a:lnTo>
                    <a:pt x="878813" y="142546"/>
                  </a:lnTo>
                  <a:lnTo>
                    <a:pt x="843426" y="112099"/>
                  </a:lnTo>
                  <a:lnTo>
                    <a:pt x="804464" y="85260"/>
                  </a:lnTo>
                  <a:lnTo>
                    <a:pt x="762669" y="62070"/>
                  </a:lnTo>
                  <a:lnTo>
                    <a:pt x="718785" y="42570"/>
                  </a:lnTo>
                  <a:lnTo>
                    <a:pt x="673554" y="26800"/>
                  </a:lnTo>
                  <a:lnTo>
                    <a:pt x="627654" y="14791"/>
                  </a:lnTo>
                  <a:lnTo>
                    <a:pt x="582024" y="6617"/>
                  </a:lnTo>
                  <a:lnTo>
                    <a:pt x="537972" y="2359"/>
                  </a:lnTo>
                  <a:lnTo>
                    <a:pt x="502158" y="428"/>
                  </a:lnTo>
                  <a:lnTo>
                    <a:pt x="500634" y="380"/>
                  </a:lnTo>
                  <a:lnTo>
                    <a:pt x="497586" y="285"/>
                  </a:lnTo>
                  <a:lnTo>
                    <a:pt x="493776" y="166"/>
                  </a:lnTo>
                  <a:lnTo>
                    <a:pt x="489966" y="47"/>
                  </a:lnTo>
                  <a:lnTo>
                    <a:pt x="491997" y="1015"/>
                  </a:lnTo>
                  <a:lnTo>
                    <a:pt x="493776" y="1523"/>
                  </a:lnTo>
                  <a:lnTo>
                    <a:pt x="493776" y="25907"/>
                  </a:lnTo>
                  <a:lnTo>
                    <a:pt x="535686" y="27431"/>
                  </a:lnTo>
                  <a:lnTo>
                    <a:pt x="581156" y="31960"/>
                  </a:lnTo>
                  <a:lnTo>
                    <a:pt x="627654" y="40662"/>
                  </a:lnTo>
                  <a:lnTo>
                    <a:pt x="674260" y="53495"/>
                  </a:lnTo>
                  <a:lnTo>
                    <a:pt x="720129" y="70437"/>
                  </a:lnTo>
                  <a:lnTo>
                    <a:pt x="764305" y="91435"/>
                  </a:lnTo>
                  <a:lnTo>
                    <a:pt x="805905" y="116457"/>
                  </a:lnTo>
                  <a:lnTo>
                    <a:pt x="843878" y="145351"/>
                  </a:lnTo>
                  <a:lnTo>
                    <a:pt x="877776" y="178423"/>
                  </a:lnTo>
                  <a:lnTo>
                    <a:pt x="906244" y="215292"/>
                  </a:lnTo>
                  <a:lnTo>
                    <a:pt x="928534" y="256036"/>
                  </a:lnTo>
                  <a:lnTo>
                    <a:pt x="943745" y="300616"/>
                  </a:lnTo>
                  <a:lnTo>
                    <a:pt x="950976" y="348995"/>
                  </a:lnTo>
                  <a:lnTo>
                    <a:pt x="950976" y="469560"/>
                  </a:lnTo>
                  <a:lnTo>
                    <a:pt x="956229" y="458842"/>
                  </a:lnTo>
                  <a:lnTo>
                    <a:pt x="969753" y="414575"/>
                  </a:lnTo>
                  <a:lnTo>
                    <a:pt x="969753" y="414848"/>
                  </a:lnTo>
                  <a:lnTo>
                    <a:pt x="976122" y="366521"/>
                  </a:lnTo>
                  <a:close/>
                </a:path>
                <a:path w="976629" h="715010">
                  <a:moveTo>
                    <a:pt x="493238" y="714606"/>
                  </a:moveTo>
                  <a:lnTo>
                    <a:pt x="491997" y="714644"/>
                  </a:lnTo>
                  <a:lnTo>
                    <a:pt x="493014" y="714755"/>
                  </a:lnTo>
                  <a:lnTo>
                    <a:pt x="493238" y="714606"/>
                  </a:lnTo>
                  <a:close/>
                </a:path>
                <a:path w="976629" h="715010">
                  <a:moveTo>
                    <a:pt x="502158" y="714327"/>
                  </a:moveTo>
                  <a:lnTo>
                    <a:pt x="502158" y="701801"/>
                  </a:lnTo>
                  <a:lnTo>
                    <a:pt x="499872" y="707135"/>
                  </a:lnTo>
                  <a:lnTo>
                    <a:pt x="497586" y="711707"/>
                  </a:lnTo>
                  <a:lnTo>
                    <a:pt x="493238" y="714606"/>
                  </a:lnTo>
                  <a:lnTo>
                    <a:pt x="496823" y="714494"/>
                  </a:lnTo>
                  <a:lnTo>
                    <a:pt x="500634" y="714374"/>
                  </a:lnTo>
                  <a:lnTo>
                    <a:pt x="502158" y="714327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521" y="6180582"/>
              <a:ext cx="85343" cy="15163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67534" y="5353062"/>
              <a:ext cx="2683510" cy="979169"/>
            </a:xfrm>
            <a:custGeom>
              <a:avLst/>
              <a:gdLst/>
              <a:ahLst/>
              <a:cxnLst/>
              <a:rect l="l" t="t" r="r" b="b"/>
              <a:pathLst>
                <a:path w="2683510" h="979170">
                  <a:moveTo>
                    <a:pt x="1411224" y="586727"/>
                  </a:moveTo>
                  <a:lnTo>
                    <a:pt x="1386078" y="585965"/>
                  </a:lnTo>
                  <a:lnTo>
                    <a:pt x="1385316" y="589775"/>
                  </a:lnTo>
                  <a:lnTo>
                    <a:pt x="1385316" y="592061"/>
                  </a:lnTo>
                  <a:lnTo>
                    <a:pt x="1370990" y="617689"/>
                  </a:lnTo>
                  <a:lnTo>
                    <a:pt x="1344053" y="635660"/>
                  </a:lnTo>
                  <a:lnTo>
                    <a:pt x="1312024" y="645744"/>
                  </a:lnTo>
                  <a:lnTo>
                    <a:pt x="1283208" y="647649"/>
                  </a:lnTo>
                  <a:lnTo>
                    <a:pt x="820674" y="647687"/>
                  </a:lnTo>
                  <a:lnTo>
                    <a:pt x="808482" y="648449"/>
                  </a:lnTo>
                  <a:lnTo>
                    <a:pt x="772299" y="654570"/>
                  </a:lnTo>
                  <a:lnTo>
                    <a:pt x="737285" y="668909"/>
                  </a:lnTo>
                  <a:lnTo>
                    <a:pt x="709117" y="692264"/>
                  </a:lnTo>
                  <a:lnTo>
                    <a:pt x="705129" y="700671"/>
                  </a:lnTo>
                  <a:lnTo>
                    <a:pt x="699973" y="690283"/>
                  </a:lnTo>
                  <a:lnTo>
                    <a:pt x="668782" y="666165"/>
                  </a:lnTo>
                  <a:lnTo>
                    <a:pt x="630288" y="652424"/>
                  </a:lnTo>
                  <a:lnTo>
                    <a:pt x="590550" y="647687"/>
                  </a:lnTo>
                  <a:lnTo>
                    <a:pt x="116586" y="647687"/>
                  </a:lnTo>
                  <a:lnTo>
                    <a:pt x="89700" y="643432"/>
                  </a:lnTo>
                  <a:lnTo>
                    <a:pt x="61239" y="632777"/>
                  </a:lnTo>
                  <a:lnTo>
                    <a:pt x="37769" y="615492"/>
                  </a:lnTo>
                  <a:lnTo>
                    <a:pt x="25908" y="591299"/>
                  </a:lnTo>
                  <a:lnTo>
                    <a:pt x="25146" y="588251"/>
                  </a:lnTo>
                  <a:lnTo>
                    <a:pt x="25146" y="585965"/>
                  </a:lnTo>
                  <a:lnTo>
                    <a:pt x="762" y="586714"/>
                  </a:lnTo>
                  <a:lnTo>
                    <a:pt x="0" y="586727"/>
                  </a:lnTo>
                  <a:lnTo>
                    <a:pt x="0" y="591299"/>
                  </a:lnTo>
                  <a:lnTo>
                    <a:pt x="18186" y="631672"/>
                  </a:lnTo>
                  <a:lnTo>
                    <a:pt x="49606" y="655688"/>
                  </a:lnTo>
                  <a:lnTo>
                    <a:pt x="88430" y="669213"/>
                  </a:lnTo>
                  <a:lnTo>
                    <a:pt x="128016" y="673595"/>
                  </a:lnTo>
                  <a:lnTo>
                    <a:pt x="600456" y="673595"/>
                  </a:lnTo>
                  <a:lnTo>
                    <a:pt x="611124" y="675119"/>
                  </a:lnTo>
                  <a:lnTo>
                    <a:pt x="650849" y="685774"/>
                  </a:lnTo>
                  <a:lnTo>
                    <a:pt x="685622" y="713422"/>
                  </a:lnTo>
                  <a:lnTo>
                    <a:pt x="691896" y="726173"/>
                  </a:lnTo>
                  <a:lnTo>
                    <a:pt x="691896" y="729221"/>
                  </a:lnTo>
                  <a:lnTo>
                    <a:pt x="692658" y="732269"/>
                  </a:lnTo>
                  <a:lnTo>
                    <a:pt x="692658" y="734555"/>
                  </a:lnTo>
                  <a:lnTo>
                    <a:pt x="692658" y="742937"/>
                  </a:lnTo>
                  <a:lnTo>
                    <a:pt x="698754" y="748271"/>
                  </a:lnTo>
                  <a:lnTo>
                    <a:pt x="712470" y="748271"/>
                  </a:lnTo>
                  <a:lnTo>
                    <a:pt x="717804" y="742937"/>
                  </a:lnTo>
                  <a:lnTo>
                    <a:pt x="717804" y="736079"/>
                  </a:lnTo>
                  <a:lnTo>
                    <a:pt x="718566" y="733031"/>
                  </a:lnTo>
                  <a:lnTo>
                    <a:pt x="718566" y="729983"/>
                  </a:lnTo>
                  <a:lnTo>
                    <a:pt x="732713" y="703935"/>
                  </a:lnTo>
                  <a:lnTo>
                    <a:pt x="759180" y="686168"/>
                  </a:lnTo>
                  <a:lnTo>
                    <a:pt x="790867" y="676198"/>
                  </a:lnTo>
                  <a:lnTo>
                    <a:pt x="820674" y="673595"/>
                  </a:lnTo>
                  <a:lnTo>
                    <a:pt x="1283208" y="673595"/>
                  </a:lnTo>
                  <a:lnTo>
                    <a:pt x="1296162" y="672833"/>
                  </a:lnTo>
                  <a:lnTo>
                    <a:pt x="1367155" y="651878"/>
                  </a:lnTo>
                  <a:lnTo>
                    <a:pt x="1410462" y="595109"/>
                  </a:lnTo>
                  <a:lnTo>
                    <a:pt x="1411224" y="590537"/>
                  </a:lnTo>
                  <a:lnTo>
                    <a:pt x="1411224" y="586727"/>
                  </a:lnTo>
                  <a:close/>
                </a:path>
                <a:path w="2683510" h="979170">
                  <a:moveTo>
                    <a:pt x="2494013" y="73914"/>
                  </a:moveTo>
                  <a:lnTo>
                    <a:pt x="2488679" y="68580"/>
                  </a:lnTo>
                  <a:lnTo>
                    <a:pt x="2482583" y="67818"/>
                  </a:lnTo>
                  <a:lnTo>
                    <a:pt x="2480297" y="67818"/>
                  </a:lnTo>
                  <a:lnTo>
                    <a:pt x="2475598" y="66243"/>
                  </a:lnTo>
                  <a:lnTo>
                    <a:pt x="2476741" y="66967"/>
                  </a:lnTo>
                  <a:lnTo>
                    <a:pt x="2478011" y="67818"/>
                  </a:lnTo>
                  <a:lnTo>
                    <a:pt x="2475357" y="66217"/>
                  </a:lnTo>
                  <a:lnTo>
                    <a:pt x="2475153" y="66103"/>
                  </a:lnTo>
                  <a:lnTo>
                    <a:pt x="2474963" y="65989"/>
                  </a:lnTo>
                  <a:lnTo>
                    <a:pt x="2474963" y="68491"/>
                  </a:lnTo>
                  <a:lnTo>
                    <a:pt x="2476093" y="68389"/>
                  </a:lnTo>
                  <a:lnTo>
                    <a:pt x="2475598" y="68465"/>
                  </a:lnTo>
                  <a:lnTo>
                    <a:pt x="2474963" y="68491"/>
                  </a:lnTo>
                  <a:lnTo>
                    <a:pt x="2472677" y="68580"/>
                  </a:lnTo>
                  <a:lnTo>
                    <a:pt x="2474201" y="68516"/>
                  </a:lnTo>
                  <a:lnTo>
                    <a:pt x="2474201" y="65265"/>
                  </a:lnTo>
                  <a:lnTo>
                    <a:pt x="2453805" y="26060"/>
                  </a:lnTo>
                  <a:lnTo>
                    <a:pt x="2449982" y="0"/>
                  </a:lnTo>
                  <a:lnTo>
                    <a:pt x="2424277" y="0"/>
                  </a:lnTo>
                  <a:lnTo>
                    <a:pt x="2430881" y="39128"/>
                  </a:lnTo>
                  <a:lnTo>
                    <a:pt x="2449817" y="76962"/>
                  </a:lnTo>
                  <a:lnTo>
                    <a:pt x="2452992" y="80645"/>
                  </a:lnTo>
                  <a:lnTo>
                    <a:pt x="2450579" y="83058"/>
                  </a:lnTo>
                  <a:lnTo>
                    <a:pt x="2438387" y="102196"/>
                  </a:lnTo>
                  <a:lnTo>
                    <a:pt x="2438387" y="102336"/>
                  </a:lnTo>
                  <a:lnTo>
                    <a:pt x="2429954" y="125996"/>
                  </a:lnTo>
                  <a:lnTo>
                    <a:pt x="2425052" y="151193"/>
                  </a:lnTo>
                  <a:lnTo>
                    <a:pt x="2423909" y="173736"/>
                  </a:lnTo>
                  <a:lnTo>
                    <a:pt x="2423909" y="558546"/>
                  </a:lnTo>
                  <a:lnTo>
                    <a:pt x="2421966" y="575475"/>
                  </a:lnTo>
                  <a:lnTo>
                    <a:pt x="2403335" y="624078"/>
                  </a:lnTo>
                  <a:lnTo>
                    <a:pt x="2399436" y="627761"/>
                  </a:lnTo>
                  <a:lnTo>
                    <a:pt x="2398763" y="628269"/>
                  </a:lnTo>
                  <a:lnTo>
                    <a:pt x="2398611" y="628383"/>
                  </a:lnTo>
                  <a:lnTo>
                    <a:pt x="2398001" y="628904"/>
                  </a:lnTo>
                  <a:lnTo>
                    <a:pt x="2397239" y="629412"/>
                  </a:lnTo>
                  <a:lnTo>
                    <a:pt x="2398001" y="628840"/>
                  </a:lnTo>
                  <a:lnTo>
                    <a:pt x="2397239" y="629119"/>
                  </a:lnTo>
                  <a:lnTo>
                    <a:pt x="2395918" y="629843"/>
                  </a:lnTo>
                  <a:lnTo>
                    <a:pt x="2394953" y="630313"/>
                  </a:lnTo>
                  <a:lnTo>
                    <a:pt x="2394762" y="630237"/>
                  </a:lnTo>
                  <a:lnTo>
                    <a:pt x="2394191" y="630428"/>
                  </a:lnTo>
                  <a:lnTo>
                    <a:pt x="2394839" y="630364"/>
                  </a:lnTo>
                  <a:lnTo>
                    <a:pt x="2394191" y="630428"/>
                  </a:lnTo>
                  <a:lnTo>
                    <a:pt x="2393442" y="630745"/>
                  </a:lnTo>
                  <a:lnTo>
                    <a:pt x="2392667" y="630936"/>
                  </a:lnTo>
                  <a:lnTo>
                    <a:pt x="2394191" y="630428"/>
                  </a:lnTo>
                  <a:lnTo>
                    <a:pt x="2391143" y="630936"/>
                  </a:lnTo>
                  <a:lnTo>
                    <a:pt x="2392667" y="647700"/>
                  </a:lnTo>
                  <a:lnTo>
                    <a:pt x="2393429" y="656082"/>
                  </a:lnTo>
                  <a:lnTo>
                    <a:pt x="2395715" y="655701"/>
                  </a:lnTo>
                  <a:lnTo>
                    <a:pt x="2397239" y="655447"/>
                  </a:lnTo>
                  <a:lnTo>
                    <a:pt x="2399436" y="655320"/>
                  </a:lnTo>
                  <a:lnTo>
                    <a:pt x="2400287" y="654558"/>
                  </a:lnTo>
                  <a:lnTo>
                    <a:pt x="2404859" y="653796"/>
                  </a:lnTo>
                  <a:lnTo>
                    <a:pt x="2405621" y="653034"/>
                  </a:lnTo>
                  <a:lnTo>
                    <a:pt x="2406383" y="653034"/>
                  </a:lnTo>
                  <a:lnTo>
                    <a:pt x="2407145" y="652272"/>
                  </a:lnTo>
                  <a:lnTo>
                    <a:pt x="2411717" y="649986"/>
                  </a:lnTo>
                  <a:lnTo>
                    <a:pt x="2412479" y="649224"/>
                  </a:lnTo>
                  <a:lnTo>
                    <a:pt x="2413241" y="649224"/>
                  </a:lnTo>
                  <a:lnTo>
                    <a:pt x="2418448" y="644766"/>
                  </a:lnTo>
                  <a:lnTo>
                    <a:pt x="2443911" y="597141"/>
                  </a:lnTo>
                  <a:lnTo>
                    <a:pt x="2449055" y="549402"/>
                  </a:lnTo>
                  <a:lnTo>
                    <a:pt x="2449055" y="174498"/>
                  </a:lnTo>
                  <a:lnTo>
                    <a:pt x="2449817" y="165354"/>
                  </a:lnTo>
                  <a:lnTo>
                    <a:pt x="2460485" y="114566"/>
                  </a:lnTo>
                  <a:lnTo>
                    <a:pt x="2474201" y="96266"/>
                  </a:lnTo>
                  <a:lnTo>
                    <a:pt x="2474963" y="95758"/>
                  </a:lnTo>
                  <a:lnTo>
                    <a:pt x="2474201" y="96012"/>
                  </a:lnTo>
                  <a:lnTo>
                    <a:pt x="2475598" y="95173"/>
                  </a:lnTo>
                  <a:lnTo>
                    <a:pt x="2478011" y="93726"/>
                  </a:lnTo>
                  <a:lnTo>
                    <a:pt x="2479535" y="93472"/>
                  </a:lnTo>
                  <a:lnTo>
                    <a:pt x="2480297" y="93345"/>
                  </a:lnTo>
                  <a:lnTo>
                    <a:pt x="2482583" y="92964"/>
                  </a:lnTo>
                  <a:lnTo>
                    <a:pt x="2488679" y="92202"/>
                  </a:lnTo>
                  <a:lnTo>
                    <a:pt x="2494013" y="86868"/>
                  </a:lnTo>
                  <a:lnTo>
                    <a:pt x="2494013" y="73914"/>
                  </a:lnTo>
                  <a:close/>
                </a:path>
                <a:path w="2683510" h="979170">
                  <a:moveTo>
                    <a:pt x="2683002" y="979157"/>
                  </a:moveTo>
                  <a:lnTo>
                    <a:pt x="2682989" y="67043"/>
                  </a:lnTo>
                  <a:lnTo>
                    <a:pt x="2654046" y="67043"/>
                  </a:lnTo>
                  <a:lnTo>
                    <a:pt x="2654046" y="979157"/>
                  </a:lnTo>
                  <a:lnTo>
                    <a:pt x="2683002" y="979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7853" y="5352288"/>
              <a:ext cx="2849880" cy="712470"/>
            </a:xfrm>
            <a:custGeom>
              <a:avLst/>
              <a:gdLst/>
              <a:ahLst/>
              <a:cxnLst/>
              <a:rect l="l" t="t" r="r" b="b"/>
              <a:pathLst>
                <a:path w="2849879" h="712470">
                  <a:moveTo>
                    <a:pt x="2849880" y="712470"/>
                  </a:moveTo>
                  <a:lnTo>
                    <a:pt x="2849879" y="0"/>
                  </a:lnTo>
                  <a:lnTo>
                    <a:pt x="0" y="0"/>
                  </a:lnTo>
                  <a:lnTo>
                    <a:pt x="0" y="712470"/>
                  </a:lnTo>
                  <a:lnTo>
                    <a:pt x="2849880" y="7124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38069" y="4051777"/>
            <a:ext cx="6722969" cy="1307029"/>
          </a:xfrm>
          <a:prstGeom prst="rect">
            <a:avLst/>
          </a:prstGeom>
        </p:spPr>
        <p:txBody>
          <a:bodyPr vert="horz" wrap="square" lIns="0" tIns="129988" rIns="0" bIns="0" rtlCol="0">
            <a:spAutoFit/>
          </a:bodyPr>
          <a:lstStyle/>
          <a:p>
            <a:pPr marR="60515" algn="r">
              <a:spcBef>
                <a:spcPts val="1024"/>
              </a:spcBef>
              <a:tabLst>
                <a:tab pos="1709549" algn="l"/>
                <a:tab pos="5747804" algn="l"/>
              </a:tabLst>
            </a:pPr>
            <a:r>
              <a:rPr sz="4633" i="1" baseline="-40476" dirty="0">
                <a:latin typeface="Times New Roman"/>
                <a:cs typeface="Times New Roman"/>
              </a:rPr>
              <a:t>P</a:t>
            </a:r>
            <a:r>
              <a:rPr sz="4633" i="1" spc="72" baseline="-40476" dirty="0">
                <a:latin typeface="Times New Roman"/>
                <a:cs typeface="Times New Roman"/>
              </a:rPr>
              <a:t> </a:t>
            </a:r>
            <a:r>
              <a:rPr sz="4633" baseline="-40476" dirty="0">
                <a:latin typeface="Symbol"/>
                <a:cs typeface="Symbol"/>
              </a:rPr>
              <a:t></a:t>
            </a:r>
            <a:r>
              <a:rPr sz="4633" spc="79" baseline="-40476" dirty="0">
                <a:latin typeface="Times New Roman"/>
                <a:cs typeface="Times New Roman"/>
              </a:rPr>
              <a:t> </a:t>
            </a:r>
            <a:r>
              <a:rPr sz="4633" spc="-26" baseline="-3968" dirty="0">
                <a:latin typeface="Symbol"/>
                <a:cs typeface="Symbol"/>
              </a:rPr>
              <a:t></a:t>
            </a:r>
            <a:r>
              <a:rPr sz="3088" spc="-18" dirty="0">
                <a:latin typeface="Times New Roman"/>
                <a:cs typeface="Times New Roman"/>
              </a:rPr>
              <a:t>0.9</a:t>
            </a:r>
            <a:r>
              <a:rPr sz="3088" dirty="0">
                <a:latin typeface="Times New Roman"/>
                <a:cs typeface="Times New Roman"/>
              </a:rPr>
              <a:t>	0.1</a:t>
            </a:r>
            <a:r>
              <a:rPr sz="4633" baseline="-3968" dirty="0">
                <a:latin typeface="Symbol"/>
                <a:cs typeface="Symbol"/>
              </a:rPr>
              <a:t></a:t>
            </a:r>
            <a:r>
              <a:rPr sz="4633" spc="304" baseline="-3968" dirty="0">
                <a:latin typeface="Times New Roman"/>
                <a:cs typeface="Times New Roman"/>
              </a:rPr>
              <a:t> </a:t>
            </a:r>
            <a:r>
              <a:rPr sz="4633" baseline="-3968" dirty="0">
                <a:latin typeface="Symbol"/>
                <a:cs typeface="Symbol"/>
              </a:rPr>
              <a:t></a:t>
            </a:r>
            <a:r>
              <a:rPr sz="3088" dirty="0">
                <a:latin typeface="Times New Roman"/>
                <a:cs typeface="Times New Roman"/>
              </a:rPr>
              <a:t>0.9</a:t>
            </a:r>
            <a:r>
              <a:rPr sz="3088" spc="353" dirty="0">
                <a:latin typeface="Times New Roman"/>
                <a:cs typeface="Times New Roman"/>
              </a:rPr>
              <a:t> </a:t>
            </a:r>
            <a:r>
              <a:rPr sz="3088" u="sng" spc="-1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88" spc="243" dirty="0">
                <a:latin typeface="Times New Roman"/>
                <a:cs typeface="Times New Roman"/>
              </a:rPr>
              <a:t> </a:t>
            </a:r>
            <a:r>
              <a:rPr sz="3088" dirty="0">
                <a:latin typeface="Times New Roman"/>
                <a:cs typeface="Times New Roman"/>
              </a:rPr>
              <a:t>0.1</a:t>
            </a:r>
            <a:r>
              <a:rPr sz="4633" baseline="-3968" dirty="0">
                <a:latin typeface="Symbol"/>
                <a:cs typeface="Symbol"/>
              </a:rPr>
              <a:t></a:t>
            </a:r>
            <a:r>
              <a:rPr sz="4633" spc="6" baseline="-3968" dirty="0">
                <a:latin typeface="Times New Roman"/>
                <a:cs typeface="Times New Roman"/>
              </a:rPr>
              <a:t> </a:t>
            </a:r>
            <a:r>
              <a:rPr sz="4633" baseline="-40476" dirty="0">
                <a:latin typeface="Symbol"/>
                <a:cs typeface="Symbol"/>
              </a:rPr>
              <a:t></a:t>
            </a:r>
            <a:r>
              <a:rPr sz="4633" spc="-26" baseline="-40476" dirty="0">
                <a:latin typeface="Times New Roman"/>
                <a:cs typeface="Times New Roman"/>
              </a:rPr>
              <a:t> </a:t>
            </a:r>
            <a:r>
              <a:rPr sz="4633" spc="-13" baseline="-3968" dirty="0">
                <a:latin typeface="Symbol"/>
                <a:cs typeface="Symbol"/>
              </a:rPr>
              <a:t></a:t>
            </a:r>
            <a:r>
              <a:rPr sz="3088" spc="-9" dirty="0">
                <a:latin typeface="Times New Roman"/>
                <a:cs typeface="Times New Roman"/>
              </a:rPr>
              <a:t>0.83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9" dirty="0">
                <a:latin typeface="Times New Roman"/>
                <a:cs typeface="Times New Roman"/>
              </a:rPr>
              <a:t>0.17</a:t>
            </a:r>
            <a:r>
              <a:rPr sz="4633" spc="-13" baseline="-3968" dirty="0">
                <a:latin typeface="Symbol"/>
                <a:cs typeface="Symbol"/>
              </a:rPr>
              <a:t></a:t>
            </a:r>
            <a:endParaRPr sz="4633" baseline="-3968">
              <a:latin typeface="Symbol"/>
              <a:cs typeface="Symbol"/>
            </a:endParaRPr>
          </a:p>
          <a:p>
            <a:pPr marR="60515" algn="r">
              <a:lnSpc>
                <a:spcPts val="2224"/>
              </a:lnSpc>
              <a:spcBef>
                <a:spcPts val="935"/>
              </a:spcBef>
              <a:tabLst>
                <a:tab pos="1030996" algn="l"/>
                <a:tab pos="2821231" algn="l"/>
                <a:tab pos="3877442" algn="l"/>
                <a:tab pos="5084940" algn="l"/>
              </a:tabLst>
            </a:pPr>
            <a:r>
              <a:rPr sz="4633" spc="-26" baseline="26190" dirty="0">
                <a:latin typeface="Symbol"/>
                <a:cs typeface="Symbol"/>
              </a:rPr>
              <a:t></a:t>
            </a:r>
            <a:r>
              <a:rPr sz="3088" spc="-18" dirty="0">
                <a:latin typeface="Times New Roman"/>
                <a:cs typeface="Times New Roman"/>
              </a:rPr>
              <a:t>0.2</a:t>
            </a:r>
            <a:r>
              <a:rPr sz="3088" dirty="0">
                <a:latin typeface="Times New Roman"/>
                <a:cs typeface="Times New Roman"/>
              </a:rPr>
              <a:t>	0.8</a:t>
            </a:r>
            <a:r>
              <a:rPr sz="4633" baseline="26190" dirty="0">
                <a:latin typeface="Symbol"/>
                <a:cs typeface="Symbol"/>
              </a:rPr>
              <a:t></a:t>
            </a:r>
            <a:r>
              <a:rPr sz="4633" spc="483" baseline="26190" dirty="0">
                <a:latin typeface="Times New Roman"/>
                <a:cs typeface="Times New Roman"/>
              </a:rPr>
              <a:t> </a:t>
            </a:r>
            <a:r>
              <a:rPr sz="4633" spc="-26" baseline="26190" dirty="0">
                <a:latin typeface="Symbol"/>
                <a:cs typeface="Symbol"/>
              </a:rPr>
              <a:t></a:t>
            </a:r>
            <a:r>
              <a:rPr sz="3088" spc="-18" dirty="0">
                <a:latin typeface="Times New Roman"/>
                <a:cs typeface="Times New Roman"/>
              </a:rPr>
              <a:t>0.2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18" dirty="0">
                <a:latin typeface="Times New Roman"/>
                <a:cs typeface="Times New Roman"/>
              </a:rPr>
              <a:t>0.8</a:t>
            </a:r>
            <a:r>
              <a:rPr sz="4633" spc="-26" baseline="26190" dirty="0">
                <a:latin typeface="Symbol"/>
                <a:cs typeface="Symbol"/>
              </a:rPr>
              <a:t></a:t>
            </a:r>
            <a:r>
              <a:rPr sz="4633" baseline="26190" dirty="0">
                <a:latin typeface="Times New Roman"/>
                <a:cs typeface="Times New Roman"/>
              </a:rPr>
              <a:t>	</a:t>
            </a:r>
            <a:r>
              <a:rPr sz="4633" spc="-13" baseline="26190" dirty="0">
                <a:latin typeface="Symbol"/>
                <a:cs typeface="Symbol"/>
              </a:rPr>
              <a:t></a:t>
            </a:r>
            <a:r>
              <a:rPr sz="3088" spc="-9" dirty="0">
                <a:latin typeface="Times New Roman"/>
                <a:cs typeface="Times New Roman"/>
              </a:rPr>
              <a:t>0.34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9" dirty="0">
                <a:latin typeface="Times New Roman"/>
                <a:cs typeface="Times New Roman"/>
              </a:rPr>
              <a:t>0.66</a:t>
            </a:r>
            <a:r>
              <a:rPr sz="4633" spc="-13" baseline="26190" dirty="0">
                <a:latin typeface="Symbol"/>
                <a:cs typeface="Symbol"/>
              </a:rPr>
              <a:t></a:t>
            </a:r>
            <a:endParaRPr sz="4633" baseline="26190">
              <a:latin typeface="Symbol"/>
              <a:cs typeface="Symbol"/>
            </a:endParaRPr>
          </a:p>
          <a:p>
            <a:pPr marL="722258">
              <a:lnSpc>
                <a:spcPts val="2224"/>
              </a:lnSpc>
              <a:tabLst>
                <a:tab pos="2256425" algn="l"/>
                <a:tab pos="4034893" algn="l"/>
                <a:tab pos="4599700" algn="l"/>
                <a:tab pos="6504801" algn="l"/>
              </a:tabLst>
            </a:pPr>
            <a:r>
              <a:rPr sz="3088" spc="-44" dirty="0">
                <a:latin typeface="Symbol"/>
                <a:cs typeface="Symbol"/>
              </a:rPr>
              <a:t>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dirty="0">
                <a:latin typeface="Symbol"/>
                <a:cs typeface="Symbol"/>
              </a:rPr>
              <a:t></a:t>
            </a:r>
            <a:r>
              <a:rPr sz="3088" spc="234" dirty="0">
                <a:latin typeface="Times New Roman"/>
                <a:cs typeface="Times New Roman"/>
              </a:rPr>
              <a:t> </a:t>
            </a:r>
            <a:r>
              <a:rPr sz="3088" spc="-44" dirty="0">
                <a:latin typeface="Symbol"/>
                <a:cs typeface="Symbol"/>
              </a:rPr>
              <a:t>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44" dirty="0">
                <a:latin typeface="Symbol"/>
                <a:cs typeface="Symbol"/>
              </a:rPr>
              <a:t>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44" dirty="0">
                <a:latin typeface="Symbol"/>
                <a:cs typeface="Symbol"/>
              </a:rPr>
              <a:t></a:t>
            </a:r>
            <a:r>
              <a:rPr sz="3088" dirty="0">
                <a:latin typeface="Times New Roman"/>
                <a:cs typeface="Times New Roman"/>
              </a:rPr>
              <a:t>	</a:t>
            </a:r>
            <a:r>
              <a:rPr sz="3088" spc="-44" dirty="0">
                <a:latin typeface="Symbol"/>
                <a:cs typeface="Symbol"/>
              </a:rPr>
              <a:t></a:t>
            </a:r>
            <a:endParaRPr sz="3088">
              <a:latin typeface="Symbol"/>
              <a:cs typeface="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28588" y="5587253"/>
            <a:ext cx="1787338" cy="226919"/>
            <a:chOff x="3053333" y="6332220"/>
            <a:chExt cx="2025650" cy="257175"/>
          </a:xfrm>
        </p:grpSpPr>
        <p:sp>
          <p:nvSpPr>
            <p:cNvPr id="20" name="object 20"/>
            <p:cNvSpPr/>
            <p:nvPr/>
          </p:nvSpPr>
          <p:spPr>
            <a:xfrm>
              <a:off x="3053333" y="6332220"/>
              <a:ext cx="35560" cy="257175"/>
            </a:xfrm>
            <a:custGeom>
              <a:avLst/>
              <a:gdLst/>
              <a:ahLst/>
              <a:cxnLst/>
              <a:rect l="l" t="t" r="r" b="b"/>
              <a:pathLst>
                <a:path w="35560" h="257175">
                  <a:moveTo>
                    <a:pt x="35165" y="0"/>
                  </a:moveTo>
                  <a:lnTo>
                    <a:pt x="6951" y="0"/>
                  </a:lnTo>
                  <a:lnTo>
                    <a:pt x="0" y="256031"/>
                  </a:lnTo>
                  <a:lnTo>
                    <a:pt x="28193" y="256793"/>
                  </a:lnTo>
                  <a:lnTo>
                    <a:pt x="351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385" y="6332220"/>
              <a:ext cx="85343" cy="18668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337323" y="5817422"/>
            <a:ext cx="1223122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r>
              <a:rPr sz="2118" spc="-2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latin typeface="Wingdings"/>
                <a:cs typeface="Wingdings"/>
              </a:rPr>
              <a:t></a:t>
            </a:r>
            <a:r>
              <a:rPr sz="2118" spc="84" dirty="0">
                <a:latin typeface="Times New Roman"/>
                <a:cs typeface="Times New Roman"/>
              </a:rPr>
              <a:t> </a:t>
            </a:r>
            <a:r>
              <a:rPr sz="2118" spc="-44" dirty="0">
                <a:latin typeface="Comic Sans MS"/>
                <a:cs typeface="Comic Sans MS"/>
              </a:rPr>
              <a:t>?</a:t>
            </a:r>
            <a:endParaRPr sz="2118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01889" y="5801957"/>
            <a:ext cx="1182781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dirty="0">
                <a:latin typeface="Comic Sans MS"/>
                <a:cs typeface="Comic Sans MS"/>
              </a:rPr>
              <a:t>?</a:t>
            </a:r>
            <a:r>
              <a:rPr sz="2118" spc="-18" dirty="0">
                <a:latin typeface="Comic Sans MS"/>
                <a:cs typeface="Comic Sans MS"/>
              </a:rPr>
              <a:t> </a:t>
            </a:r>
            <a:r>
              <a:rPr sz="2118" dirty="0">
                <a:latin typeface="Wingdings"/>
                <a:cs typeface="Wingdings"/>
              </a:rPr>
              <a:t></a:t>
            </a:r>
            <a:r>
              <a:rPr sz="2118" spc="97" dirty="0">
                <a:latin typeface="Times New Roman"/>
                <a:cs typeface="Times New Roman"/>
              </a:rPr>
              <a:t> </a:t>
            </a:r>
            <a:r>
              <a:rPr sz="2118" spc="-18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endParaRPr sz="2118">
              <a:latin typeface="Comic Sans MS"/>
              <a:cs typeface="Comic Sans MS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753" y="526393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2130686"/>
            <a:ext cx="8068235" cy="865094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008753" y="1151292"/>
            <a:ext cx="6325160" cy="1653957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algn="just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Coke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vs.</a:t>
            </a:r>
            <a:r>
              <a:rPr sz="2824" spc="-49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Pepsi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Example</a:t>
            </a:r>
            <a:r>
              <a:rPr sz="2824" spc="-4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(cont)</a:t>
            </a:r>
            <a:endParaRPr sz="2118">
              <a:latin typeface="Arial MT"/>
              <a:cs typeface="Arial MT"/>
            </a:endParaRPr>
          </a:p>
          <a:p>
            <a:pPr marL="50429" marR="4483" algn="just">
              <a:spcBef>
                <a:spcPts val="1769"/>
              </a:spcBef>
            </a:pPr>
            <a:r>
              <a:rPr sz="2118" dirty="0">
                <a:latin typeface="Comic Sans MS"/>
                <a:cs typeface="Comic Sans MS"/>
              </a:rPr>
              <a:t>Given</a:t>
            </a:r>
            <a:r>
              <a:rPr sz="2118" spc="-49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person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currently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a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2118" spc="-40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2118" spc="-9" dirty="0">
                <a:latin typeface="Comic Sans MS"/>
                <a:cs typeface="Comic Sans MS"/>
              </a:rPr>
              <a:t>purchaser, </a:t>
            </a:r>
            <a:r>
              <a:rPr sz="2118" dirty="0">
                <a:latin typeface="Comic Sans MS"/>
                <a:cs typeface="Comic Sans MS"/>
              </a:rPr>
              <a:t>what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is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the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probability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that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he</a:t>
            </a:r>
            <a:r>
              <a:rPr sz="2118" spc="-40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will</a:t>
            </a:r>
            <a:r>
              <a:rPr sz="2118" spc="-35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</a:t>
            </a:r>
            <a:r>
              <a:rPr sz="2118" spc="-44" dirty="0">
                <a:latin typeface="Comic Sans MS"/>
                <a:cs typeface="Comic Sans MS"/>
              </a:rPr>
              <a:t> </a:t>
            </a:r>
            <a:r>
              <a:rPr sz="2118" spc="-9" dirty="0">
                <a:solidFill>
                  <a:srgbClr val="3333CC"/>
                </a:solidFill>
                <a:latin typeface="Comic Sans MS"/>
                <a:cs typeface="Comic Sans MS"/>
              </a:rPr>
              <a:t>Pepsi </a:t>
            </a:r>
            <a:r>
              <a:rPr sz="2118" b="1" spc="-9" dirty="0">
                <a:solidFill>
                  <a:srgbClr val="9A3300"/>
                </a:solidFill>
                <a:latin typeface="Comic Sans MS"/>
                <a:cs typeface="Comic Sans MS"/>
              </a:rPr>
              <a:t>three</a:t>
            </a:r>
            <a:r>
              <a:rPr sz="2118" b="1" spc="-304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purchases</a:t>
            </a:r>
            <a:r>
              <a:rPr sz="2118" spc="-4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from</a:t>
            </a:r>
            <a:r>
              <a:rPr sz="2118" spc="13" dirty="0">
                <a:latin typeface="Comic Sans MS"/>
                <a:cs typeface="Comic Sans MS"/>
              </a:rPr>
              <a:t> </a:t>
            </a:r>
            <a:r>
              <a:rPr sz="2118" spc="-18" dirty="0">
                <a:latin typeface="Comic Sans MS"/>
                <a:cs typeface="Comic Sans MS"/>
              </a:rPr>
              <a:t>now?</a:t>
            </a:r>
            <a:endParaRPr sz="2118">
              <a:latin typeface="Comic Sans MS"/>
              <a:cs typeface="Comic Sans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7883" y="3304614"/>
            <a:ext cx="8068235" cy="1418665"/>
            <a:chOff x="457200" y="3745229"/>
            <a:chExt cx="9144000" cy="1607820"/>
          </a:xfrm>
        </p:grpSpPr>
        <p:sp>
          <p:nvSpPr>
            <p:cNvPr id="6" name="object 6"/>
            <p:cNvSpPr/>
            <p:nvPr/>
          </p:nvSpPr>
          <p:spPr>
            <a:xfrm>
              <a:off x="7829550" y="3745229"/>
              <a:ext cx="1191260" cy="628650"/>
            </a:xfrm>
            <a:custGeom>
              <a:avLst/>
              <a:gdLst/>
              <a:ahLst/>
              <a:cxnLst/>
              <a:rect l="l" t="t" r="r" b="b"/>
              <a:pathLst>
                <a:path w="1191259" h="628650">
                  <a:moveTo>
                    <a:pt x="601979" y="25317"/>
                  </a:moveTo>
                  <a:lnTo>
                    <a:pt x="601979" y="1523"/>
                  </a:lnTo>
                  <a:lnTo>
                    <a:pt x="595883" y="0"/>
                  </a:lnTo>
                  <a:lnTo>
                    <a:pt x="527571" y="1829"/>
                  </a:lnTo>
                  <a:lnTo>
                    <a:pt x="485840" y="5361"/>
                  </a:lnTo>
                  <a:lnTo>
                    <a:pt x="485369" y="5402"/>
                  </a:lnTo>
                  <a:lnTo>
                    <a:pt x="484024" y="5519"/>
                  </a:lnTo>
                  <a:lnTo>
                    <a:pt x="440883" y="11622"/>
                  </a:lnTo>
                  <a:lnTo>
                    <a:pt x="440182" y="11721"/>
                  </a:lnTo>
                  <a:lnTo>
                    <a:pt x="394932" y="20539"/>
                  </a:lnTo>
                  <a:lnTo>
                    <a:pt x="348985" y="32021"/>
                  </a:lnTo>
                  <a:lnTo>
                    <a:pt x="303051" y="46216"/>
                  </a:lnTo>
                  <a:lnTo>
                    <a:pt x="257840" y="63174"/>
                  </a:lnTo>
                  <a:lnTo>
                    <a:pt x="214064" y="82943"/>
                  </a:lnTo>
                  <a:lnTo>
                    <a:pt x="172433" y="105574"/>
                  </a:lnTo>
                  <a:lnTo>
                    <a:pt x="133658" y="131115"/>
                  </a:lnTo>
                  <a:lnTo>
                    <a:pt x="98448" y="159615"/>
                  </a:lnTo>
                  <a:lnTo>
                    <a:pt x="67515" y="191125"/>
                  </a:lnTo>
                  <a:lnTo>
                    <a:pt x="41569" y="225692"/>
                  </a:lnTo>
                  <a:lnTo>
                    <a:pt x="21322" y="263366"/>
                  </a:lnTo>
                  <a:lnTo>
                    <a:pt x="7482" y="304197"/>
                  </a:lnTo>
                  <a:lnTo>
                    <a:pt x="761" y="348233"/>
                  </a:lnTo>
                  <a:lnTo>
                    <a:pt x="0" y="357377"/>
                  </a:lnTo>
                  <a:lnTo>
                    <a:pt x="1524" y="376427"/>
                  </a:lnTo>
                  <a:lnTo>
                    <a:pt x="9953" y="419379"/>
                  </a:lnTo>
                  <a:lnTo>
                    <a:pt x="25084" y="459134"/>
                  </a:lnTo>
                  <a:lnTo>
                    <a:pt x="25907" y="460558"/>
                  </a:lnTo>
                  <a:lnTo>
                    <a:pt x="25907" y="348995"/>
                  </a:lnTo>
                  <a:lnTo>
                    <a:pt x="33409" y="305289"/>
                  </a:lnTo>
                  <a:lnTo>
                    <a:pt x="48668" y="264998"/>
                  </a:lnTo>
                  <a:lnTo>
                    <a:pt x="70833" y="228064"/>
                  </a:lnTo>
                  <a:lnTo>
                    <a:pt x="99054" y="194431"/>
                  </a:lnTo>
                  <a:lnTo>
                    <a:pt x="132483" y="164041"/>
                  </a:lnTo>
                  <a:lnTo>
                    <a:pt x="170269" y="136837"/>
                  </a:lnTo>
                  <a:lnTo>
                    <a:pt x="211561" y="112761"/>
                  </a:lnTo>
                  <a:lnTo>
                    <a:pt x="255511" y="91757"/>
                  </a:lnTo>
                  <a:lnTo>
                    <a:pt x="301268" y="73767"/>
                  </a:lnTo>
                  <a:lnTo>
                    <a:pt x="347982" y="58733"/>
                  </a:lnTo>
                  <a:lnTo>
                    <a:pt x="394804" y="46598"/>
                  </a:lnTo>
                  <a:lnTo>
                    <a:pt x="440883" y="37306"/>
                  </a:lnTo>
                  <a:lnTo>
                    <a:pt x="485369" y="30798"/>
                  </a:lnTo>
                  <a:lnTo>
                    <a:pt x="525747" y="27168"/>
                  </a:lnTo>
                  <a:lnTo>
                    <a:pt x="564642" y="25951"/>
                  </a:lnTo>
                  <a:lnTo>
                    <a:pt x="589026" y="25321"/>
                  </a:lnTo>
                  <a:lnTo>
                    <a:pt x="589026" y="23621"/>
                  </a:lnTo>
                  <a:lnTo>
                    <a:pt x="595122" y="24976"/>
                  </a:lnTo>
                  <a:lnTo>
                    <a:pt x="595507" y="25062"/>
                  </a:lnTo>
                  <a:lnTo>
                    <a:pt x="595883" y="25145"/>
                  </a:lnTo>
                  <a:lnTo>
                    <a:pt x="597407" y="25203"/>
                  </a:lnTo>
                  <a:lnTo>
                    <a:pt x="601979" y="25317"/>
                  </a:lnTo>
                  <a:close/>
                </a:path>
                <a:path w="1191259" h="628650">
                  <a:moveTo>
                    <a:pt x="270599" y="628649"/>
                  </a:moveTo>
                  <a:lnTo>
                    <a:pt x="214973" y="603595"/>
                  </a:lnTo>
                  <a:lnTo>
                    <a:pt x="173979" y="580222"/>
                  </a:lnTo>
                  <a:lnTo>
                    <a:pt x="136333" y="553793"/>
                  </a:lnTo>
                  <a:lnTo>
                    <a:pt x="102843" y="524238"/>
                  </a:lnTo>
                  <a:lnTo>
                    <a:pt x="74322" y="491488"/>
                  </a:lnTo>
                  <a:lnTo>
                    <a:pt x="51579" y="455475"/>
                  </a:lnTo>
                  <a:lnTo>
                    <a:pt x="35425" y="416128"/>
                  </a:lnTo>
                  <a:lnTo>
                    <a:pt x="26670" y="373379"/>
                  </a:lnTo>
                  <a:lnTo>
                    <a:pt x="25907" y="364998"/>
                  </a:lnTo>
                  <a:lnTo>
                    <a:pt x="25907" y="460558"/>
                  </a:lnTo>
                  <a:lnTo>
                    <a:pt x="46247" y="495753"/>
                  </a:lnTo>
                  <a:lnTo>
                    <a:pt x="72772" y="529297"/>
                  </a:lnTo>
                  <a:lnTo>
                    <a:pt x="103989" y="559826"/>
                  </a:lnTo>
                  <a:lnTo>
                    <a:pt x="139227" y="587401"/>
                  </a:lnTo>
                  <a:lnTo>
                    <a:pt x="177817" y="612083"/>
                  </a:lnTo>
                  <a:lnTo>
                    <a:pt x="209112" y="628649"/>
                  </a:lnTo>
                  <a:lnTo>
                    <a:pt x="270599" y="628649"/>
                  </a:lnTo>
                  <a:close/>
                </a:path>
                <a:path w="1191259" h="628650">
                  <a:moveTo>
                    <a:pt x="595507" y="25155"/>
                  </a:moveTo>
                  <a:lnTo>
                    <a:pt x="595122" y="24976"/>
                  </a:lnTo>
                  <a:lnTo>
                    <a:pt x="589026" y="23621"/>
                  </a:lnTo>
                  <a:lnTo>
                    <a:pt x="589788" y="24130"/>
                  </a:lnTo>
                  <a:lnTo>
                    <a:pt x="591159" y="25147"/>
                  </a:lnTo>
                  <a:lnTo>
                    <a:pt x="595507" y="25155"/>
                  </a:lnTo>
                  <a:close/>
                </a:path>
                <a:path w="1191259" h="628650">
                  <a:moveTo>
                    <a:pt x="591159" y="25195"/>
                  </a:moveTo>
                  <a:lnTo>
                    <a:pt x="591159" y="25044"/>
                  </a:lnTo>
                  <a:lnTo>
                    <a:pt x="589026" y="23621"/>
                  </a:lnTo>
                  <a:lnTo>
                    <a:pt x="589026" y="25321"/>
                  </a:lnTo>
                  <a:lnTo>
                    <a:pt x="591159" y="25195"/>
                  </a:lnTo>
                  <a:close/>
                </a:path>
                <a:path w="1191259" h="628650">
                  <a:moveTo>
                    <a:pt x="601218" y="1333"/>
                  </a:moveTo>
                  <a:lnTo>
                    <a:pt x="597407" y="38"/>
                  </a:lnTo>
                  <a:lnTo>
                    <a:pt x="595883" y="0"/>
                  </a:lnTo>
                  <a:lnTo>
                    <a:pt x="601218" y="1333"/>
                  </a:lnTo>
                  <a:close/>
                </a:path>
                <a:path w="1191259" h="628650">
                  <a:moveTo>
                    <a:pt x="1191005" y="366521"/>
                  </a:moveTo>
                  <a:lnTo>
                    <a:pt x="1191005" y="347471"/>
                  </a:lnTo>
                  <a:lnTo>
                    <a:pt x="1183671" y="302376"/>
                  </a:lnTo>
                  <a:lnTo>
                    <a:pt x="1168914" y="260677"/>
                  </a:lnTo>
                  <a:lnTo>
                    <a:pt x="1147512" y="222316"/>
                  </a:lnTo>
                  <a:lnTo>
                    <a:pt x="1120245" y="187236"/>
                  </a:lnTo>
                  <a:lnTo>
                    <a:pt x="1087893" y="155380"/>
                  </a:lnTo>
                  <a:lnTo>
                    <a:pt x="1051234" y="126690"/>
                  </a:lnTo>
                  <a:lnTo>
                    <a:pt x="1011048" y="101110"/>
                  </a:lnTo>
                  <a:lnTo>
                    <a:pt x="968114" y="78582"/>
                  </a:lnTo>
                  <a:lnTo>
                    <a:pt x="923211" y="59048"/>
                  </a:lnTo>
                  <a:lnTo>
                    <a:pt x="877380" y="42546"/>
                  </a:lnTo>
                  <a:lnTo>
                    <a:pt x="830819" y="28783"/>
                  </a:lnTo>
                  <a:lnTo>
                    <a:pt x="784625" y="17876"/>
                  </a:lnTo>
                  <a:lnTo>
                    <a:pt x="739494" y="9713"/>
                  </a:lnTo>
                  <a:lnTo>
                    <a:pt x="696434" y="4293"/>
                  </a:lnTo>
                  <a:lnTo>
                    <a:pt x="656081" y="1524"/>
                  </a:lnTo>
                  <a:lnTo>
                    <a:pt x="609600" y="347"/>
                  </a:lnTo>
                  <a:lnTo>
                    <a:pt x="605790" y="250"/>
                  </a:lnTo>
                  <a:lnTo>
                    <a:pt x="602132" y="158"/>
                  </a:lnTo>
                  <a:lnTo>
                    <a:pt x="597407" y="38"/>
                  </a:lnTo>
                  <a:lnTo>
                    <a:pt x="601218" y="1333"/>
                  </a:lnTo>
                  <a:lnTo>
                    <a:pt x="601979" y="1523"/>
                  </a:lnTo>
                  <a:lnTo>
                    <a:pt x="601979" y="25317"/>
                  </a:lnTo>
                  <a:lnTo>
                    <a:pt x="653796" y="27391"/>
                  </a:lnTo>
                  <a:lnTo>
                    <a:pt x="693834" y="29692"/>
                  </a:lnTo>
                  <a:lnTo>
                    <a:pt x="737269" y="34997"/>
                  </a:lnTo>
                  <a:lnTo>
                    <a:pt x="783115" y="43384"/>
                  </a:lnTo>
                  <a:lnTo>
                    <a:pt x="830388" y="54879"/>
                  </a:lnTo>
                  <a:lnTo>
                    <a:pt x="878105" y="69516"/>
                  </a:lnTo>
                  <a:lnTo>
                    <a:pt x="925280" y="87330"/>
                  </a:lnTo>
                  <a:lnTo>
                    <a:pt x="970930" y="108356"/>
                  </a:lnTo>
                  <a:lnTo>
                    <a:pt x="1014071" y="132631"/>
                  </a:lnTo>
                  <a:lnTo>
                    <a:pt x="1053718" y="160194"/>
                  </a:lnTo>
                  <a:lnTo>
                    <a:pt x="1088886" y="191084"/>
                  </a:lnTo>
                  <a:lnTo>
                    <a:pt x="1118593" y="225341"/>
                  </a:lnTo>
                  <a:lnTo>
                    <a:pt x="1141853" y="263012"/>
                  </a:lnTo>
                  <a:lnTo>
                    <a:pt x="1157683" y="304162"/>
                  </a:lnTo>
                  <a:lnTo>
                    <a:pt x="1157683" y="304440"/>
                  </a:lnTo>
                  <a:lnTo>
                    <a:pt x="1165098" y="348995"/>
                  </a:lnTo>
                  <a:lnTo>
                    <a:pt x="1165859" y="357377"/>
                  </a:lnTo>
                  <a:lnTo>
                    <a:pt x="1165859" y="459256"/>
                  </a:lnTo>
                  <a:lnTo>
                    <a:pt x="1169177" y="453285"/>
                  </a:lnTo>
                  <a:lnTo>
                    <a:pt x="1183821" y="411588"/>
                  </a:lnTo>
                  <a:lnTo>
                    <a:pt x="1191005" y="366521"/>
                  </a:lnTo>
                  <a:close/>
                </a:path>
                <a:path w="1191259" h="628650">
                  <a:moveTo>
                    <a:pt x="1165859" y="459256"/>
                  </a:moveTo>
                  <a:lnTo>
                    <a:pt x="1165859" y="357377"/>
                  </a:lnTo>
                  <a:lnTo>
                    <a:pt x="1165098" y="365759"/>
                  </a:lnTo>
                  <a:lnTo>
                    <a:pt x="1157683" y="410551"/>
                  </a:lnTo>
                  <a:lnTo>
                    <a:pt x="1141853" y="451759"/>
                  </a:lnTo>
                  <a:lnTo>
                    <a:pt x="1118593" y="489440"/>
                  </a:lnTo>
                  <a:lnTo>
                    <a:pt x="1088886" y="523651"/>
                  </a:lnTo>
                  <a:lnTo>
                    <a:pt x="1053718" y="554449"/>
                  </a:lnTo>
                  <a:lnTo>
                    <a:pt x="1014071" y="581888"/>
                  </a:lnTo>
                  <a:lnTo>
                    <a:pt x="970930" y="606028"/>
                  </a:lnTo>
                  <a:lnTo>
                    <a:pt x="925280" y="626922"/>
                  </a:lnTo>
                  <a:lnTo>
                    <a:pt x="920679" y="628649"/>
                  </a:lnTo>
                  <a:lnTo>
                    <a:pt x="981761" y="628649"/>
                  </a:lnTo>
                  <a:lnTo>
                    <a:pt x="1051649" y="587422"/>
                  </a:lnTo>
                  <a:lnTo>
                    <a:pt x="1088308" y="558681"/>
                  </a:lnTo>
                  <a:lnTo>
                    <a:pt x="1120637" y="526780"/>
                  </a:lnTo>
                  <a:lnTo>
                    <a:pt x="1147854" y="491665"/>
                  </a:lnTo>
                  <a:lnTo>
                    <a:pt x="1165859" y="459256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437311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0677" y="3384625"/>
          <a:ext cx="7534273" cy="1255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5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3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34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4600" baseline="-40476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4600" spc="-22" baseline="-404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600" spc="-30" baseline="-3968" dirty="0">
                          <a:latin typeface="Symbol"/>
                          <a:cs typeface="Symbol"/>
                        </a:rPr>
                        <a:t></a:t>
                      </a:r>
                      <a:r>
                        <a:rPr sz="3100" spc="-20" dirty="0">
                          <a:latin typeface="Times New Roman"/>
                          <a:cs typeface="Times New Roman"/>
                        </a:rPr>
                        <a:t>0.9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0.1</a:t>
                      </a:r>
                      <a:r>
                        <a:rPr sz="4600" spc="-15" baseline="-3968" dirty="0">
                          <a:latin typeface="Symbol"/>
                          <a:cs typeface="Symbol"/>
                        </a:rPr>
                        <a:t></a:t>
                      </a: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0.83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0.17</a:t>
                      </a:r>
                      <a:r>
                        <a:rPr sz="4600" spc="-15" baseline="-3968" dirty="0">
                          <a:latin typeface="Symbol"/>
                          <a:cs typeface="Symbol"/>
                        </a:rPr>
                        <a:t></a:t>
                      </a:r>
                      <a:endParaRPr sz="4600" baseline="-3968">
                        <a:latin typeface="Symbol"/>
                        <a:cs typeface="Symbol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187325" algn="r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4600" baseline="-40476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4600" spc="-22" baseline="-404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600" spc="-15" baseline="-3968" dirty="0">
                          <a:latin typeface="Symbol"/>
                          <a:cs typeface="Symbol"/>
                        </a:rPr>
                        <a:t></a:t>
                      </a: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0.781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4065"/>
                        </a:lnSpc>
                        <a:spcBef>
                          <a:spcPts val="6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0.219</a:t>
                      </a:r>
                      <a:r>
                        <a:rPr sz="4600" spc="-15" baseline="-3968" dirty="0">
                          <a:latin typeface="Symbol"/>
                          <a:cs typeface="Symbol"/>
                        </a:rPr>
                        <a:t></a:t>
                      </a:r>
                      <a:endParaRPr sz="4600" baseline="-3968">
                        <a:latin typeface="Symbol"/>
                        <a:cs typeface="Symbol"/>
                      </a:endParaRPr>
                    </a:p>
                  </a:txBody>
                  <a:tcPr marL="0" marR="0" marT="7284" marB="0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898">
                <a:tc gridSpan="2">
                  <a:txBody>
                    <a:bodyPr/>
                    <a:lstStyle/>
                    <a:p>
                      <a:pPr marL="1000125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4600" spc="-30" baseline="26190" dirty="0">
                          <a:latin typeface="Symbol"/>
                          <a:cs typeface="Symbol"/>
                        </a:rPr>
                        <a:t></a:t>
                      </a:r>
                      <a:r>
                        <a:rPr sz="3100" spc="-20" dirty="0">
                          <a:latin typeface="Times New Roman"/>
                          <a:cs typeface="Times New Roman"/>
                        </a:rPr>
                        <a:t>0.2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0.8</a:t>
                      </a:r>
                      <a:r>
                        <a:rPr sz="4600" spc="-15" baseline="26190" dirty="0">
                          <a:latin typeface="Symbol"/>
                          <a:cs typeface="Symbol"/>
                        </a:rPr>
                        <a:t></a:t>
                      </a: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0.34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0.66</a:t>
                      </a:r>
                      <a:r>
                        <a:rPr sz="4600" spc="-15" baseline="26190" dirty="0">
                          <a:latin typeface="Symbol"/>
                          <a:cs typeface="Symbol"/>
                        </a:rPr>
                        <a:t></a:t>
                      </a:r>
                      <a:endParaRPr sz="4600" baseline="26190">
                        <a:latin typeface="Symbol"/>
                        <a:cs typeface="Symbol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200660" algn="r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4600" spc="-15" baseline="26190" dirty="0">
                          <a:latin typeface="Symbol"/>
                          <a:cs typeface="Symbol"/>
                        </a:rPr>
                        <a:t></a:t>
                      </a: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0.438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2435"/>
                        </a:lnSpc>
                        <a:spcBef>
                          <a:spcPts val="1095"/>
                        </a:spcBef>
                      </a:pPr>
                      <a:r>
                        <a:rPr sz="3100" spc="-10" dirty="0">
                          <a:latin typeface="Times New Roman"/>
                          <a:cs typeface="Times New Roman"/>
                        </a:rPr>
                        <a:t>0.562</a:t>
                      </a:r>
                      <a:r>
                        <a:rPr sz="4600" spc="-15" baseline="26190" dirty="0">
                          <a:latin typeface="Symbol"/>
                          <a:cs typeface="Symbol"/>
                        </a:rPr>
                        <a:t></a:t>
                      </a:r>
                      <a:endParaRPr sz="4600" baseline="26190">
                        <a:latin typeface="Symbol"/>
                        <a:cs typeface="Symbol"/>
                      </a:endParaRPr>
                    </a:p>
                  </a:txBody>
                  <a:tcPr marL="0" marR="0" marT="122704" marB="0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6">
                <a:tc gridSpan="2">
                  <a:txBody>
                    <a:bodyPr/>
                    <a:lstStyle/>
                    <a:p>
                      <a:pPr marL="234950" algn="ctr">
                        <a:lnSpc>
                          <a:spcPts val="2505"/>
                        </a:lnSpc>
                      </a:pPr>
                      <a:r>
                        <a:rPr sz="3100" spc="-50" dirty="0">
                          <a:latin typeface="Symbol"/>
                          <a:cs typeface="Symbol"/>
                        </a:rPr>
                        <a:t>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1615" algn="ctr">
                        <a:lnSpc>
                          <a:spcPts val="2505"/>
                        </a:lnSpc>
                      </a:pPr>
                      <a:r>
                        <a:rPr sz="3100" spc="95" dirty="0">
                          <a:latin typeface="Symbol"/>
                          <a:cs typeface="Symbol"/>
                        </a:rPr>
                        <a:t>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2505"/>
                        </a:lnSpc>
                      </a:pPr>
                      <a:r>
                        <a:rPr sz="3100" spc="-50" dirty="0">
                          <a:latin typeface="Symbol"/>
                          <a:cs typeface="Symbol"/>
                        </a:rPr>
                        <a:t>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ts val="2505"/>
                        </a:lnSpc>
                      </a:pPr>
                      <a:r>
                        <a:rPr sz="3100" spc="-50" dirty="0">
                          <a:latin typeface="Symbol"/>
                          <a:cs typeface="Symbol"/>
                        </a:rPr>
                        <a:t>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2505"/>
                        </a:lnSpc>
                      </a:pPr>
                      <a:r>
                        <a:rPr sz="3100" spc="-50" dirty="0">
                          <a:latin typeface="Symbol"/>
                          <a:cs typeface="Symbol"/>
                        </a:rPr>
                        <a:t></a:t>
                      </a:r>
                      <a:endParaRPr sz="3100">
                        <a:latin typeface="Symbol"/>
                        <a:cs typeface="Symbol"/>
                      </a:endParaRPr>
                    </a:p>
                  </a:txBody>
                  <a:tcPr marL="0" marR="0" marT="0" marB="0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227408" y="3859305"/>
            <a:ext cx="681878" cy="76200"/>
          </a:xfrm>
          <a:custGeom>
            <a:avLst/>
            <a:gdLst/>
            <a:ahLst/>
            <a:cxnLst/>
            <a:rect l="l" t="t" r="r" b="b"/>
            <a:pathLst>
              <a:path w="772795" h="86360">
                <a:moveTo>
                  <a:pt x="380675" y="60198"/>
                </a:moveTo>
                <a:lnTo>
                  <a:pt x="318459" y="58786"/>
                </a:lnTo>
                <a:lnTo>
                  <a:pt x="276727" y="54872"/>
                </a:lnTo>
                <a:lnTo>
                  <a:pt x="233111" y="48449"/>
                </a:lnTo>
                <a:lnTo>
                  <a:pt x="187098" y="39256"/>
                </a:lnTo>
                <a:lnTo>
                  <a:pt x="140820" y="27417"/>
                </a:lnTo>
                <a:lnTo>
                  <a:pt x="94648" y="12799"/>
                </a:lnTo>
                <a:lnTo>
                  <a:pt x="61487" y="0"/>
                </a:lnTo>
                <a:lnTo>
                  <a:pt x="0" y="0"/>
                </a:lnTo>
                <a:lnTo>
                  <a:pt x="53260" y="24357"/>
                </a:lnTo>
                <a:lnTo>
                  <a:pt x="97885" y="40721"/>
                </a:lnTo>
                <a:lnTo>
                  <a:pt x="143182" y="54433"/>
                </a:lnTo>
                <a:lnTo>
                  <a:pt x="188480" y="65555"/>
                </a:lnTo>
                <a:lnTo>
                  <a:pt x="232670" y="74061"/>
                </a:lnTo>
                <a:lnTo>
                  <a:pt x="233111" y="74146"/>
                </a:lnTo>
                <a:lnTo>
                  <a:pt x="276257" y="80247"/>
                </a:lnTo>
                <a:lnTo>
                  <a:pt x="316635" y="83885"/>
                </a:lnTo>
                <a:lnTo>
                  <a:pt x="355529" y="85317"/>
                </a:lnTo>
                <a:lnTo>
                  <a:pt x="372293" y="85754"/>
                </a:lnTo>
                <a:lnTo>
                  <a:pt x="372293" y="73914"/>
                </a:lnTo>
                <a:lnTo>
                  <a:pt x="374579" y="68580"/>
                </a:lnTo>
                <a:lnTo>
                  <a:pt x="376103" y="64008"/>
                </a:lnTo>
                <a:lnTo>
                  <a:pt x="380675" y="60198"/>
                </a:lnTo>
                <a:close/>
              </a:path>
              <a:path w="772795" h="86360">
                <a:moveTo>
                  <a:pt x="386771" y="60198"/>
                </a:moveTo>
                <a:lnTo>
                  <a:pt x="380675" y="60198"/>
                </a:lnTo>
                <a:lnTo>
                  <a:pt x="376103" y="64008"/>
                </a:lnTo>
                <a:lnTo>
                  <a:pt x="374579" y="68580"/>
                </a:lnTo>
                <a:lnTo>
                  <a:pt x="372293" y="73914"/>
                </a:lnTo>
                <a:lnTo>
                  <a:pt x="373817" y="79248"/>
                </a:lnTo>
                <a:lnTo>
                  <a:pt x="378389" y="83058"/>
                </a:lnTo>
                <a:lnTo>
                  <a:pt x="386771" y="60198"/>
                </a:lnTo>
                <a:close/>
              </a:path>
              <a:path w="772795" h="86360">
                <a:moveTo>
                  <a:pt x="772649" y="0"/>
                </a:moveTo>
                <a:lnTo>
                  <a:pt x="711567" y="0"/>
                </a:lnTo>
                <a:lnTo>
                  <a:pt x="668993" y="15979"/>
                </a:lnTo>
                <a:lnTo>
                  <a:pt x="621276" y="30555"/>
                </a:lnTo>
                <a:lnTo>
                  <a:pt x="574206" y="42006"/>
                </a:lnTo>
                <a:lnTo>
                  <a:pt x="528491" y="50476"/>
                </a:lnTo>
                <a:lnTo>
                  <a:pt x="528157" y="50538"/>
                </a:lnTo>
                <a:lnTo>
                  <a:pt x="485240" y="55993"/>
                </a:lnTo>
                <a:lnTo>
                  <a:pt x="484722" y="56059"/>
                </a:lnTo>
                <a:lnTo>
                  <a:pt x="446969" y="58524"/>
                </a:lnTo>
                <a:lnTo>
                  <a:pt x="445445" y="58624"/>
                </a:lnTo>
                <a:lnTo>
                  <a:pt x="444683" y="58674"/>
                </a:lnTo>
                <a:lnTo>
                  <a:pt x="400487" y="59821"/>
                </a:lnTo>
                <a:lnTo>
                  <a:pt x="396677" y="59920"/>
                </a:lnTo>
                <a:lnTo>
                  <a:pt x="393020" y="60015"/>
                </a:lnTo>
                <a:lnTo>
                  <a:pt x="388295" y="60138"/>
                </a:lnTo>
                <a:lnTo>
                  <a:pt x="386771" y="60198"/>
                </a:lnTo>
                <a:lnTo>
                  <a:pt x="378389" y="83058"/>
                </a:lnTo>
                <a:lnTo>
                  <a:pt x="373817" y="79248"/>
                </a:lnTo>
                <a:lnTo>
                  <a:pt x="372293" y="73914"/>
                </a:lnTo>
                <a:lnTo>
                  <a:pt x="372293" y="85754"/>
                </a:lnTo>
                <a:lnTo>
                  <a:pt x="376103" y="85852"/>
                </a:lnTo>
                <a:lnTo>
                  <a:pt x="380675" y="85969"/>
                </a:lnTo>
                <a:lnTo>
                  <a:pt x="382369" y="86012"/>
                </a:lnTo>
                <a:lnTo>
                  <a:pt x="386771" y="86106"/>
                </a:lnTo>
                <a:lnTo>
                  <a:pt x="386771" y="85344"/>
                </a:lnTo>
                <a:lnTo>
                  <a:pt x="394391" y="63246"/>
                </a:lnTo>
                <a:lnTo>
                  <a:pt x="398963" y="66294"/>
                </a:lnTo>
                <a:lnTo>
                  <a:pt x="400487" y="72390"/>
                </a:lnTo>
                <a:lnTo>
                  <a:pt x="400487" y="85344"/>
                </a:lnTo>
                <a:lnTo>
                  <a:pt x="417251" y="85344"/>
                </a:lnTo>
                <a:lnTo>
                  <a:pt x="487322" y="81178"/>
                </a:lnTo>
                <a:lnTo>
                  <a:pt x="530382" y="75852"/>
                </a:lnTo>
                <a:lnTo>
                  <a:pt x="575368" y="67790"/>
                </a:lnTo>
                <a:lnTo>
                  <a:pt x="621276" y="56992"/>
                </a:lnTo>
                <a:lnTo>
                  <a:pt x="668006" y="43248"/>
                </a:lnTo>
                <a:lnTo>
                  <a:pt x="714098" y="26665"/>
                </a:lnTo>
                <a:lnTo>
                  <a:pt x="714415" y="26551"/>
                </a:lnTo>
                <a:lnTo>
                  <a:pt x="759364" y="6980"/>
                </a:lnTo>
                <a:lnTo>
                  <a:pt x="772649" y="0"/>
                </a:lnTo>
                <a:close/>
              </a:path>
              <a:path w="772795" h="86360">
                <a:moveTo>
                  <a:pt x="400487" y="72390"/>
                </a:moveTo>
                <a:lnTo>
                  <a:pt x="398963" y="66294"/>
                </a:lnTo>
                <a:lnTo>
                  <a:pt x="394391" y="63246"/>
                </a:lnTo>
                <a:lnTo>
                  <a:pt x="386771" y="85344"/>
                </a:lnTo>
                <a:lnTo>
                  <a:pt x="393020" y="85344"/>
                </a:lnTo>
                <a:lnTo>
                  <a:pt x="396677" y="82296"/>
                </a:lnTo>
                <a:lnTo>
                  <a:pt x="398201" y="77724"/>
                </a:lnTo>
                <a:lnTo>
                  <a:pt x="400487" y="72390"/>
                </a:lnTo>
                <a:close/>
              </a:path>
              <a:path w="772795" h="86360">
                <a:moveTo>
                  <a:pt x="393020" y="85344"/>
                </a:moveTo>
                <a:lnTo>
                  <a:pt x="386771" y="85344"/>
                </a:lnTo>
                <a:lnTo>
                  <a:pt x="386771" y="86106"/>
                </a:lnTo>
                <a:lnTo>
                  <a:pt x="392105" y="86106"/>
                </a:lnTo>
                <a:lnTo>
                  <a:pt x="393020" y="85344"/>
                </a:lnTo>
                <a:close/>
              </a:path>
              <a:path w="772795" h="86360">
                <a:moveTo>
                  <a:pt x="400487" y="85344"/>
                </a:moveTo>
                <a:lnTo>
                  <a:pt x="400487" y="72390"/>
                </a:lnTo>
                <a:lnTo>
                  <a:pt x="398201" y="77724"/>
                </a:lnTo>
                <a:lnTo>
                  <a:pt x="396677" y="82296"/>
                </a:lnTo>
                <a:lnTo>
                  <a:pt x="393020" y="85344"/>
                </a:lnTo>
                <a:lnTo>
                  <a:pt x="400487" y="853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  <p:transition spd="med">
    <p:split orient="vert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4693" y="493475"/>
            <a:ext cx="3557307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537883" y="1267385"/>
            <a:ext cx="8068235" cy="863973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9144000" y="979169"/>
                </a:moveTo>
                <a:lnTo>
                  <a:pt x="9144000" y="0"/>
                </a:lnTo>
                <a:lnTo>
                  <a:pt x="0" y="0"/>
                </a:lnTo>
                <a:lnTo>
                  <a:pt x="0" y="979170"/>
                </a:lnTo>
                <a:lnTo>
                  <a:pt x="9144000" y="979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958999" y="1785320"/>
            <a:ext cx="5837144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dirty="0">
                <a:latin typeface="Comic Sans MS"/>
                <a:cs typeface="Comic Sans MS"/>
              </a:rPr>
              <a:t>•Assume</a:t>
            </a:r>
            <a:r>
              <a:rPr sz="1765" spc="-66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each</a:t>
            </a:r>
            <a:r>
              <a:rPr sz="1765" spc="-53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person</a:t>
            </a:r>
            <a:r>
              <a:rPr sz="1765" spc="-44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makes</a:t>
            </a:r>
            <a:r>
              <a:rPr sz="1765" spc="-57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one</a:t>
            </a:r>
            <a:r>
              <a:rPr sz="1765" spc="-53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cola</a:t>
            </a:r>
            <a:r>
              <a:rPr sz="1765" spc="-57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purchase</a:t>
            </a:r>
            <a:r>
              <a:rPr sz="1765" spc="-44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per</a:t>
            </a:r>
            <a:r>
              <a:rPr sz="1765" spc="-53" dirty="0">
                <a:latin typeface="Comic Sans MS"/>
                <a:cs typeface="Comic Sans MS"/>
              </a:rPr>
              <a:t> </a:t>
            </a:r>
            <a:r>
              <a:rPr sz="1765" spc="-18" dirty="0">
                <a:latin typeface="Comic Sans MS"/>
                <a:cs typeface="Comic Sans MS"/>
              </a:rPr>
              <a:t>week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0098" y="1472005"/>
            <a:ext cx="4690782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2824" dirty="0">
                <a:latin typeface="Arial MT"/>
                <a:cs typeface="Arial MT"/>
              </a:rPr>
              <a:t>Coke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vs.</a:t>
            </a:r>
            <a:r>
              <a:rPr sz="2824" spc="-31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Pepsi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Example</a:t>
            </a:r>
            <a:r>
              <a:rPr sz="2824" spc="-13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(cont)</a:t>
            </a:r>
            <a:endParaRPr sz="2118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955" y="2052651"/>
            <a:ext cx="7349938" cy="832520"/>
          </a:xfrm>
          <a:prstGeom prst="rect">
            <a:avLst/>
          </a:prstGeom>
        </p:spPr>
        <p:txBody>
          <a:bodyPr vert="horz" wrap="square" lIns="0" tIns="146797" rIns="0" bIns="0" rtlCol="0">
            <a:spAutoFit/>
          </a:bodyPr>
          <a:lstStyle/>
          <a:p>
            <a:pPr marL="11206">
              <a:spcBef>
                <a:spcPts val="1156"/>
              </a:spcBef>
            </a:pPr>
            <a:r>
              <a:rPr sz="1765" dirty="0">
                <a:latin typeface="Comic Sans MS"/>
                <a:cs typeface="Comic Sans MS"/>
              </a:rPr>
              <a:t>•Suppose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60%</a:t>
            </a:r>
            <a:r>
              <a:rPr sz="1765" spc="-26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of</a:t>
            </a:r>
            <a:r>
              <a:rPr sz="1765" spc="-44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all</a:t>
            </a:r>
            <a:r>
              <a:rPr sz="1765" spc="-22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people</a:t>
            </a:r>
            <a:r>
              <a:rPr sz="1765" spc="-22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now</a:t>
            </a:r>
            <a:r>
              <a:rPr sz="1765" spc="-44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drink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dirty="0">
                <a:latin typeface="Comic Sans MS"/>
                <a:cs typeface="Comic Sans MS"/>
              </a:rPr>
              <a:t>,</a:t>
            </a:r>
            <a:r>
              <a:rPr sz="1765" spc="-44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and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3333CC"/>
                </a:solidFill>
                <a:latin typeface="Comic Sans MS"/>
                <a:cs typeface="Comic Sans MS"/>
              </a:rPr>
              <a:t>40%</a:t>
            </a:r>
            <a:r>
              <a:rPr sz="1765" spc="-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drink</a:t>
            </a:r>
            <a:r>
              <a:rPr sz="1765" spc="-40" dirty="0">
                <a:latin typeface="Comic Sans MS"/>
                <a:cs typeface="Comic Sans MS"/>
              </a:rPr>
              <a:t> </a:t>
            </a:r>
            <a:r>
              <a:rPr sz="1765" spc="-9" dirty="0">
                <a:solidFill>
                  <a:srgbClr val="3333CC"/>
                </a:solidFill>
                <a:latin typeface="Comic Sans MS"/>
                <a:cs typeface="Comic Sans MS"/>
              </a:rPr>
              <a:t>Pepsi</a:t>
            </a:r>
            <a:endParaRPr sz="1765">
              <a:latin typeface="Comic Sans MS"/>
              <a:cs typeface="Comic Sans MS"/>
            </a:endParaRPr>
          </a:p>
          <a:p>
            <a:pPr marL="11206">
              <a:spcBef>
                <a:spcPts val="1072"/>
              </a:spcBef>
            </a:pPr>
            <a:r>
              <a:rPr sz="1765" dirty="0">
                <a:latin typeface="Comic Sans MS"/>
                <a:cs typeface="Comic Sans MS"/>
              </a:rPr>
              <a:t>•What</a:t>
            </a:r>
            <a:r>
              <a:rPr sz="1765" spc="-44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fraction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of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people</a:t>
            </a:r>
            <a:r>
              <a:rPr sz="1765" spc="-18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will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be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drinking</a:t>
            </a:r>
            <a:r>
              <a:rPr sz="1765" spc="-35" dirty="0">
                <a:latin typeface="Comic Sans MS"/>
                <a:cs typeface="Comic Sans MS"/>
              </a:rPr>
              <a:t> </a:t>
            </a:r>
            <a:r>
              <a:rPr sz="1765" dirty="0">
                <a:solidFill>
                  <a:srgbClr val="65659A"/>
                </a:solidFill>
                <a:latin typeface="Comic Sans MS"/>
                <a:cs typeface="Comic Sans MS"/>
              </a:rPr>
              <a:t>Coke</a:t>
            </a:r>
            <a:r>
              <a:rPr sz="1765" spc="-40" dirty="0">
                <a:solidFill>
                  <a:srgbClr val="65659A"/>
                </a:solidFill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three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weeks</a:t>
            </a:r>
            <a:r>
              <a:rPr sz="1765" spc="-31" dirty="0">
                <a:latin typeface="Comic Sans MS"/>
                <a:cs typeface="Comic Sans MS"/>
              </a:rPr>
              <a:t> </a:t>
            </a:r>
            <a:r>
              <a:rPr sz="1765" dirty="0">
                <a:latin typeface="Comic Sans MS"/>
                <a:cs typeface="Comic Sans MS"/>
              </a:rPr>
              <a:t>from</a:t>
            </a:r>
            <a:r>
              <a:rPr sz="1765" spc="-40" dirty="0">
                <a:latin typeface="Comic Sans MS"/>
                <a:cs typeface="Comic Sans MS"/>
              </a:rPr>
              <a:t> </a:t>
            </a:r>
            <a:r>
              <a:rPr sz="1765" spc="-18" dirty="0">
                <a:latin typeface="Comic Sans MS"/>
                <a:cs typeface="Comic Sans MS"/>
              </a:rPr>
              <a:t>now?</a:t>
            </a:r>
            <a:endParaRPr sz="1765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9703" y="3334198"/>
            <a:ext cx="1709457" cy="525556"/>
          </a:xfrm>
          <a:custGeom>
            <a:avLst/>
            <a:gdLst/>
            <a:ahLst/>
            <a:cxnLst/>
            <a:rect l="l" t="t" r="r" b="b"/>
            <a:pathLst>
              <a:path w="1937385" h="595629">
                <a:moveTo>
                  <a:pt x="1937003" y="595122"/>
                </a:moveTo>
                <a:lnTo>
                  <a:pt x="1937003" y="0"/>
                </a:lnTo>
                <a:lnTo>
                  <a:pt x="0" y="0"/>
                </a:lnTo>
                <a:lnTo>
                  <a:pt x="0" y="595122"/>
                </a:lnTo>
                <a:lnTo>
                  <a:pt x="1937003" y="595122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2821416" y="3706233"/>
            <a:ext cx="1148603" cy="2761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1052849" algn="l"/>
              </a:tabLst>
            </a:pPr>
            <a:r>
              <a:rPr sz="1721" spc="-44" dirty="0">
                <a:latin typeface="Symbol"/>
                <a:cs typeface="Symbol"/>
              </a:rPr>
              <a:t></a:t>
            </a:r>
            <a:r>
              <a:rPr sz="1721" dirty="0">
                <a:latin typeface="Times New Roman"/>
                <a:cs typeface="Times New Roman"/>
              </a:rPr>
              <a:t>	</a:t>
            </a:r>
            <a:r>
              <a:rPr sz="1721" spc="-44" dirty="0">
                <a:latin typeface="Symbol"/>
                <a:cs typeface="Symbol"/>
              </a:rPr>
              <a:t></a:t>
            </a:r>
            <a:endParaRPr sz="1721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0762" y="3326353"/>
            <a:ext cx="439271" cy="2761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21" dirty="0">
                <a:latin typeface="Times New Roman"/>
                <a:cs typeface="Times New Roman"/>
              </a:rPr>
              <a:t>0</a:t>
            </a:r>
            <a:r>
              <a:rPr sz="1721" spc="-216" dirty="0">
                <a:latin typeface="Times New Roman"/>
                <a:cs typeface="Times New Roman"/>
              </a:rPr>
              <a:t> </a:t>
            </a:r>
            <a:r>
              <a:rPr sz="1721" spc="57" dirty="0">
                <a:latin typeface="Times New Roman"/>
                <a:cs typeface="Times New Roman"/>
              </a:rPr>
              <a:t>.1</a:t>
            </a:r>
            <a:r>
              <a:rPr sz="2581" spc="86" baseline="-4273" dirty="0">
                <a:latin typeface="Symbol"/>
                <a:cs typeface="Symbol"/>
              </a:rPr>
              <a:t></a:t>
            </a:r>
            <a:endParaRPr sz="2581" baseline="-4273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1416" y="3326353"/>
            <a:ext cx="443753" cy="2761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581" spc="-13" baseline="-4273" dirty="0">
                <a:latin typeface="Symbol"/>
                <a:cs typeface="Symbol"/>
              </a:rPr>
              <a:t></a:t>
            </a:r>
            <a:r>
              <a:rPr sz="2581" spc="-377" baseline="-4273" dirty="0">
                <a:latin typeface="Times New Roman"/>
                <a:cs typeface="Times New Roman"/>
              </a:rPr>
              <a:t> </a:t>
            </a:r>
            <a:r>
              <a:rPr sz="1721" dirty="0">
                <a:latin typeface="Times New Roman"/>
                <a:cs typeface="Times New Roman"/>
              </a:rPr>
              <a:t>0</a:t>
            </a:r>
            <a:r>
              <a:rPr sz="1721" spc="-216" dirty="0">
                <a:latin typeface="Times New Roman"/>
                <a:cs typeface="Times New Roman"/>
              </a:rPr>
              <a:t> </a:t>
            </a:r>
            <a:r>
              <a:rPr sz="1721" spc="31" dirty="0">
                <a:latin typeface="Times New Roman"/>
                <a:cs typeface="Times New Roman"/>
              </a:rPr>
              <a:t>.9</a:t>
            </a:r>
            <a:endParaRPr sz="172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03420" y="3123752"/>
            <a:ext cx="2496671" cy="735666"/>
          </a:xfrm>
          <a:custGeom>
            <a:avLst/>
            <a:gdLst/>
            <a:ahLst/>
            <a:cxnLst/>
            <a:rect l="l" t="t" r="r" b="b"/>
            <a:pathLst>
              <a:path w="2829559" h="833754">
                <a:moveTo>
                  <a:pt x="2829305" y="833627"/>
                </a:moveTo>
                <a:lnTo>
                  <a:pt x="2829305" y="0"/>
                </a:lnTo>
                <a:lnTo>
                  <a:pt x="0" y="0"/>
                </a:lnTo>
                <a:lnTo>
                  <a:pt x="0" y="833628"/>
                </a:lnTo>
                <a:lnTo>
                  <a:pt x="2829305" y="833627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 txBox="1"/>
          <p:nvPr/>
        </p:nvSpPr>
        <p:spPr>
          <a:xfrm>
            <a:off x="5123775" y="3544653"/>
            <a:ext cx="1879787" cy="43637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56032">
              <a:lnSpc>
                <a:spcPts val="1619"/>
              </a:lnSpc>
              <a:spcBef>
                <a:spcPts val="84"/>
              </a:spcBef>
              <a:tabLst>
                <a:tab pos="1067417" algn="l"/>
              </a:tabLst>
            </a:pPr>
            <a:r>
              <a:rPr sz="3375" spc="-13" baseline="26143" dirty="0">
                <a:latin typeface="Symbol"/>
                <a:cs typeface="Symbol"/>
              </a:rPr>
              <a:t></a:t>
            </a:r>
            <a:r>
              <a:rPr sz="2250" spc="-9" dirty="0">
                <a:latin typeface="Times New Roman"/>
                <a:cs typeface="Times New Roman"/>
              </a:rPr>
              <a:t>0.438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9" dirty="0">
                <a:latin typeface="Times New Roman"/>
                <a:cs typeface="Times New Roman"/>
              </a:rPr>
              <a:t>0.562</a:t>
            </a:r>
            <a:r>
              <a:rPr sz="3375" spc="-13" baseline="26143" dirty="0">
                <a:latin typeface="Symbol"/>
                <a:cs typeface="Symbol"/>
              </a:rPr>
              <a:t></a:t>
            </a:r>
            <a:endParaRPr sz="3375" baseline="26143">
              <a:latin typeface="Symbol"/>
              <a:cs typeface="Symbol"/>
            </a:endParaRPr>
          </a:p>
          <a:p>
            <a:pPr marL="56032">
              <a:lnSpc>
                <a:spcPts val="1619"/>
              </a:lnSpc>
              <a:tabLst>
                <a:tab pos="1714030" algn="l"/>
              </a:tabLst>
            </a:pPr>
            <a:r>
              <a:rPr sz="2250" spc="-44" dirty="0">
                <a:latin typeface="Symbol"/>
                <a:cs typeface="Symbol"/>
              </a:rPr>
              <a:t>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44" dirty="0">
                <a:latin typeface="Symbol"/>
                <a:cs typeface="Symbol"/>
              </a:rPr>
              <a:t>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98326" y="3117045"/>
            <a:ext cx="2082613" cy="35699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44826">
              <a:spcBef>
                <a:spcPts val="84"/>
              </a:spcBef>
              <a:tabLst>
                <a:tab pos="1293228" algn="l"/>
              </a:tabLst>
            </a:pPr>
            <a:r>
              <a:rPr sz="3375" baseline="-40305" dirty="0">
                <a:latin typeface="Symbol"/>
                <a:cs typeface="Symbol"/>
              </a:rPr>
              <a:t></a:t>
            </a:r>
            <a:r>
              <a:rPr sz="3375" spc="79" baseline="-40305" dirty="0">
                <a:latin typeface="Times New Roman"/>
                <a:cs typeface="Times New Roman"/>
              </a:rPr>
              <a:t> </a:t>
            </a:r>
            <a:r>
              <a:rPr sz="3375" spc="-13" baseline="-4357" dirty="0">
                <a:latin typeface="Symbol"/>
                <a:cs typeface="Symbol"/>
              </a:rPr>
              <a:t></a:t>
            </a:r>
            <a:r>
              <a:rPr sz="2250" spc="-9" dirty="0">
                <a:latin typeface="Times New Roman"/>
                <a:cs typeface="Times New Roman"/>
              </a:rPr>
              <a:t>0.781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9" dirty="0">
                <a:latin typeface="Times New Roman"/>
                <a:cs typeface="Times New Roman"/>
              </a:rPr>
              <a:t>0.219</a:t>
            </a:r>
            <a:r>
              <a:rPr sz="3375" spc="-13" baseline="-4357" dirty="0">
                <a:latin typeface="Symbol"/>
                <a:cs typeface="Symbol"/>
              </a:rPr>
              <a:t></a:t>
            </a:r>
            <a:endParaRPr sz="3375" baseline="-4357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1574" y="3199056"/>
            <a:ext cx="348503" cy="35699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619">
              <a:spcBef>
                <a:spcPts val="84"/>
              </a:spcBef>
            </a:pPr>
            <a:r>
              <a:rPr sz="3375" i="1" spc="99" baseline="-25054" dirty="0">
                <a:latin typeface="Times New Roman"/>
                <a:cs typeface="Times New Roman"/>
              </a:rPr>
              <a:t>P</a:t>
            </a:r>
            <a:r>
              <a:rPr sz="1279" spc="66" dirty="0">
                <a:latin typeface="Times New Roman"/>
                <a:cs typeface="Times New Roman"/>
              </a:rPr>
              <a:t>3</a:t>
            </a:r>
            <a:endParaRPr sz="1279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7883" y="3858633"/>
            <a:ext cx="8068235" cy="865094"/>
            <a:chOff x="457200" y="4373117"/>
            <a:chExt cx="9144000" cy="980440"/>
          </a:xfrm>
        </p:grpSpPr>
        <p:sp>
          <p:nvSpPr>
            <p:cNvPr id="16" name="object 16"/>
            <p:cNvSpPr/>
            <p:nvPr/>
          </p:nvSpPr>
          <p:spPr>
            <a:xfrm>
              <a:off x="457200" y="437311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487929" y="4373117"/>
              <a:ext cx="1937385" cy="148590"/>
            </a:xfrm>
            <a:custGeom>
              <a:avLst/>
              <a:gdLst/>
              <a:ahLst/>
              <a:cxnLst/>
              <a:rect l="l" t="t" r="r" b="b"/>
              <a:pathLst>
                <a:path w="1937385" h="148589">
                  <a:moveTo>
                    <a:pt x="1937003" y="148589"/>
                  </a:moveTo>
                  <a:lnTo>
                    <a:pt x="1937003" y="0"/>
                  </a:lnTo>
                  <a:lnTo>
                    <a:pt x="0" y="0"/>
                  </a:lnTo>
                  <a:lnTo>
                    <a:pt x="0" y="148589"/>
                  </a:lnTo>
                  <a:lnTo>
                    <a:pt x="1937003" y="14858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99596" y="3654462"/>
            <a:ext cx="493059" cy="2761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721" dirty="0">
                <a:latin typeface="Times New Roman"/>
                <a:cs typeface="Times New Roman"/>
              </a:rPr>
              <a:t>0</a:t>
            </a:r>
            <a:r>
              <a:rPr sz="1721" spc="-216" dirty="0">
                <a:latin typeface="Times New Roman"/>
                <a:cs typeface="Times New Roman"/>
              </a:rPr>
              <a:t> </a:t>
            </a:r>
            <a:r>
              <a:rPr sz="1721" spc="53" dirty="0">
                <a:latin typeface="Times New Roman"/>
                <a:cs typeface="Times New Roman"/>
              </a:rPr>
              <a:t>.8</a:t>
            </a:r>
            <a:r>
              <a:rPr sz="1721" spc="-216" dirty="0">
                <a:latin typeface="Times New Roman"/>
                <a:cs typeface="Times New Roman"/>
              </a:rPr>
              <a:t> </a:t>
            </a:r>
            <a:r>
              <a:rPr sz="2581" spc="-66" baseline="25641" dirty="0">
                <a:latin typeface="Symbol"/>
                <a:cs typeface="Symbol"/>
              </a:rPr>
              <a:t></a:t>
            </a:r>
            <a:endParaRPr sz="2581" baseline="25641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5853" y="3654462"/>
            <a:ext cx="941854" cy="2761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581" i="1" baseline="42735" dirty="0">
                <a:latin typeface="Times New Roman"/>
                <a:cs typeface="Times New Roman"/>
              </a:rPr>
              <a:t>P</a:t>
            </a:r>
            <a:r>
              <a:rPr sz="2581" i="1" spc="543" baseline="42735" dirty="0">
                <a:latin typeface="Times New Roman"/>
                <a:cs typeface="Times New Roman"/>
              </a:rPr>
              <a:t> </a:t>
            </a:r>
            <a:r>
              <a:rPr sz="2581" baseline="42735" dirty="0">
                <a:latin typeface="Symbol"/>
                <a:cs typeface="Symbol"/>
              </a:rPr>
              <a:t></a:t>
            </a:r>
            <a:r>
              <a:rPr sz="2581" spc="496" baseline="42735" dirty="0">
                <a:latin typeface="Times New Roman"/>
                <a:cs typeface="Times New Roman"/>
              </a:rPr>
              <a:t> </a:t>
            </a:r>
            <a:r>
              <a:rPr sz="2581" spc="-13" baseline="25641" dirty="0">
                <a:latin typeface="Symbol"/>
                <a:cs typeface="Symbol"/>
              </a:rPr>
              <a:t></a:t>
            </a:r>
            <a:r>
              <a:rPr sz="2581" spc="-377" baseline="25641" dirty="0">
                <a:latin typeface="Times New Roman"/>
                <a:cs typeface="Times New Roman"/>
              </a:rPr>
              <a:t> </a:t>
            </a:r>
            <a:r>
              <a:rPr sz="1721" dirty="0">
                <a:latin typeface="Times New Roman"/>
                <a:cs typeface="Times New Roman"/>
              </a:rPr>
              <a:t>0</a:t>
            </a:r>
            <a:r>
              <a:rPr sz="1721" spc="-216" dirty="0">
                <a:latin typeface="Times New Roman"/>
                <a:cs typeface="Times New Roman"/>
              </a:rPr>
              <a:t> </a:t>
            </a:r>
            <a:r>
              <a:rPr sz="1721" spc="31" dirty="0">
                <a:latin typeface="Times New Roman"/>
                <a:cs typeface="Times New Roman"/>
              </a:rPr>
              <a:t>.2</a:t>
            </a:r>
            <a:endParaRPr sz="172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03420" y="3858632"/>
            <a:ext cx="2496671" cy="121024"/>
          </a:xfrm>
          <a:custGeom>
            <a:avLst/>
            <a:gdLst/>
            <a:ahLst/>
            <a:cxnLst/>
            <a:rect l="l" t="t" r="r" b="b"/>
            <a:pathLst>
              <a:path w="2829559" h="137160">
                <a:moveTo>
                  <a:pt x="2829305" y="137160"/>
                </a:moveTo>
                <a:lnTo>
                  <a:pt x="2829305" y="0"/>
                </a:lnTo>
                <a:lnTo>
                  <a:pt x="0" y="0"/>
                </a:lnTo>
                <a:lnTo>
                  <a:pt x="0" y="137160"/>
                </a:lnTo>
                <a:lnTo>
                  <a:pt x="2829305" y="13716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537883" y="5586581"/>
            <a:ext cx="8068235" cy="868456"/>
          </a:xfrm>
          <a:custGeom>
            <a:avLst/>
            <a:gdLst/>
            <a:ahLst/>
            <a:cxnLst/>
            <a:rect l="l" t="t" r="r" b="b"/>
            <a:pathLst>
              <a:path w="9144000" h="984250">
                <a:moveTo>
                  <a:pt x="9144000" y="983742"/>
                </a:moveTo>
                <a:lnTo>
                  <a:pt x="9144000" y="0"/>
                </a:lnTo>
                <a:lnTo>
                  <a:pt x="0" y="0"/>
                </a:lnTo>
                <a:lnTo>
                  <a:pt x="0" y="983742"/>
                </a:lnTo>
                <a:lnTo>
                  <a:pt x="9144000" y="983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 txBox="1"/>
          <p:nvPr/>
        </p:nvSpPr>
        <p:spPr>
          <a:xfrm>
            <a:off x="1184461" y="4161416"/>
            <a:ext cx="5820335" cy="177147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56032">
              <a:spcBef>
                <a:spcPts val="88"/>
              </a:spcBef>
            </a:pPr>
            <a:r>
              <a:rPr sz="2118" dirty="0">
                <a:latin typeface="Times New Roman"/>
                <a:cs typeface="Times New Roman"/>
              </a:rPr>
              <a:t>Pr[</a:t>
            </a:r>
            <a:r>
              <a:rPr sz="2118" i="1" dirty="0">
                <a:latin typeface="Times New Roman"/>
                <a:cs typeface="Times New Roman"/>
              </a:rPr>
              <a:t>X</a:t>
            </a:r>
            <a:r>
              <a:rPr sz="2118" baseline="-20833" dirty="0">
                <a:latin typeface="Times New Roman"/>
                <a:cs typeface="Times New Roman"/>
              </a:rPr>
              <a:t>3</a:t>
            </a:r>
            <a:r>
              <a:rPr sz="2118" i="1" dirty="0">
                <a:latin typeface="Times New Roman"/>
                <a:cs typeface="Times New Roman"/>
              </a:rPr>
              <a:t>=</a:t>
            </a:r>
            <a:r>
              <a:rPr sz="2118" dirty="0">
                <a:solidFill>
                  <a:srgbClr val="65659A"/>
                </a:solidFill>
                <a:latin typeface="Times New Roman"/>
                <a:cs typeface="Times New Roman"/>
              </a:rPr>
              <a:t>Coke</a:t>
            </a:r>
            <a:r>
              <a:rPr sz="2118" dirty="0">
                <a:latin typeface="Times New Roman"/>
                <a:cs typeface="Times New Roman"/>
              </a:rPr>
              <a:t>]</a:t>
            </a:r>
            <a:r>
              <a:rPr sz="2118" spc="-13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=</a:t>
            </a:r>
            <a:r>
              <a:rPr sz="2118" spc="-9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0.6</a:t>
            </a:r>
            <a:r>
              <a:rPr sz="2118" spc="-9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*</a:t>
            </a:r>
            <a:r>
              <a:rPr sz="2118" spc="-9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0.781</a:t>
            </a:r>
            <a:r>
              <a:rPr sz="2118" spc="516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+</a:t>
            </a:r>
            <a:r>
              <a:rPr sz="2118" spc="516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0.4</a:t>
            </a:r>
            <a:r>
              <a:rPr sz="2118" spc="-9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*</a:t>
            </a:r>
            <a:r>
              <a:rPr sz="2118" spc="-9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0.438</a:t>
            </a:r>
            <a:r>
              <a:rPr sz="2118" spc="516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=</a:t>
            </a:r>
            <a:r>
              <a:rPr sz="2118" spc="516" dirty="0">
                <a:latin typeface="Times New Roman"/>
                <a:cs typeface="Times New Roman"/>
              </a:rPr>
              <a:t> </a:t>
            </a:r>
            <a:r>
              <a:rPr sz="2118" spc="-9" dirty="0">
                <a:latin typeface="Times New Roman"/>
                <a:cs typeface="Times New Roman"/>
              </a:rPr>
              <a:t>0.6438</a:t>
            </a:r>
            <a:endParaRPr sz="2118">
              <a:latin typeface="Times New Roman"/>
              <a:cs typeface="Times New Roman"/>
            </a:endParaRPr>
          </a:p>
          <a:p>
            <a:pPr marL="56032" marR="1837863">
              <a:lnSpc>
                <a:spcPct val="120000"/>
              </a:lnSpc>
              <a:spcBef>
                <a:spcPts val="2277"/>
              </a:spcBef>
            </a:pPr>
            <a:r>
              <a:rPr sz="2118" i="1" dirty="0">
                <a:latin typeface="Times New Roman"/>
                <a:cs typeface="Times New Roman"/>
              </a:rPr>
              <a:t>Q</a:t>
            </a:r>
            <a:r>
              <a:rPr sz="2118" i="1" baseline="-20833" dirty="0">
                <a:latin typeface="Times New Roman"/>
                <a:cs typeface="Times New Roman"/>
              </a:rPr>
              <a:t>i</a:t>
            </a:r>
            <a:r>
              <a:rPr sz="2118" i="1" spc="231" baseline="-20833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Comic Sans MS"/>
                <a:cs typeface="Comic Sans MS"/>
              </a:rPr>
              <a:t>-</a:t>
            </a:r>
            <a:r>
              <a:rPr sz="2118" spc="-2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the</a:t>
            </a:r>
            <a:r>
              <a:rPr sz="2118" spc="-31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distribution</a:t>
            </a:r>
            <a:r>
              <a:rPr sz="2118" spc="-18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in</a:t>
            </a:r>
            <a:r>
              <a:rPr sz="2118" spc="-18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week</a:t>
            </a:r>
            <a:r>
              <a:rPr sz="2118" spc="-22" dirty="0">
                <a:latin typeface="Comic Sans MS"/>
                <a:cs typeface="Comic Sans MS"/>
              </a:rPr>
              <a:t> </a:t>
            </a:r>
            <a:r>
              <a:rPr sz="2118" i="1" spc="-44" dirty="0">
                <a:latin typeface="Times New Roman"/>
                <a:cs typeface="Times New Roman"/>
              </a:rPr>
              <a:t>i </a:t>
            </a:r>
            <a:r>
              <a:rPr sz="2118" i="1" dirty="0">
                <a:latin typeface="Times New Roman"/>
                <a:cs typeface="Times New Roman"/>
              </a:rPr>
              <a:t>Q</a:t>
            </a:r>
            <a:r>
              <a:rPr sz="2118" baseline="-20833" dirty="0">
                <a:latin typeface="Times New Roman"/>
                <a:cs typeface="Times New Roman"/>
              </a:rPr>
              <a:t>0</a:t>
            </a:r>
            <a:r>
              <a:rPr sz="2118" i="1" dirty="0">
                <a:latin typeface="Times New Roman"/>
                <a:cs typeface="Times New Roman"/>
              </a:rPr>
              <a:t>=(0.6,0.4)</a:t>
            </a:r>
            <a:r>
              <a:rPr sz="2118" i="1" spc="31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Comic Sans MS"/>
                <a:cs typeface="Comic Sans MS"/>
              </a:rPr>
              <a:t>-</a:t>
            </a:r>
            <a:r>
              <a:rPr sz="2118" spc="-66" dirty="0">
                <a:latin typeface="Comic Sans MS"/>
                <a:cs typeface="Comic Sans MS"/>
              </a:rPr>
              <a:t> </a:t>
            </a:r>
            <a:r>
              <a:rPr sz="2118" dirty="0">
                <a:latin typeface="Comic Sans MS"/>
                <a:cs typeface="Comic Sans MS"/>
              </a:rPr>
              <a:t>initial</a:t>
            </a:r>
            <a:r>
              <a:rPr sz="2118" spc="-62" dirty="0">
                <a:latin typeface="Comic Sans MS"/>
                <a:cs typeface="Comic Sans MS"/>
              </a:rPr>
              <a:t> </a:t>
            </a:r>
            <a:r>
              <a:rPr sz="2118" spc="-9" dirty="0">
                <a:latin typeface="Comic Sans MS"/>
                <a:cs typeface="Comic Sans MS"/>
              </a:rPr>
              <a:t>distribution </a:t>
            </a:r>
            <a:r>
              <a:rPr sz="2118" i="1" dirty="0">
                <a:latin typeface="Times New Roman"/>
                <a:cs typeface="Times New Roman"/>
              </a:rPr>
              <a:t>Q</a:t>
            </a:r>
            <a:r>
              <a:rPr sz="2118" baseline="-20833" dirty="0">
                <a:latin typeface="Times New Roman"/>
                <a:cs typeface="Times New Roman"/>
              </a:rPr>
              <a:t>3</a:t>
            </a:r>
            <a:r>
              <a:rPr sz="2118" i="1" dirty="0">
                <a:latin typeface="Times New Roman"/>
                <a:cs typeface="Times New Roman"/>
              </a:rPr>
              <a:t>=</a:t>
            </a:r>
            <a:r>
              <a:rPr sz="2118" i="1" spc="-18" dirty="0">
                <a:latin typeface="Times New Roman"/>
                <a:cs typeface="Times New Roman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Q</a:t>
            </a:r>
            <a:r>
              <a:rPr sz="2118" baseline="-20833" dirty="0">
                <a:latin typeface="Times New Roman"/>
                <a:cs typeface="Times New Roman"/>
              </a:rPr>
              <a:t>0</a:t>
            </a:r>
            <a:r>
              <a:rPr sz="2118" spc="244" baseline="-20833" dirty="0">
                <a:latin typeface="Times New Roman"/>
                <a:cs typeface="Times New Roman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*</a:t>
            </a:r>
            <a:r>
              <a:rPr sz="2118" i="1" spc="-13" dirty="0">
                <a:latin typeface="Times New Roman"/>
                <a:cs typeface="Times New Roman"/>
              </a:rPr>
              <a:t> </a:t>
            </a:r>
            <a:r>
              <a:rPr sz="2118" i="1" dirty="0">
                <a:latin typeface="Times New Roman"/>
                <a:cs typeface="Times New Roman"/>
              </a:rPr>
              <a:t>P</a:t>
            </a:r>
            <a:r>
              <a:rPr sz="2118" i="1" baseline="24305" dirty="0">
                <a:latin typeface="Times New Roman"/>
                <a:cs typeface="Times New Roman"/>
              </a:rPr>
              <a:t>3</a:t>
            </a:r>
            <a:r>
              <a:rPr sz="2118" i="1" spc="-26" baseline="24305" dirty="0">
                <a:latin typeface="Times New Roman"/>
                <a:cs typeface="Times New Roman"/>
              </a:rPr>
              <a:t> </a:t>
            </a:r>
            <a:r>
              <a:rPr sz="2118" i="1" spc="-9" dirty="0">
                <a:latin typeface="Times New Roman"/>
                <a:cs typeface="Times New Roman"/>
              </a:rPr>
              <a:t>=</a:t>
            </a:r>
            <a:r>
              <a:rPr sz="2118" spc="-9" dirty="0">
                <a:latin typeface="Times New Roman"/>
                <a:cs typeface="Times New Roman"/>
              </a:rPr>
              <a:t>(0.6438</a:t>
            </a:r>
            <a:r>
              <a:rPr sz="2118" i="1" spc="-9" dirty="0">
                <a:latin typeface="Times New Roman"/>
                <a:cs typeface="Times New Roman"/>
              </a:rPr>
              <a:t>,0.3562</a:t>
            </a:r>
            <a:r>
              <a:rPr sz="2118" spc="-9" dirty="0">
                <a:latin typeface="Times New Roman"/>
                <a:cs typeface="Times New Roman"/>
              </a:rPr>
              <a:t>)</a:t>
            </a:r>
            <a:endParaRPr sz="2118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0098" y="544546"/>
            <a:ext cx="3555626" cy="672470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dirty="0"/>
              <a:t>Markov</a:t>
            </a:r>
            <a:r>
              <a:rPr spc="-137" dirty="0"/>
              <a:t> </a:t>
            </a:r>
            <a:r>
              <a:rPr spc="-9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7916" y="1871830"/>
            <a:ext cx="5829300" cy="1123950"/>
            <a:chOff x="1533905" y="2121407"/>
            <a:chExt cx="6606540" cy="1273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3905" y="2121407"/>
              <a:ext cx="6606540" cy="2941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6472" y="2415539"/>
              <a:ext cx="5417362" cy="97917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43535" y="1116282"/>
            <a:ext cx="5813611" cy="1442888"/>
          </a:xfrm>
          <a:prstGeom prst="rect">
            <a:avLst/>
          </a:prstGeom>
        </p:spPr>
        <p:txBody>
          <a:bodyPr vert="horz" wrap="square" lIns="0" tIns="63874" rIns="0" bIns="0" rtlCol="0">
            <a:spAutoFit/>
          </a:bodyPr>
          <a:lstStyle/>
          <a:p>
            <a:pPr marL="77325">
              <a:spcBef>
                <a:spcPts val="503"/>
              </a:spcBef>
            </a:pPr>
            <a:r>
              <a:rPr sz="2824" dirty="0">
                <a:latin typeface="Arial MT"/>
                <a:cs typeface="Arial MT"/>
              </a:rPr>
              <a:t>Coke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vs.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Pepsi</a:t>
            </a:r>
            <a:r>
              <a:rPr sz="2824" spc="-35" dirty="0">
                <a:latin typeface="Arial MT"/>
                <a:cs typeface="Arial MT"/>
              </a:rPr>
              <a:t> </a:t>
            </a:r>
            <a:r>
              <a:rPr sz="2824" dirty="0">
                <a:latin typeface="Arial MT"/>
                <a:cs typeface="Arial MT"/>
              </a:rPr>
              <a:t>Example</a:t>
            </a:r>
            <a:r>
              <a:rPr sz="2824" spc="-4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(cont)</a:t>
            </a:r>
            <a:endParaRPr sz="2118">
              <a:latin typeface="Arial MT"/>
              <a:cs typeface="Arial MT"/>
            </a:endParaRPr>
          </a:p>
          <a:p>
            <a:pPr marL="11206">
              <a:spcBef>
                <a:spcPts val="260"/>
              </a:spcBef>
            </a:pPr>
            <a:r>
              <a:rPr sz="1765" spc="-9" dirty="0">
                <a:latin typeface="Comic Sans MS"/>
                <a:cs typeface="Comic Sans MS"/>
              </a:rPr>
              <a:t>Simulation:</a:t>
            </a:r>
            <a:endParaRPr sz="1765">
              <a:latin typeface="Comic Sans MS"/>
              <a:cs typeface="Comic Sans MS"/>
            </a:endParaRPr>
          </a:p>
          <a:p>
            <a:pPr marR="4483" algn="r">
              <a:spcBef>
                <a:spcPts val="2391"/>
              </a:spcBef>
            </a:pPr>
            <a:r>
              <a:rPr sz="2118" spc="-22" dirty="0">
                <a:latin typeface="Times New Roman"/>
                <a:cs typeface="Times New Roman"/>
              </a:rPr>
              <a:t>2/3</a:t>
            </a:r>
            <a:endParaRPr sz="2118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51237" y="2692774"/>
            <a:ext cx="2406463" cy="307041"/>
            <a:chOff x="4212335" y="3051810"/>
            <a:chExt cx="2727325" cy="347980"/>
          </a:xfrm>
        </p:grpSpPr>
        <p:sp>
          <p:nvSpPr>
            <p:cNvPr id="8" name="object 8"/>
            <p:cNvSpPr/>
            <p:nvPr/>
          </p:nvSpPr>
          <p:spPr>
            <a:xfrm>
              <a:off x="4212335" y="3051810"/>
              <a:ext cx="2727325" cy="342900"/>
            </a:xfrm>
            <a:custGeom>
              <a:avLst/>
              <a:gdLst/>
              <a:ahLst/>
              <a:cxnLst/>
              <a:rect l="l" t="t" r="r" b="b"/>
              <a:pathLst>
                <a:path w="2727325" h="342900">
                  <a:moveTo>
                    <a:pt x="2727198" y="342900"/>
                  </a:moveTo>
                  <a:lnTo>
                    <a:pt x="2727198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727198" y="3429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401436" y="3303269"/>
              <a:ext cx="65405" cy="91440"/>
            </a:xfrm>
            <a:custGeom>
              <a:avLst/>
              <a:gdLst/>
              <a:ahLst/>
              <a:cxnLst/>
              <a:rect l="l" t="t" r="r" b="b"/>
              <a:pathLst>
                <a:path w="65404" h="91439">
                  <a:moveTo>
                    <a:pt x="65407" y="0"/>
                  </a:moveTo>
                  <a:lnTo>
                    <a:pt x="0" y="91439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3010" y="3303269"/>
              <a:ext cx="65405" cy="91440"/>
            </a:xfrm>
            <a:custGeom>
              <a:avLst/>
              <a:gdLst/>
              <a:ahLst/>
              <a:cxnLst/>
              <a:rect l="l" t="t" r="r" b="b"/>
              <a:pathLst>
                <a:path w="65404" h="91439">
                  <a:moveTo>
                    <a:pt x="65407" y="0"/>
                  </a:moveTo>
                  <a:lnTo>
                    <a:pt x="0" y="91439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6367722" y="3303269"/>
              <a:ext cx="65405" cy="91440"/>
            </a:xfrm>
            <a:custGeom>
              <a:avLst/>
              <a:gdLst/>
              <a:ahLst/>
              <a:cxnLst/>
              <a:rect l="l" t="t" r="r" b="b"/>
              <a:pathLst>
                <a:path w="65404" h="91439">
                  <a:moveTo>
                    <a:pt x="65081" y="0"/>
                  </a:moveTo>
                  <a:lnTo>
                    <a:pt x="0" y="91439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69732" y="3303269"/>
              <a:ext cx="65405" cy="91440"/>
            </a:xfrm>
            <a:custGeom>
              <a:avLst/>
              <a:gdLst/>
              <a:ahLst/>
              <a:cxnLst/>
              <a:rect l="l" t="t" r="r" b="b"/>
              <a:pathLst>
                <a:path w="65404" h="91439">
                  <a:moveTo>
                    <a:pt x="65407" y="0"/>
                  </a:moveTo>
                  <a:lnTo>
                    <a:pt x="0" y="91439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70408" y="2761625"/>
            <a:ext cx="91887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-168" dirty="0">
                <a:latin typeface="Symbol"/>
                <a:cs typeface="Symbol"/>
              </a:rPr>
              <a:t>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27195" y="2874814"/>
            <a:ext cx="84044" cy="16015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971" spc="-44" dirty="0">
                <a:latin typeface="Times New Roman"/>
                <a:cs typeface="Times New Roman"/>
              </a:rPr>
              <a:t>1</a:t>
            </a:r>
            <a:endParaRPr sz="97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29275" y="2709854"/>
            <a:ext cx="569819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44826">
              <a:spcBef>
                <a:spcPts val="101"/>
              </a:spcBef>
              <a:tabLst>
                <a:tab pos="474034" algn="l"/>
              </a:tabLst>
            </a:pPr>
            <a:r>
              <a:rPr sz="3375" spc="-33" baseline="-9803" dirty="0">
                <a:latin typeface="Symbol"/>
                <a:cs typeface="Symbol"/>
              </a:rPr>
              <a:t></a:t>
            </a:r>
            <a:r>
              <a:rPr sz="971" spc="-22" dirty="0">
                <a:latin typeface="Times New Roman"/>
                <a:cs typeface="Times New Roman"/>
              </a:rPr>
              <a:t>2</a:t>
            </a:r>
            <a:r>
              <a:rPr sz="971" dirty="0">
                <a:latin typeface="Times New Roman"/>
                <a:cs typeface="Times New Roman"/>
              </a:rPr>
              <a:t>	</a:t>
            </a:r>
            <a:r>
              <a:rPr sz="971" spc="-44" dirty="0">
                <a:latin typeface="Times New Roman"/>
                <a:cs typeface="Times New Roman"/>
              </a:rPr>
              <a:t>1</a:t>
            </a:r>
            <a:endParaRPr sz="97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5080" y="2607656"/>
            <a:ext cx="754715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33619">
              <a:spcBef>
                <a:spcPts val="101"/>
              </a:spcBef>
            </a:pPr>
            <a:r>
              <a:rPr sz="1632" dirty="0">
                <a:latin typeface="Times New Roman"/>
                <a:cs typeface="Times New Roman"/>
              </a:rPr>
              <a:t>0.1</a:t>
            </a:r>
            <a:r>
              <a:rPr sz="2449" baseline="-4504" dirty="0">
                <a:latin typeface="Symbol"/>
                <a:cs typeface="Symbol"/>
              </a:rPr>
              <a:t></a:t>
            </a:r>
            <a:r>
              <a:rPr sz="2449" spc="79" baseline="-4504" dirty="0">
                <a:latin typeface="Times New Roman"/>
                <a:cs typeface="Times New Roman"/>
              </a:rPr>
              <a:t> </a:t>
            </a:r>
            <a:r>
              <a:rPr sz="2449" baseline="-42042" dirty="0">
                <a:latin typeface="Symbol"/>
                <a:cs typeface="Symbol"/>
              </a:rPr>
              <a:t></a:t>
            </a:r>
            <a:r>
              <a:rPr sz="2449" spc="-72" baseline="-42042" dirty="0">
                <a:latin typeface="Times New Roman"/>
                <a:cs typeface="Times New Roman"/>
              </a:rPr>
              <a:t> </a:t>
            </a:r>
            <a:r>
              <a:rPr sz="3375" spc="-33" baseline="-29411" dirty="0">
                <a:latin typeface="Symbol"/>
                <a:cs typeface="Symbol"/>
              </a:rPr>
              <a:t></a:t>
            </a:r>
            <a:r>
              <a:rPr sz="1456" spc="-33" baseline="-45454" dirty="0">
                <a:latin typeface="Times New Roman"/>
                <a:cs typeface="Times New Roman"/>
              </a:rPr>
              <a:t>2</a:t>
            </a:r>
            <a:endParaRPr sz="1456" baseline="-45454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13324" y="2607656"/>
            <a:ext cx="467846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33619">
              <a:spcBef>
                <a:spcPts val="101"/>
              </a:spcBef>
            </a:pPr>
            <a:r>
              <a:rPr sz="3375" spc="-13" baseline="-29411" dirty="0">
                <a:latin typeface="Symbol"/>
                <a:cs typeface="Symbol"/>
              </a:rPr>
              <a:t></a:t>
            </a:r>
            <a:r>
              <a:rPr sz="2449" spc="-13" baseline="-4504" dirty="0">
                <a:latin typeface="Symbol"/>
                <a:cs typeface="Symbol"/>
              </a:rPr>
              <a:t></a:t>
            </a:r>
            <a:r>
              <a:rPr sz="1632" spc="-9" dirty="0">
                <a:latin typeface="Times New Roman"/>
                <a:cs typeface="Times New Roman"/>
              </a:rPr>
              <a:t>0.9</a:t>
            </a:r>
            <a:endParaRPr sz="1632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7883" y="2990849"/>
            <a:ext cx="8068235" cy="868456"/>
            <a:chOff x="457200" y="3389629"/>
            <a:chExt cx="9144000" cy="984250"/>
          </a:xfrm>
        </p:grpSpPr>
        <p:sp>
          <p:nvSpPr>
            <p:cNvPr id="19" name="object 19"/>
            <p:cNvSpPr/>
            <p:nvPr/>
          </p:nvSpPr>
          <p:spPr>
            <a:xfrm>
              <a:off x="457200" y="339394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3905" y="3394710"/>
              <a:ext cx="6606540" cy="9791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12335" y="3393948"/>
              <a:ext cx="2727325" cy="373380"/>
            </a:xfrm>
            <a:custGeom>
              <a:avLst/>
              <a:gdLst/>
              <a:ahLst/>
              <a:cxnLst/>
              <a:rect l="l" t="t" r="r" b="b"/>
              <a:pathLst>
                <a:path w="2727325" h="373379">
                  <a:moveTo>
                    <a:pt x="2727198" y="373379"/>
                  </a:moveTo>
                  <a:lnTo>
                    <a:pt x="2727198" y="0"/>
                  </a:lnTo>
                  <a:lnTo>
                    <a:pt x="0" y="0"/>
                  </a:lnTo>
                  <a:lnTo>
                    <a:pt x="0" y="373380"/>
                  </a:lnTo>
                  <a:lnTo>
                    <a:pt x="2727198" y="37337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4313682" y="3394709"/>
              <a:ext cx="88265" cy="123189"/>
            </a:xfrm>
            <a:custGeom>
              <a:avLst/>
              <a:gdLst/>
              <a:ahLst/>
              <a:cxnLst/>
              <a:rect l="l" t="t" r="r" b="b"/>
              <a:pathLst>
                <a:path w="88264" h="123189">
                  <a:moveTo>
                    <a:pt x="87754" y="0"/>
                  </a:moveTo>
                  <a:lnTo>
                    <a:pt x="0" y="122682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715255" y="3394709"/>
              <a:ext cx="88265" cy="123189"/>
            </a:xfrm>
            <a:custGeom>
              <a:avLst/>
              <a:gdLst/>
              <a:ahLst/>
              <a:cxnLst/>
              <a:rect l="l" t="t" r="r" b="b"/>
              <a:pathLst>
                <a:path w="88264" h="123189">
                  <a:moveTo>
                    <a:pt x="87754" y="0"/>
                  </a:moveTo>
                  <a:lnTo>
                    <a:pt x="0" y="12268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6280404" y="3394709"/>
              <a:ext cx="87630" cy="123189"/>
            </a:xfrm>
            <a:custGeom>
              <a:avLst/>
              <a:gdLst/>
              <a:ahLst/>
              <a:cxnLst/>
              <a:rect l="l" t="t" r="r" b="b"/>
              <a:pathLst>
                <a:path w="87629" h="123189">
                  <a:moveTo>
                    <a:pt x="87318" y="0"/>
                  </a:moveTo>
                  <a:lnTo>
                    <a:pt x="0" y="12268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6681977" y="3394709"/>
              <a:ext cx="88265" cy="123189"/>
            </a:xfrm>
            <a:custGeom>
              <a:avLst/>
              <a:gdLst/>
              <a:ahLst/>
              <a:cxnLst/>
              <a:rect l="l" t="t" r="r" b="b"/>
              <a:pathLst>
                <a:path w="88265" h="123189">
                  <a:moveTo>
                    <a:pt x="87754" y="0"/>
                  </a:moveTo>
                  <a:lnTo>
                    <a:pt x="0" y="12268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95775" y="2968271"/>
            <a:ext cx="84044" cy="16015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971" spc="-44" dirty="0">
                <a:latin typeface="Times New Roman"/>
                <a:cs typeface="Times New Roman"/>
              </a:rPr>
              <a:t>3</a:t>
            </a:r>
            <a:endParaRPr sz="971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40773" y="2968271"/>
            <a:ext cx="84044" cy="16015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971" spc="-44" dirty="0">
                <a:latin typeface="Times New Roman"/>
                <a:cs typeface="Times New Roman"/>
              </a:rPr>
              <a:t>3</a:t>
            </a:r>
            <a:endParaRPr sz="971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60432" y="2968271"/>
            <a:ext cx="84044" cy="16015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971" spc="-44" dirty="0">
                <a:latin typeface="Times New Roman"/>
                <a:cs typeface="Times New Roman"/>
              </a:rPr>
              <a:t>3</a:t>
            </a:r>
            <a:endParaRPr sz="971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06103" y="2968271"/>
            <a:ext cx="84044" cy="16015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971" spc="-44" dirty="0">
                <a:latin typeface="Times New Roman"/>
                <a:cs typeface="Times New Roman"/>
              </a:rPr>
              <a:t>3</a:t>
            </a:r>
            <a:endParaRPr sz="97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50489" y="3000263"/>
            <a:ext cx="880781" cy="265366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33619">
              <a:spcBef>
                <a:spcPts val="110"/>
              </a:spcBef>
              <a:tabLst>
                <a:tab pos="491404" algn="l"/>
              </a:tabLst>
            </a:pPr>
            <a:r>
              <a:rPr sz="1632" spc="-22" dirty="0">
                <a:latin typeface="Times New Roman"/>
                <a:cs typeface="Times New Roman"/>
              </a:rPr>
              <a:t>0.2</a:t>
            </a:r>
            <a:r>
              <a:rPr sz="1632" dirty="0">
                <a:latin typeface="Times New Roman"/>
                <a:cs typeface="Times New Roman"/>
              </a:rPr>
              <a:t>	</a:t>
            </a:r>
            <a:r>
              <a:rPr sz="1632" spc="-18" dirty="0">
                <a:latin typeface="Times New Roman"/>
                <a:cs typeface="Times New Roman"/>
              </a:rPr>
              <a:t>0.8</a:t>
            </a:r>
            <a:r>
              <a:rPr sz="2449" spc="-26" baseline="27027" dirty="0">
                <a:latin typeface="Symbol"/>
                <a:cs typeface="Symbol"/>
              </a:rPr>
              <a:t></a:t>
            </a:r>
            <a:endParaRPr sz="2449" baseline="27027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0198" y="2902100"/>
            <a:ext cx="103654" cy="265303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</a:pPr>
            <a:r>
              <a:rPr sz="1632" spc="-44" dirty="0">
                <a:latin typeface="Symbol"/>
                <a:cs typeface="Symbol"/>
              </a:rPr>
              <a:t></a:t>
            </a:r>
            <a:endParaRPr sz="1632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90197" y="3050689"/>
            <a:ext cx="907676" cy="265303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  <a:tabLst>
                <a:tab pos="815271" algn="l"/>
              </a:tabLst>
            </a:pPr>
            <a:r>
              <a:rPr sz="1632" spc="-44" dirty="0">
                <a:latin typeface="Symbol"/>
                <a:cs typeface="Symbol"/>
              </a:rPr>
              <a:t></a:t>
            </a:r>
            <a:r>
              <a:rPr sz="1632" dirty="0">
                <a:latin typeface="Times New Roman"/>
                <a:cs typeface="Times New Roman"/>
              </a:rPr>
              <a:t>	</a:t>
            </a:r>
            <a:r>
              <a:rPr sz="1632" spc="-44" dirty="0">
                <a:latin typeface="Symbol"/>
                <a:cs typeface="Symbol"/>
              </a:rPr>
              <a:t></a:t>
            </a:r>
            <a:endParaRPr sz="1632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74140" y="3602019"/>
            <a:ext cx="2391335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765" dirty="0">
                <a:solidFill>
                  <a:srgbClr val="9A3300"/>
                </a:solidFill>
                <a:latin typeface="Comic Sans MS"/>
                <a:cs typeface="Comic Sans MS"/>
              </a:rPr>
              <a:t>stationary</a:t>
            </a:r>
            <a:r>
              <a:rPr sz="1765" spc="-101" dirty="0">
                <a:solidFill>
                  <a:srgbClr val="9A3300"/>
                </a:solidFill>
                <a:latin typeface="Comic Sans MS"/>
                <a:cs typeface="Comic Sans MS"/>
              </a:rPr>
              <a:t> </a:t>
            </a:r>
            <a:r>
              <a:rPr sz="1765" spc="-9" dirty="0">
                <a:solidFill>
                  <a:srgbClr val="9A3300"/>
                </a:solidFill>
                <a:latin typeface="Comic Sans MS"/>
                <a:cs typeface="Comic Sans MS"/>
              </a:rPr>
              <a:t>distribution</a:t>
            </a:r>
            <a:endParaRPr sz="1765">
              <a:latin typeface="Comic Sans MS"/>
              <a:cs typeface="Comic Sans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37883" y="3223260"/>
            <a:ext cx="8068235" cy="1500468"/>
            <a:chOff x="457200" y="3653028"/>
            <a:chExt cx="9144000" cy="1700530"/>
          </a:xfrm>
        </p:grpSpPr>
        <p:sp>
          <p:nvSpPr>
            <p:cNvPr id="35" name="object 35"/>
            <p:cNvSpPr/>
            <p:nvPr/>
          </p:nvSpPr>
          <p:spPr>
            <a:xfrm>
              <a:off x="4608576" y="3653027"/>
              <a:ext cx="1872614" cy="534670"/>
            </a:xfrm>
            <a:custGeom>
              <a:avLst/>
              <a:gdLst/>
              <a:ahLst/>
              <a:cxnLst/>
              <a:rect l="l" t="t" r="r" b="b"/>
              <a:pathLst>
                <a:path w="1872614" h="534670">
                  <a:moveTo>
                    <a:pt x="712470" y="513588"/>
                  </a:moveTo>
                  <a:lnTo>
                    <a:pt x="69227" y="41287"/>
                  </a:lnTo>
                  <a:lnTo>
                    <a:pt x="84582" y="20574"/>
                  </a:lnTo>
                  <a:lnTo>
                    <a:pt x="0" y="6858"/>
                  </a:lnTo>
                  <a:lnTo>
                    <a:pt x="38862" y="82296"/>
                  </a:lnTo>
                  <a:lnTo>
                    <a:pt x="44196" y="75095"/>
                  </a:lnTo>
                  <a:lnTo>
                    <a:pt x="54267" y="61506"/>
                  </a:lnTo>
                  <a:lnTo>
                    <a:pt x="697992" y="534162"/>
                  </a:lnTo>
                  <a:lnTo>
                    <a:pt x="712470" y="513588"/>
                  </a:lnTo>
                  <a:close/>
                </a:path>
                <a:path w="1872614" h="534670">
                  <a:moveTo>
                    <a:pt x="1872234" y="0"/>
                  </a:moveTo>
                  <a:lnTo>
                    <a:pt x="1787652" y="13716"/>
                  </a:lnTo>
                  <a:lnTo>
                    <a:pt x="1802307" y="34188"/>
                  </a:lnTo>
                  <a:lnTo>
                    <a:pt x="1159764" y="494538"/>
                  </a:lnTo>
                  <a:lnTo>
                    <a:pt x="1174242" y="515112"/>
                  </a:lnTo>
                  <a:lnTo>
                    <a:pt x="1817204" y="55003"/>
                  </a:lnTo>
                  <a:lnTo>
                    <a:pt x="1828038" y="70129"/>
                  </a:lnTo>
                  <a:lnTo>
                    <a:pt x="1831848" y="75438"/>
                  </a:lnTo>
                  <a:lnTo>
                    <a:pt x="1872234" y="0"/>
                  </a:lnTo>
                  <a:close/>
                </a:path>
              </a:pathLst>
            </a:custGeom>
            <a:solidFill>
              <a:srgbClr val="9933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437311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3905" y="4373880"/>
              <a:ext cx="6606540" cy="97917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581299" y="3145355"/>
            <a:ext cx="307777" cy="1508872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2400"/>
              </a:lnSpc>
            </a:pPr>
            <a:r>
              <a:rPr sz="2118" dirty="0">
                <a:latin typeface="Times New Roman"/>
                <a:cs typeface="Times New Roman"/>
              </a:rPr>
              <a:t>Pr[</a:t>
            </a:r>
            <a:r>
              <a:rPr sz="2118" i="1" dirty="0">
                <a:latin typeface="Times New Roman"/>
                <a:cs typeface="Times New Roman"/>
              </a:rPr>
              <a:t>X</a:t>
            </a:r>
            <a:r>
              <a:rPr sz="2118" i="1" baseline="-20833" dirty="0">
                <a:latin typeface="Times New Roman"/>
                <a:cs typeface="Times New Roman"/>
              </a:rPr>
              <a:t>i</a:t>
            </a:r>
            <a:r>
              <a:rPr sz="2118" i="1" spc="224" baseline="-20833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=</a:t>
            </a:r>
            <a:r>
              <a:rPr sz="2118" spc="-31" dirty="0">
                <a:latin typeface="Times New Roman"/>
                <a:cs typeface="Times New Roman"/>
              </a:rPr>
              <a:t> </a:t>
            </a:r>
            <a:r>
              <a:rPr sz="2118" spc="-9" dirty="0">
                <a:solidFill>
                  <a:srgbClr val="3333CC"/>
                </a:solidFill>
                <a:latin typeface="Times New Roman"/>
                <a:cs typeface="Times New Roman"/>
              </a:rPr>
              <a:t>Coke</a:t>
            </a:r>
            <a:r>
              <a:rPr sz="2118" spc="-9" dirty="0">
                <a:latin typeface="Times New Roman"/>
                <a:cs typeface="Times New Roman"/>
              </a:rPr>
              <a:t>]</a:t>
            </a:r>
            <a:endParaRPr sz="2118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272648" y="4718739"/>
            <a:ext cx="57710" cy="3922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0" y="4382"/>
                </a:moveTo>
                <a:lnTo>
                  <a:pt x="65386" y="4382"/>
                </a:lnTo>
                <a:lnTo>
                  <a:pt x="65386" y="0"/>
                </a:lnTo>
                <a:lnTo>
                  <a:pt x="0" y="0"/>
                </a:lnTo>
                <a:lnTo>
                  <a:pt x="0" y="4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0" name="object 40"/>
          <p:cNvSpPr txBox="1"/>
          <p:nvPr/>
        </p:nvSpPr>
        <p:spPr>
          <a:xfrm>
            <a:off x="4324126" y="4548019"/>
            <a:ext cx="218515" cy="20080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235" u="sng" spc="-2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0.1</a:t>
            </a:r>
            <a:endParaRPr sz="1235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37883" y="4722607"/>
            <a:ext cx="8068235" cy="865094"/>
            <a:chOff x="457200" y="5352288"/>
            <a:chExt cx="9144000" cy="980440"/>
          </a:xfrm>
        </p:grpSpPr>
        <p:sp>
          <p:nvSpPr>
            <p:cNvPr id="42" name="object 42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3905" y="5353050"/>
              <a:ext cx="6606540" cy="97917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7088" y="5353049"/>
              <a:ext cx="3042466" cy="750694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522008" y="4910418"/>
            <a:ext cx="403412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8" dirty="0">
                <a:latin typeface="Times New Roman"/>
                <a:cs typeface="Times New Roman"/>
              </a:rPr>
              <a:t>coke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00512" y="4915796"/>
            <a:ext cx="448795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9" dirty="0">
                <a:latin typeface="Times New Roman"/>
                <a:cs typeface="Times New Roman"/>
              </a:rPr>
              <a:t>pepsi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48671" y="4603152"/>
            <a:ext cx="218515" cy="20080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235" spc="-22" dirty="0">
                <a:latin typeface="Times New Roman"/>
                <a:cs typeface="Times New Roman"/>
              </a:rPr>
              <a:t>0.9</a:t>
            </a:r>
            <a:endParaRPr sz="1235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12715" y="4623322"/>
            <a:ext cx="218515" cy="20080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235" spc="-22" dirty="0">
                <a:latin typeface="Times New Roman"/>
                <a:cs typeface="Times New Roman"/>
              </a:rPr>
              <a:t>0.8</a:t>
            </a:r>
            <a:endParaRPr sz="1235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39590" y="5376357"/>
            <a:ext cx="218515" cy="20080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235" spc="-22" dirty="0">
                <a:latin typeface="Times New Roman"/>
                <a:cs typeface="Times New Roman"/>
              </a:rPr>
              <a:t>0.2</a:t>
            </a:r>
            <a:endParaRPr sz="1235">
              <a:latin typeface="Times New Roman"/>
              <a:cs typeface="Times New Roman"/>
            </a:endParaRPr>
          </a:p>
        </p:txBody>
      </p:sp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70847" y="5587253"/>
            <a:ext cx="4780025" cy="328108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3753299" y="5902809"/>
            <a:ext cx="888066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dirty="0">
                <a:latin typeface="Times New Roman"/>
                <a:cs typeface="Times New Roman"/>
              </a:rPr>
              <a:t>week</a:t>
            </a:r>
            <a:r>
              <a:rPr sz="2118" spc="-18" dirty="0">
                <a:latin typeface="Times New Roman"/>
                <a:cs typeface="Times New Roman"/>
              </a:rPr>
              <a:t> </a:t>
            </a:r>
            <a:r>
              <a:rPr sz="2118" dirty="0">
                <a:latin typeface="Times New Roman"/>
                <a:cs typeface="Times New Roman"/>
              </a:rPr>
              <a:t>-</a:t>
            </a:r>
            <a:r>
              <a:rPr sz="2118" spc="-9" dirty="0">
                <a:latin typeface="Times New Roman"/>
                <a:cs typeface="Times New Roman"/>
              </a:rPr>
              <a:t> </a:t>
            </a:r>
            <a:r>
              <a:rPr sz="2118" i="1" spc="-44" dirty="0">
                <a:latin typeface="Times New Roman"/>
                <a:cs typeface="Times New Roman"/>
              </a:rPr>
              <a:t>i</a:t>
            </a:r>
            <a:endParaRPr sz="2118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>
    <p:split orient="vert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676400"/>
            <a:ext cx="6325070" cy="3810000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47751-E51B-47CF-891C-9C4A7676E71A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298</TotalTime>
  <Words>3443</Words>
  <Application>Microsoft Office PowerPoint</Application>
  <PresentationFormat>On-screen Show (4:3)</PresentationFormat>
  <Paragraphs>389</Paragraphs>
  <Slides>57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1" baseType="lpstr">
      <vt:lpstr>Arial</vt:lpstr>
      <vt:lpstr>Arial MT</vt:lpstr>
      <vt:lpstr>Berlin Sans FB Demi</vt:lpstr>
      <vt:lpstr>Calibri</vt:lpstr>
      <vt:lpstr>Comic Sans MS</vt:lpstr>
      <vt:lpstr>Gill Sans MT</vt:lpstr>
      <vt:lpstr>Microsoft Sans Serif</vt:lpstr>
      <vt:lpstr>Symbol</vt:lpstr>
      <vt:lpstr>Times New Roman</vt:lpstr>
      <vt:lpstr>Verdana</vt:lpstr>
      <vt:lpstr>Wingdings</vt:lpstr>
      <vt:lpstr>Wingdings 2</vt:lpstr>
      <vt:lpstr>Solstice</vt:lpstr>
      <vt:lpstr>Equation</vt:lpstr>
      <vt:lpstr>Queueing theory</vt:lpstr>
      <vt:lpstr>Introduction</vt:lpstr>
      <vt:lpstr>Queueing theory is the mathematical study of waiting lines, or queues. </vt:lpstr>
      <vt:lpstr>Key elements of queuing                                         systems</vt:lpstr>
      <vt:lpstr>PowerPoint Presentation</vt:lpstr>
      <vt:lpstr>CHARACTERISTIC OF                      QUEUING SYSTEM</vt:lpstr>
      <vt:lpstr>CHARACTERISTIC OF QUEUING                         SYSTEM</vt:lpstr>
      <vt:lpstr>The input(arrival pattern)</vt:lpstr>
      <vt:lpstr>The output (Service Pattern)</vt:lpstr>
      <vt:lpstr>The queue discipline</vt:lpstr>
      <vt:lpstr>Service capacity</vt:lpstr>
      <vt:lpstr>Service Channels</vt:lpstr>
      <vt:lpstr>PowerPoint Presentation</vt:lpstr>
      <vt:lpstr>    Customer’s behavior</vt:lpstr>
      <vt:lpstr>Applications of Queuing Model</vt:lpstr>
      <vt:lpstr>BASIC POINTS</vt:lpstr>
      <vt:lpstr>     Transient &amp; Steady State of the                                     system</vt:lpstr>
      <vt:lpstr>Kendall Notation 1/2/3(/4/5/6)</vt:lpstr>
      <vt:lpstr>Kendall Classification of Queuing Systems</vt:lpstr>
      <vt:lpstr>Kendall Classification of Queuing Systems</vt:lpstr>
      <vt:lpstr>Kendall Classification of Queuing Systems</vt:lpstr>
      <vt:lpstr>Simulation of Queuing Systems</vt:lpstr>
      <vt:lpstr>Simulation of Queuing Systems</vt:lpstr>
      <vt:lpstr>Simulation of Queuing Systems</vt:lpstr>
      <vt:lpstr>System Utilization</vt:lpstr>
      <vt:lpstr>Time Oriented Simulation</vt:lpstr>
      <vt:lpstr>Time Oriented Simulation</vt:lpstr>
      <vt:lpstr>Time Oriented Simulation</vt:lpstr>
      <vt:lpstr>Time Oriented Simulation</vt:lpstr>
      <vt:lpstr>Time Oriented Simulation</vt:lpstr>
      <vt:lpstr>PowerPoint Presentation</vt:lpstr>
      <vt:lpstr>Simulation on queuing system</vt:lpstr>
      <vt:lpstr>Markov Chains</vt:lpstr>
      <vt:lpstr>Markov Chains</vt:lpstr>
      <vt:lpstr>Markov Chains</vt:lpstr>
      <vt:lpstr>Markov Chain</vt:lpstr>
      <vt:lpstr>Markov Chains</vt:lpstr>
      <vt:lpstr>Why Study Markov Chains?</vt:lpstr>
      <vt:lpstr>Markov Chains</vt:lpstr>
      <vt:lpstr>Markov Chains</vt:lpstr>
      <vt:lpstr>Markov Chains</vt:lpstr>
      <vt:lpstr>Key Features of Markov Chains</vt:lpstr>
      <vt:lpstr>Markov Chains</vt:lpstr>
      <vt:lpstr>Markov Chains</vt:lpstr>
      <vt:lpstr>Internet application</vt:lpstr>
      <vt:lpstr>Internet application</vt:lpstr>
      <vt:lpstr>Example website to illustrate PageRank</vt:lpstr>
      <vt:lpstr>Example of a rank sink</vt:lpstr>
      <vt:lpstr>Markov Process</vt:lpstr>
      <vt:lpstr>Markov Process</vt:lpstr>
      <vt:lpstr>Markov Process</vt:lpstr>
      <vt:lpstr>Markov Process</vt:lpstr>
      <vt:lpstr>Markov Process</vt:lpstr>
      <vt:lpstr>Markov Process</vt:lpstr>
      <vt:lpstr>Markov Process</vt:lpstr>
      <vt:lpstr>Markov Process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Queueing theory</dc:title>
  <dc:creator>videv</dc:creator>
  <cp:lastModifiedBy>836506 Binay Adhikari</cp:lastModifiedBy>
  <cp:revision>54</cp:revision>
  <dcterms:created xsi:type="dcterms:W3CDTF">2018-09-17T10:28:53Z</dcterms:created>
  <dcterms:modified xsi:type="dcterms:W3CDTF">2026-06-17T11:53:07Z</dcterms:modified>
</cp:coreProperties>
</file>